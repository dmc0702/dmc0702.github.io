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8" r:id="rId22"/>
    <p:sldId id="279" r:id="rId23"/>
    <p:sldId id="323"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36" r:id="rId48"/>
    <p:sldId id="303" r:id="rId49"/>
    <p:sldId id="304" r:id="rId50"/>
    <p:sldId id="324" r:id="rId51"/>
    <p:sldId id="305" r:id="rId52"/>
    <p:sldId id="306" r:id="rId53"/>
    <p:sldId id="307" r:id="rId54"/>
    <p:sldId id="311" r:id="rId55"/>
    <p:sldId id="312" r:id="rId56"/>
    <p:sldId id="313" r:id="rId57"/>
    <p:sldId id="314" r:id="rId58"/>
    <p:sldId id="315" r:id="rId59"/>
    <p:sldId id="316" r:id="rId60"/>
    <p:sldId id="317" r:id="rId61"/>
    <p:sldId id="318" r:id="rId62"/>
    <p:sldId id="319" r:id="rId63"/>
    <p:sldId id="320" r:id="rId64"/>
    <p:sldId id="321" r:id="rId65"/>
    <p:sldId id="325" r:id="rId66"/>
    <p:sldId id="326" r:id="rId67"/>
    <p:sldId id="327" r:id="rId68"/>
    <p:sldId id="328" r:id="rId69"/>
    <p:sldId id="329" r:id="rId70"/>
    <p:sldId id="330" r:id="rId71"/>
    <p:sldId id="331" r:id="rId72"/>
    <p:sldId id="332" r:id="rId73"/>
    <p:sldId id="333" r:id="rId74"/>
    <p:sldId id="334" r:id="rId75"/>
    <p:sldId id="335"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84" autoAdjust="0"/>
    <p:restoredTop sz="94660"/>
  </p:normalViewPr>
  <p:slideViewPr>
    <p:cSldViewPr snapToGrid="0">
      <p:cViewPr varScale="1">
        <p:scale>
          <a:sx n="110" d="100"/>
          <a:sy n="110" d="100"/>
        </p:scale>
        <p:origin x="105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0" Type="http://schemas.openxmlformats.org/officeDocument/2006/relationships/tableStyles" Target="tableStyles.xml"/><Relationship Id="rId8" Type="http://schemas.openxmlformats.org/officeDocument/2006/relationships/slide" Target="slides/slide6.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notesMaster" Target="notesMasters/notesMaster1.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1-04-10T16:14:46"/>
    </inkml:context>
    <inkml:brush xml:id="br0">
      <inkml:brushProperty name="width" value="0.05292" units="cm"/>
      <inkml:brushProperty name="height" value="0.05292" units="cm"/>
      <inkml:brushProperty name="color" value="#ff0000"/>
    </inkml:brush>
  </inkml:definitions>
  <inkml:trace contextRef="#ctx0" brushRef="#br0">186.000 323.000,'49.000'0.000,"125.000"23.000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7AF068-33DE-4975-89C9-8878F1A5EC6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DFE9AD-1B94-4DAA-8A45-9A8C4C64BDE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4173C56-3659-4D57-BACA-F2F0AE9EF2FF}"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02365" y="184391"/>
            <a:ext cx="11197415" cy="834868"/>
          </a:xfrm>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702365" y="1311965"/>
            <a:ext cx="11197415" cy="4865340"/>
          </a:xfrm>
        </p:spPr>
        <p:txBody>
          <a:bodyPr>
            <a:normAutofit/>
          </a:bodyPr>
          <a:lstStyle>
            <a:lvl1pPr>
              <a:defRPr sz="2400"/>
            </a:lvl1pPr>
            <a:lvl2pPr>
              <a:defRPr sz="2000"/>
            </a:lvl2pPr>
            <a:lvl3pPr>
              <a:defRPr sz="1800"/>
            </a:lvl3pPr>
            <a:lvl4pPr>
              <a:defRPr sz="1600"/>
            </a:lvl4pPr>
            <a:lvl5pPr>
              <a:defRPr sz="16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a:xfrm>
            <a:off x="10753498" y="6318957"/>
            <a:ext cx="1146283" cy="370396"/>
          </a:xfrm>
        </p:spPr>
        <p:txBody>
          <a:bodyPr/>
          <a:lstStyle>
            <a:lvl1pPr>
              <a:defRPr sz="1200"/>
            </a:lvl1pPr>
          </a:lstStyle>
          <a:p>
            <a:fld id="{7952BB8E-091B-46BC-BD49-21CAA19009BA}" type="datetimeFigureOut">
              <a:rPr lang="zh-CN" altLang="en-US" smtClean="0"/>
            </a:fld>
            <a:endParaRPr lang="zh-CN" altLang="en-US" dirty="0"/>
          </a:p>
        </p:txBody>
      </p:sp>
      <p:sp>
        <p:nvSpPr>
          <p:cNvPr id="5" name="Footer Placeholder 4"/>
          <p:cNvSpPr>
            <a:spLocks noGrp="1"/>
          </p:cNvSpPr>
          <p:nvPr>
            <p:ph type="ftr" sz="quarter" idx="11"/>
          </p:nvPr>
        </p:nvSpPr>
        <p:spPr>
          <a:xfrm>
            <a:off x="702366" y="6324228"/>
            <a:ext cx="9506846" cy="365125"/>
          </a:xfrm>
        </p:spPr>
        <p:txBody>
          <a:bodyPr/>
          <a:lstStyle>
            <a:lvl1pPr>
              <a:defRPr sz="1200"/>
            </a:lvl1pPr>
          </a:lstStyle>
          <a:p>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4173C56-3659-4D57-BACA-F2F0AE9EF2F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2589212" y="2133600"/>
            <a:ext cx="4313864" cy="3777622"/>
          </a:xfrm>
        </p:spPr>
        <p:txBody>
          <a:bodyPr>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7190747" y="2126222"/>
            <a:ext cx="4313864" cy="3777622"/>
          </a:xfrm>
        </p:spPr>
        <p:txBody>
          <a:bodyPr>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4173C56-3659-4D57-BACA-F2F0AE9EF2F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2589212" y="2548966"/>
            <a:ext cx="4342893" cy="3354060"/>
          </a:xfrm>
        </p:spPr>
        <p:txBody>
          <a:bodyPr>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7166957" y="2545738"/>
            <a:ext cx="4338674" cy="3354060"/>
          </a:xfrm>
        </p:spPr>
        <p:txBody>
          <a:bodyPr>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4173C56-3659-4D57-BACA-F2F0AE9EF2F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4173C56-3659-4D57-BACA-F2F0AE9EF2F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6323012" y="446088"/>
            <a:ext cx="5181600" cy="5414963"/>
          </a:xfrm>
        </p:spPr>
        <p:txBody>
          <a:bodyPr anchor="ctr">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4173C56-3659-4D57-BACA-F2F0AE9EF2F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4173C56-3659-4D57-BACA-F2F0AE9EF2F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4173C56-3659-4D57-BACA-F2F0AE9EF2F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13" name="Text Placeholder 9"/>
          <p:cNvSpPr>
            <a:spLocks noGrp="1"/>
          </p:cNvSpPr>
          <p:nvPr>
            <p:ph type="body" sz="quarter" idx="13" hasCustomPrompt="1"/>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endParaRPr lang="zh-CN" altLang="en-US"/>
          </a:p>
        </p:txBody>
      </p:sp>
      <p:sp>
        <p:nvSpPr>
          <p:cNvPr id="3" name="Text Placeholder 2"/>
          <p:cNvSpPr>
            <a:spLocks noGrp="1"/>
          </p:cNvSpPr>
          <p:nvPr>
            <p:ph type="body" idx="1" hasCustomPrompt="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4173C56-3659-4D57-BACA-F2F0AE9EF2FF}" type="slidenum">
              <a:rPr lang="zh-CN" altLang="en-US" smtClean="0"/>
            </a:fld>
            <a:endParaRPr lang="zh-CN" alt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zh-CN" altLang="en-US"/>
              <a:t>单击此处编辑母版标题样式</a:t>
            </a:r>
            <a:endParaRPr lang="en-US" dirty="0"/>
          </a:p>
        </p:txBody>
      </p:sp>
      <p:sp>
        <p:nvSpPr>
          <p:cNvPr id="4" name="Text Placeholder 3"/>
          <p:cNvSpPr>
            <a:spLocks noGrp="1"/>
          </p:cNvSpPr>
          <p:nvPr>
            <p:ph type="body" sz="half" idx="2" hasCustomPrompt="1"/>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编辑母版文本样式</a:t>
            </a:r>
            <a:endParaRPr lang="zh-CN" altLang="en-US"/>
          </a:p>
        </p:txBody>
      </p:sp>
      <p:sp>
        <p:nvSpPr>
          <p:cNvPr id="5" name="Date Placeholder 4"/>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4173C56-3659-4D57-BACA-F2F0AE9EF2FF}"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zh-CN" altLang="en-US"/>
              <a:t>单击此处编辑母版标题样式</a:t>
            </a:r>
            <a:endParaRPr lang="en-US" dirty="0"/>
          </a:p>
        </p:txBody>
      </p:sp>
      <p:sp>
        <p:nvSpPr>
          <p:cNvPr id="21" name="Text Placeholder 9"/>
          <p:cNvSpPr>
            <a:spLocks noGrp="1"/>
          </p:cNvSpPr>
          <p:nvPr>
            <p:ph type="body" sz="quarter" idx="13" hasCustomPrompt="1"/>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endParaRPr lang="zh-CN" altLang="en-US"/>
          </a:p>
        </p:txBody>
      </p:sp>
      <p:sp>
        <p:nvSpPr>
          <p:cNvPr id="4" name="Text Placeholder 3"/>
          <p:cNvSpPr>
            <a:spLocks noGrp="1"/>
          </p:cNvSpPr>
          <p:nvPr>
            <p:ph type="body" sz="half" idx="2" hasCustomPrompt="1"/>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编辑母版文本样式</a:t>
            </a:r>
            <a:endParaRPr lang="zh-CN" altLang="en-US"/>
          </a:p>
        </p:txBody>
      </p:sp>
      <p:sp>
        <p:nvSpPr>
          <p:cNvPr id="5" name="Date Placeholder 4"/>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4173C56-3659-4D57-BACA-F2F0AE9EF2FF}" type="slidenum">
              <a:rPr lang="zh-CN" altLang="en-US" smtClean="0"/>
            </a:fld>
            <a:endParaRPr lang="zh-CN" alt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zh-CN" altLang="en-US"/>
              <a:t>单击此处编辑母版标题样式</a:t>
            </a:r>
            <a:endParaRPr lang="en-US" dirty="0"/>
          </a:p>
        </p:txBody>
      </p:sp>
      <p:sp>
        <p:nvSpPr>
          <p:cNvPr id="21" name="Text Placeholder 9"/>
          <p:cNvSpPr>
            <a:spLocks noGrp="1"/>
          </p:cNvSpPr>
          <p:nvPr>
            <p:ph type="body" sz="quarter" idx="13" hasCustomPrompt="1"/>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endParaRPr lang="zh-CN" altLang="en-US"/>
          </a:p>
        </p:txBody>
      </p:sp>
      <p:sp>
        <p:nvSpPr>
          <p:cNvPr id="4" name="Text Placeholder 3"/>
          <p:cNvSpPr>
            <a:spLocks noGrp="1"/>
          </p:cNvSpPr>
          <p:nvPr>
            <p:ph type="body" sz="half" idx="2" hasCustomPrompt="1"/>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zh-CN" altLang="en-US"/>
              <a:t>编辑母版文本样式</a:t>
            </a:r>
            <a:endParaRPr lang="zh-CN" altLang="en-US"/>
          </a:p>
        </p:txBody>
      </p:sp>
      <p:sp>
        <p:nvSpPr>
          <p:cNvPr id="5" name="Date Placeholder 4"/>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4173C56-3659-4D57-BACA-F2F0AE9EF2FF}"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ncho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4173C56-3659-4D57-BACA-F2F0AE9EF2FF}"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2589212" y="627405"/>
            <a:ext cx="6477000" cy="5283817"/>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7952BB8E-091B-46BC-BD49-21CAA19009BA}"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4173C56-3659-4D57-BACA-F2F0AE9EF2F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952BB8E-091B-46BC-BD49-21CAA19009BA}" type="datetimeFigureOut">
              <a:rPr lang="zh-CN" altLang="en-US" smtClean="0"/>
            </a:fld>
            <a:endParaRPr lang="zh-CN" alt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4173C56-3659-4D57-BACA-F2F0AE9EF2F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customXml" Target="../ink/ink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sz="4800" dirty="0"/>
              <a:t>图论中的连通性问题</a:t>
            </a:r>
            <a:r>
              <a:rPr lang="en-US" altLang="zh-CN" sz="4800" dirty="0"/>
              <a:t>1-</a:t>
            </a:r>
            <a:r>
              <a:rPr lang="zh-CN" altLang="en-US" sz="4800" dirty="0"/>
              <a:t>无向图</a:t>
            </a:r>
            <a:endParaRPr lang="zh-CN" altLang="en-US" sz="48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noChangeArrowheads="1"/>
          </p:cNvSpPr>
          <p:nvPr>
            <p:ph type="title" idx="4294967295"/>
          </p:nvPr>
        </p:nvSpPr>
        <p:spPr>
          <a:xfrm>
            <a:off x="1308294" y="624110"/>
            <a:ext cx="10196317" cy="895201"/>
          </a:xfrm>
        </p:spPr>
        <p:txBody>
          <a:bodyPr/>
          <a:lstStyle/>
          <a:p>
            <a:pPr eaLnBrk="1" hangingPunct="1"/>
            <a:r>
              <a:rPr lang="zh-CN" altLang="en-US"/>
              <a:t>内容提要</a:t>
            </a:r>
            <a:endParaRPr lang="zh-CN" altLang="en-US"/>
          </a:p>
        </p:txBody>
      </p:sp>
      <p:sp>
        <p:nvSpPr>
          <p:cNvPr id="38915" name="内容占位符 2"/>
          <p:cNvSpPr>
            <a:spLocks noGrp="1" noChangeArrowheads="1"/>
          </p:cNvSpPr>
          <p:nvPr>
            <p:ph sz="quarter" idx="4294967295"/>
          </p:nvPr>
        </p:nvSpPr>
        <p:spPr>
          <a:xfrm>
            <a:off x="1308295" y="1744394"/>
            <a:ext cx="10196317" cy="4275406"/>
          </a:xfrm>
        </p:spPr>
        <p:txBody>
          <a:bodyPr>
            <a:normAutofit/>
          </a:bodyPr>
          <a:lstStyle/>
          <a:p>
            <a:pPr eaLnBrk="1" hangingPunct="1">
              <a:lnSpc>
                <a:spcPct val="150000"/>
              </a:lnSpc>
            </a:pPr>
            <a:r>
              <a:rPr lang="zh-CN" altLang="en-US" sz="2000" dirty="0"/>
              <a:t>深度优先搜索的深入认识</a:t>
            </a:r>
            <a:endParaRPr lang="en-US" altLang="zh-CN" sz="2000" dirty="0"/>
          </a:p>
          <a:p>
            <a:pPr eaLnBrk="1" hangingPunct="1">
              <a:lnSpc>
                <a:spcPct val="150000"/>
              </a:lnSpc>
            </a:pPr>
            <a:r>
              <a:rPr lang="zh-CN" altLang="en-US" sz="2000" dirty="0"/>
              <a:t>割点 </a:t>
            </a:r>
            <a:r>
              <a:rPr lang="en-US" altLang="zh-CN" sz="2000" dirty="0"/>
              <a:t>(</a:t>
            </a:r>
            <a:r>
              <a:rPr lang="zh-CN" altLang="en-US" sz="2000" dirty="0"/>
              <a:t>一般对于无向图而言</a:t>
            </a:r>
            <a:r>
              <a:rPr lang="en-US" altLang="zh-CN" sz="2000" dirty="0"/>
              <a:t>)</a:t>
            </a:r>
            <a:endParaRPr lang="en-US" altLang="zh-CN" sz="2000" dirty="0"/>
          </a:p>
          <a:p>
            <a:pPr eaLnBrk="1" hangingPunct="1">
              <a:lnSpc>
                <a:spcPct val="150000"/>
              </a:lnSpc>
            </a:pPr>
            <a:r>
              <a:rPr lang="zh-CN" altLang="en-US" sz="2000" dirty="0"/>
              <a:t>割边 </a:t>
            </a:r>
            <a:r>
              <a:rPr lang="en-US" altLang="zh-CN" sz="2000" dirty="0"/>
              <a:t>(</a:t>
            </a:r>
            <a:r>
              <a:rPr lang="zh-CN" altLang="en-US" sz="2000" dirty="0"/>
              <a:t>一般对于无向图而言</a:t>
            </a:r>
            <a:r>
              <a:rPr lang="en-US" altLang="zh-CN" sz="2000" dirty="0"/>
              <a:t>)</a:t>
            </a:r>
            <a:endParaRPr lang="en-US" altLang="zh-CN" sz="2000" dirty="0"/>
          </a:p>
          <a:p>
            <a:pPr eaLnBrk="1" hangingPunct="1">
              <a:lnSpc>
                <a:spcPct val="150000"/>
              </a:lnSpc>
            </a:pPr>
            <a:r>
              <a:rPr lang="zh-CN" altLang="en-US" sz="2000" dirty="0"/>
              <a:t>双连通块</a:t>
            </a:r>
            <a:r>
              <a:rPr lang="en-US" altLang="zh-CN" sz="2000" dirty="0"/>
              <a:t>(</a:t>
            </a:r>
            <a:r>
              <a:rPr lang="zh-CN" altLang="en-US" sz="2000" dirty="0"/>
              <a:t>一般对于无向图而言</a:t>
            </a:r>
            <a:r>
              <a:rPr lang="en-US" altLang="zh-CN" sz="2000" dirty="0"/>
              <a:t>)</a:t>
            </a:r>
            <a:endParaRPr lang="en-US" altLang="zh-CN" sz="2000" dirty="0"/>
          </a:p>
          <a:p>
            <a:pPr eaLnBrk="1" hangingPunct="1">
              <a:lnSpc>
                <a:spcPct val="150000"/>
              </a:lnSpc>
            </a:pPr>
            <a:r>
              <a:rPr lang="zh-CN" altLang="en-US" sz="2000" dirty="0"/>
              <a:t>强连通分量</a:t>
            </a:r>
            <a:r>
              <a:rPr lang="en-US" altLang="zh-CN" sz="2000" dirty="0"/>
              <a:t>(</a:t>
            </a:r>
            <a:r>
              <a:rPr lang="zh-CN" altLang="en-US" sz="2000" dirty="0"/>
              <a:t>一般对于有向图而言</a:t>
            </a:r>
            <a:r>
              <a:rPr lang="en-US" altLang="zh-CN" sz="2000" dirty="0"/>
              <a:t>)</a:t>
            </a:r>
            <a:endParaRPr lang="en-US" altLang="zh-CN" sz="2000" dirty="0"/>
          </a:p>
          <a:p>
            <a:pPr eaLnBrk="1" hangingPunct="1">
              <a:lnSpc>
                <a:spcPct val="150000"/>
              </a:lnSpc>
            </a:pPr>
            <a:endParaRPr lang="zh-CN" altLang="en-US" sz="20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noChangeArrowheads="1"/>
          </p:cNvSpPr>
          <p:nvPr>
            <p:ph type="title" idx="4294967295"/>
          </p:nvPr>
        </p:nvSpPr>
        <p:spPr>
          <a:xfrm>
            <a:off x="914400" y="624110"/>
            <a:ext cx="10590211" cy="754524"/>
          </a:xfrm>
        </p:spPr>
        <p:txBody>
          <a:bodyPr/>
          <a:lstStyle/>
          <a:p>
            <a:pPr eaLnBrk="1" hangingPunct="1"/>
            <a:r>
              <a:rPr lang="zh-CN" altLang="en-US" dirty="0"/>
              <a:t>深度优先搜索DFS</a:t>
            </a:r>
            <a:endParaRPr lang="zh-CN" altLang="en-US" dirty="0"/>
          </a:p>
        </p:txBody>
      </p:sp>
      <p:sp>
        <p:nvSpPr>
          <p:cNvPr id="11267" name="内容占位符 2"/>
          <p:cNvSpPr>
            <a:spLocks noGrp="1" noChangeArrowheads="1"/>
          </p:cNvSpPr>
          <p:nvPr>
            <p:ph sz="quarter" idx="4294967295"/>
          </p:nvPr>
        </p:nvSpPr>
        <p:spPr>
          <a:xfrm>
            <a:off x="1041009" y="2133600"/>
            <a:ext cx="10463603" cy="3886200"/>
          </a:xfrm>
        </p:spPr>
        <p:txBody>
          <a:bodyPr>
            <a:normAutofit/>
          </a:bodyPr>
          <a:lstStyle/>
          <a:p>
            <a:pPr eaLnBrk="1" hangingPunct="1">
              <a:lnSpc>
                <a:spcPct val="150000"/>
              </a:lnSpc>
            </a:pPr>
            <a:r>
              <a:rPr lang="zh-CN" altLang="en-US" sz="2000" dirty="0"/>
              <a:t>深度优先搜索</a:t>
            </a:r>
            <a:r>
              <a:rPr lang="en-US" altLang="zh-CN" sz="2000" dirty="0"/>
              <a:t>(Depth-First Search)</a:t>
            </a:r>
            <a:r>
              <a:rPr lang="zh-CN" altLang="en-US" sz="2000" dirty="0"/>
              <a:t>，简称</a:t>
            </a:r>
            <a:r>
              <a:rPr lang="en-US" altLang="zh-CN" sz="2000" dirty="0"/>
              <a:t>DFS</a:t>
            </a:r>
            <a:r>
              <a:rPr lang="zh-CN" altLang="en-US" sz="2000" dirty="0"/>
              <a:t>。</a:t>
            </a:r>
            <a:endParaRPr lang="en-US" altLang="zh-CN" sz="2000" dirty="0"/>
          </a:p>
          <a:p>
            <a:pPr eaLnBrk="1" hangingPunct="1">
              <a:lnSpc>
                <a:spcPct val="150000"/>
              </a:lnSpc>
            </a:pPr>
            <a:r>
              <a:rPr lang="en-US" altLang="zh-CN" sz="2000" dirty="0"/>
              <a:t>DFS</a:t>
            </a:r>
            <a:r>
              <a:rPr lang="zh-CN" altLang="en-US" sz="2000" dirty="0"/>
              <a:t>总能够遍历所有的顶点和边。在遍历过程中，收集、统计数据，或是查找符合条件的顶点或者边。</a:t>
            </a:r>
            <a:endParaRPr lang="en-US" altLang="zh-CN" sz="2000" dirty="0"/>
          </a:p>
          <a:p>
            <a:pPr eaLnBrk="1" hangingPunct="1">
              <a:lnSpc>
                <a:spcPct val="150000"/>
              </a:lnSpc>
            </a:pPr>
            <a:r>
              <a:rPr lang="en-US" altLang="zh-CN" sz="2000" dirty="0"/>
              <a:t>DFS</a:t>
            </a:r>
            <a:r>
              <a:rPr lang="zh-CN" altLang="en-US" sz="2000" dirty="0"/>
              <a:t>针对无向图、有向图、树均适用，算法区别很小。</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checkerboard(across)">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checkerboard(across)">
                                      <p:cBhvr>
                                        <p:cTn id="12" dur="5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checkerboard(across)">
                                      <p:cBhvr>
                                        <p:cTn id="17" dur="500"/>
                                        <p:tgtEl>
                                          <p:spTgt spid="11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noChangeArrowheads="1"/>
          </p:cNvSpPr>
          <p:nvPr>
            <p:ph type="title" idx="4294967295"/>
          </p:nvPr>
        </p:nvSpPr>
        <p:spPr>
          <a:xfrm>
            <a:off x="759656" y="624110"/>
            <a:ext cx="10744956" cy="824862"/>
          </a:xfrm>
        </p:spPr>
        <p:txBody>
          <a:bodyPr/>
          <a:lstStyle/>
          <a:p>
            <a:pPr eaLnBrk="1" hangingPunct="1"/>
            <a:r>
              <a:rPr lang="zh-CN" altLang="en-US" dirty="0"/>
              <a:t>“深搜”名字的由来</a:t>
            </a:r>
            <a:endParaRPr lang="zh-CN" altLang="en-US" dirty="0"/>
          </a:p>
        </p:txBody>
      </p:sp>
      <p:sp>
        <p:nvSpPr>
          <p:cNvPr id="12291" name="内容占位符 2"/>
          <p:cNvSpPr>
            <a:spLocks noGrp="1" noChangeArrowheads="1"/>
          </p:cNvSpPr>
          <p:nvPr>
            <p:ph sz="quarter" idx="4294967295"/>
          </p:nvPr>
        </p:nvSpPr>
        <p:spPr>
          <a:xfrm>
            <a:off x="759656" y="2133600"/>
            <a:ext cx="10744956" cy="3886200"/>
          </a:xfrm>
        </p:spPr>
        <p:txBody>
          <a:bodyPr>
            <a:normAutofit/>
          </a:bodyPr>
          <a:lstStyle/>
          <a:p>
            <a:pPr eaLnBrk="1" hangingPunct="1">
              <a:lnSpc>
                <a:spcPct val="150000"/>
              </a:lnSpc>
            </a:pPr>
            <a:r>
              <a:rPr lang="en-US" altLang="zh-CN" sz="2000" dirty="0"/>
              <a:t>DFS</a:t>
            </a:r>
            <a:r>
              <a:rPr lang="zh-CN" altLang="en-US" sz="2000" dirty="0"/>
              <a:t>总是从最新到达的顶点中挑选未访问过的边进行检查，尽可能深地搜索整个图。</a:t>
            </a:r>
            <a:endParaRPr lang="en-US" altLang="zh-CN" sz="2000" dirty="0"/>
          </a:p>
          <a:p>
            <a:pPr eaLnBrk="1" hangingPunct="1">
              <a:lnSpc>
                <a:spcPct val="150000"/>
              </a:lnSpc>
            </a:pPr>
            <a:r>
              <a:rPr lang="en-US" altLang="zh-CN" sz="2000" dirty="0"/>
              <a:t>BFS</a:t>
            </a:r>
            <a:r>
              <a:rPr lang="zh-CN" altLang="en-US" sz="2000" dirty="0"/>
              <a:t>则是逐层式搜索。</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box(in)">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box(in)">
                                      <p:cBhvr>
                                        <p:cTn id="12" dur="500"/>
                                        <p:tgtEl>
                                          <p:spTgt spid="122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noChangeArrowheads="1"/>
          </p:cNvSpPr>
          <p:nvPr>
            <p:ph type="title" idx="4294967295"/>
          </p:nvPr>
        </p:nvSpPr>
        <p:spPr>
          <a:xfrm>
            <a:off x="844062" y="624110"/>
            <a:ext cx="10660549" cy="976091"/>
          </a:xfrm>
        </p:spPr>
        <p:txBody>
          <a:bodyPr/>
          <a:lstStyle/>
          <a:p>
            <a:pPr eaLnBrk="1" hangingPunct="1"/>
            <a:r>
              <a:rPr lang="zh-CN" altLang="en-US" dirty="0"/>
              <a:t>无向图的DFS过程</a:t>
            </a:r>
            <a:endParaRPr lang="zh-CN" altLang="en-US" dirty="0"/>
          </a:p>
        </p:txBody>
      </p:sp>
      <p:sp>
        <p:nvSpPr>
          <p:cNvPr id="13315" name="内容占位符 2"/>
          <p:cNvSpPr>
            <a:spLocks noGrp="1" noChangeArrowheads="1"/>
          </p:cNvSpPr>
          <p:nvPr>
            <p:ph sz="quarter" idx="4294967295"/>
          </p:nvPr>
        </p:nvSpPr>
        <p:spPr>
          <a:xfrm>
            <a:off x="844062" y="1600201"/>
            <a:ext cx="10503875" cy="4873625"/>
          </a:xfrm>
        </p:spPr>
        <p:txBody>
          <a:bodyPr>
            <a:normAutofit/>
          </a:bodyPr>
          <a:lstStyle/>
          <a:p>
            <a:pPr eaLnBrk="1" hangingPunct="1">
              <a:lnSpc>
                <a:spcPct val="150000"/>
              </a:lnSpc>
            </a:pPr>
            <a:r>
              <a:rPr lang="zh-CN" altLang="en-US" sz="2000" dirty="0"/>
              <a:t>初始时，在图</a:t>
            </a:r>
            <a:r>
              <a:rPr lang="en-US" altLang="zh-CN" sz="2000" dirty="0"/>
              <a:t>G</a:t>
            </a:r>
            <a:r>
              <a:rPr lang="zh-CN" altLang="en-US" sz="2000" dirty="0"/>
              <a:t>中，所有的顶点都是未访问</a:t>
            </a:r>
            <a:r>
              <a:rPr lang="en-US" altLang="zh-CN" sz="2000" dirty="0"/>
              <a:t>(unvisited)</a:t>
            </a:r>
            <a:r>
              <a:rPr lang="zh-CN" altLang="en-US" sz="2000" dirty="0"/>
              <a:t>过的。所有的边都是未检查</a:t>
            </a:r>
            <a:r>
              <a:rPr lang="en-US" altLang="zh-CN" sz="2000" dirty="0"/>
              <a:t>(</a:t>
            </a:r>
            <a:r>
              <a:rPr lang="en-US" altLang="zh-CN" sz="2000" dirty="0" err="1"/>
              <a:t>unexploered</a:t>
            </a:r>
            <a:r>
              <a:rPr lang="en-US" altLang="zh-CN" sz="2000" dirty="0"/>
              <a:t>)</a:t>
            </a:r>
            <a:r>
              <a:rPr lang="zh-CN" altLang="en-US" sz="2000" dirty="0"/>
              <a:t>的。</a:t>
            </a:r>
            <a:endParaRPr lang="zh-CN" altLang="en-US" sz="2000" dirty="0"/>
          </a:p>
          <a:p>
            <a:pPr eaLnBrk="1" hangingPunct="1">
              <a:lnSpc>
                <a:spcPct val="150000"/>
              </a:lnSpc>
            </a:pPr>
            <a:r>
              <a:rPr lang="zh-CN" altLang="en-US" sz="2000" dirty="0"/>
              <a:t>任选一顶点</a:t>
            </a:r>
            <a:r>
              <a:rPr lang="en-US" altLang="zh-CN" sz="2000" dirty="0"/>
              <a:t>u</a:t>
            </a:r>
            <a:r>
              <a:rPr lang="zh-CN" altLang="en-US" sz="2000" dirty="0"/>
              <a:t>，并从</a:t>
            </a:r>
            <a:r>
              <a:rPr lang="en-US" altLang="zh-CN" sz="2000" dirty="0"/>
              <a:t>u</a:t>
            </a:r>
            <a:r>
              <a:rPr lang="zh-CN" altLang="en-US" sz="2000" dirty="0"/>
              <a:t>开始搜索。</a:t>
            </a:r>
            <a:r>
              <a:rPr lang="en-US" altLang="zh-CN" sz="2000" dirty="0"/>
              <a:t>u</a:t>
            </a:r>
            <a:r>
              <a:rPr lang="zh-CN" altLang="en-US" sz="2000" dirty="0"/>
              <a:t>称为</a:t>
            </a:r>
            <a:r>
              <a:rPr lang="en-US" altLang="zh-CN" sz="2000" dirty="0"/>
              <a:t>DFS</a:t>
            </a:r>
            <a:r>
              <a:rPr lang="zh-CN" altLang="en-US" sz="2000" dirty="0"/>
              <a:t>的起始顶点。首先，我们标记</a:t>
            </a:r>
            <a:r>
              <a:rPr lang="en-US" altLang="zh-CN" sz="2000" dirty="0"/>
              <a:t>u</a:t>
            </a:r>
            <a:r>
              <a:rPr lang="zh-CN" altLang="en-US" sz="2000" dirty="0"/>
              <a:t>已经被访问</a:t>
            </a:r>
            <a:r>
              <a:rPr lang="en-US" altLang="zh-CN" sz="2000" dirty="0"/>
              <a:t>(visited)</a:t>
            </a:r>
            <a:r>
              <a:rPr lang="zh-CN" altLang="en-US" sz="2000" dirty="0"/>
              <a:t>过了。</a:t>
            </a:r>
            <a:endParaRPr lang="zh-CN" altLang="en-US" sz="2000" dirty="0"/>
          </a:p>
          <a:p>
            <a:pPr eaLnBrk="1" hangingPunct="1">
              <a:lnSpc>
                <a:spcPct val="150000"/>
              </a:lnSpc>
            </a:pPr>
            <a:r>
              <a:rPr lang="zh-CN" altLang="en-US" sz="2000" dirty="0"/>
              <a:t>然后我们选择邻接到</a:t>
            </a:r>
            <a:r>
              <a:rPr lang="en-US" altLang="zh-CN" sz="2000" dirty="0"/>
              <a:t>u</a:t>
            </a:r>
            <a:r>
              <a:rPr lang="zh-CN" altLang="en-US" sz="2000" dirty="0"/>
              <a:t>的一条边</a:t>
            </a:r>
            <a:r>
              <a:rPr lang="en-US" altLang="zh-CN" sz="2000" dirty="0"/>
              <a:t>(</a:t>
            </a:r>
            <a:r>
              <a:rPr lang="en-US" altLang="zh-CN" sz="2000" dirty="0" err="1"/>
              <a:t>u,v</a:t>
            </a:r>
            <a:r>
              <a:rPr lang="en-US" altLang="zh-CN" sz="2000" dirty="0"/>
              <a:t>)</a:t>
            </a:r>
            <a:r>
              <a:rPr lang="zh-CN" altLang="en-US" sz="2000" dirty="0"/>
              <a:t>，并经过这条边去访问</a:t>
            </a:r>
            <a:r>
              <a:rPr lang="en-US" altLang="zh-CN" sz="2000" dirty="0"/>
              <a:t>v</a:t>
            </a:r>
            <a:r>
              <a:rPr lang="zh-CN" altLang="en-US" sz="2000" dirty="0"/>
              <a:t>，同时这条边定向为从</a:t>
            </a:r>
            <a:r>
              <a:rPr lang="en-US" altLang="zh-CN" sz="2000" dirty="0"/>
              <a:t>u</a:t>
            </a:r>
            <a:r>
              <a:rPr lang="zh-CN" altLang="en-US" sz="2000" dirty="0"/>
              <a:t>到</a:t>
            </a:r>
            <a:r>
              <a:rPr lang="en-US" altLang="zh-CN" sz="2000" dirty="0"/>
              <a:t>v</a:t>
            </a:r>
            <a:r>
              <a:rPr lang="zh-CN" altLang="en-US" sz="2000" dirty="0"/>
              <a:t>。这时边</a:t>
            </a:r>
            <a:r>
              <a:rPr lang="en-US" altLang="zh-CN" sz="2000" dirty="0"/>
              <a:t>(</a:t>
            </a:r>
            <a:r>
              <a:rPr lang="en-US" altLang="zh-CN" sz="2000" dirty="0" err="1"/>
              <a:t>u,v</a:t>
            </a:r>
            <a:r>
              <a:rPr lang="en-US" altLang="zh-CN" sz="2000" dirty="0"/>
              <a:t>)</a:t>
            </a:r>
            <a:r>
              <a:rPr lang="zh-CN" altLang="en-US" sz="2000" dirty="0"/>
              <a:t>就说成是被检查过</a:t>
            </a:r>
            <a:r>
              <a:rPr lang="en-US" altLang="zh-CN" sz="2000" dirty="0"/>
              <a:t>(</a:t>
            </a:r>
            <a:r>
              <a:rPr lang="en-US" altLang="zh-CN" sz="2000" dirty="0" err="1"/>
              <a:t>explorered</a:t>
            </a:r>
            <a:r>
              <a:rPr lang="en-US" altLang="zh-CN" sz="2000" dirty="0"/>
              <a:t>)</a:t>
            </a:r>
            <a:r>
              <a:rPr lang="zh-CN" altLang="en-US" sz="2000" dirty="0"/>
              <a:t>，并称之为树边。顶点</a:t>
            </a:r>
            <a:r>
              <a:rPr lang="en-US" altLang="zh-CN" sz="2000" dirty="0"/>
              <a:t>u</a:t>
            </a:r>
            <a:r>
              <a:rPr lang="zh-CN" altLang="en-US" sz="2000" dirty="0"/>
              <a:t>称为</a:t>
            </a:r>
            <a:r>
              <a:rPr lang="en-US" altLang="zh-CN" sz="2000" dirty="0"/>
              <a:t>v</a:t>
            </a:r>
            <a:r>
              <a:rPr lang="zh-CN" altLang="en-US" sz="2000" dirty="0"/>
              <a:t>的父亲，记为</a:t>
            </a:r>
            <a:r>
              <a:rPr lang="en-US" altLang="zh-CN" sz="2000" dirty="0"/>
              <a:t>FATHER[v] = u</a:t>
            </a:r>
            <a:r>
              <a:rPr lang="zh-CN" altLang="en-US" sz="2000" dirty="0"/>
              <a:t>。</a:t>
            </a:r>
            <a:endParaRPr lang="zh-CN" altLang="en-US" sz="2000" dirty="0"/>
          </a:p>
          <a:p>
            <a:pPr eaLnBrk="1" hangingPunct="1">
              <a:lnSpc>
                <a:spcPct val="150000"/>
              </a:lnSpc>
            </a:pP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315">
                                            <p:txEl>
                                              <p:pRg st="2" end="2"/>
                                            </p:txEl>
                                          </p:spTgt>
                                        </p:tgtEl>
                                        <p:attrNameLst>
                                          <p:attrName>style.visibility</p:attrName>
                                        </p:attrNameLst>
                                      </p:cBhvr>
                                      <p:to>
                                        <p:strVal val="visible"/>
                                      </p:to>
                                    </p:set>
                                    <p:anim calcmode="lin" valueType="num">
                                      <p:cBhvr additive="base">
                                        <p:cTn id="19"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2"/>
          <p:cNvSpPr>
            <a:spLocks noGrp="1" noChangeArrowheads="1"/>
          </p:cNvSpPr>
          <p:nvPr>
            <p:ph sz="quarter" idx="4294967295"/>
          </p:nvPr>
        </p:nvSpPr>
        <p:spPr>
          <a:xfrm>
            <a:off x="872198" y="1357314"/>
            <a:ext cx="10592972" cy="5500687"/>
          </a:xfrm>
        </p:spPr>
        <p:txBody>
          <a:bodyPr>
            <a:normAutofit/>
          </a:bodyPr>
          <a:lstStyle/>
          <a:p>
            <a:pPr eaLnBrk="1" hangingPunct="1">
              <a:lnSpc>
                <a:spcPct val="140000"/>
              </a:lnSpc>
            </a:pPr>
            <a:r>
              <a:rPr lang="zh-CN" altLang="en-US" sz="2000" dirty="0"/>
              <a:t>通常，当我们到达某个顶点</a:t>
            </a:r>
            <a:r>
              <a:rPr lang="en-US" altLang="zh-CN" sz="2000" dirty="0"/>
              <a:t>u</a:t>
            </a:r>
            <a:r>
              <a:rPr lang="zh-CN" altLang="en-US" sz="2000" dirty="0"/>
              <a:t>时，会有两种情况出现：</a:t>
            </a:r>
            <a:endParaRPr lang="zh-CN" altLang="en-US" sz="2000" dirty="0"/>
          </a:p>
          <a:p>
            <a:pPr eaLnBrk="1" hangingPunct="1">
              <a:lnSpc>
                <a:spcPct val="140000"/>
              </a:lnSpc>
            </a:pPr>
            <a:r>
              <a:rPr lang="en-US" altLang="zh-CN" sz="2000" dirty="0"/>
              <a:t>  (1)</a:t>
            </a:r>
            <a:r>
              <a:rPr lang="zh-CN" altLang="en-US" sz="2000" dirty="0"/>
              <a:t>如果存在与</a:t>
            </a:r>
            <a:r>
              <a:rPr lang="en-US" altLang="zh-CN" sz="2000" dirty="0"/>
              <a:t>u</a:t>
            </a:r>
            <a:r>
              <a:rPr lang="zh-CN" altLang="en-US" sz="2000" dirty="0"/>
              <a:t>关联的未被检查的边，那么我们就选择这样的边</a:t>
            </a:r>
            <a:r>
              <a:rPr lang="en-US" altLang="zh-CN" sz="2000" dirty="0"/>
              <a:t>(</a:t>
            </a:r>
            <a:r>
              <a:rPr lang="en-US" altLang="zh-CN" sz="2000" dirty="0" err="1"/>
              <a:t>u,v</a:t>
            </a:r>
            <a:r>
              <a:rPr lang="en-US" altLang="zh-CN" sz="2000" dirty="0"/>
              <a:t>)</a:t>
            </a:r>
            <a:r>
              <a:rPr lang="zh-CN" altLang="en-US" sz="2000" dirty="0"/>
              <a:t>，并定向为从</a:t>
            </a:r>
            <a:r>
              <a:rPr lang="en-US" altLang="zh-CN" sz="2000" dirty="0"/>
              <a:t>u</a:t>
            </a:r>
            <a:r>
              <a:rPr lang="zh-CN" altLang="en-US" sz="2000" dirty="0"/>
              <a:t>到</a:t>
            </a:r>
            <a:r>
              <a:rPr lang="en-US" altLang="zh-CN" sz="2000" dirty="0"/>
              <a:t>v</a:t>
            </a:r>
            <a:r>
              <a:rPr lang="zh-CN" altLang="en-US" sz="2000" dirty="0"/>
              <a:t>。这时，边</a:t>
            </a:r>
            <a:r>
              <a:rPr lang="en-US" altLang="zh-CN" sz="2000" dirty="0"/>
              <a:t>(</a:t>
            </a:r>
            <a:r>
              <a:rPr lang="en-US" altLang="zh-CN" sz="2000" dirty="0" err="1"/>
              <a:t>u,v</a:t>
            </a:r>
            <a:r>
              <a:rPr lang="en-US" altLang="zh-CN" sz="2000" dirty="0"/>
              <a:t>)</a:t>
            </a:r>
            <a:r>
              <a:rPr lang="zh-CN" altLang="en-US" sz="2000" dirty="0"/>
              <a:t>就说成是被检查过。现在有两种情形都需要考虑：</a:t>
            </a:r>
            <a:endParaRPr lang="zh-CN" altLang="en-US" sz="2000" dirty="0"/>
          </a:p>
          <a:p>
            <a:pPr eaLnBrk="1" hangingPunct="1">
              <a:lnSpc>
                <a:spcPct val="140000"/>
              </a:lnSpc>
            </a:pPr>
            <a:r>
              <a:rPr lang="zh-CN" altLang="en-US" sz="2000" dirty="0"/>
              <a:t>情形</a:t>
            </a:r>
            <a:r>
              <a:rPr lang="en-US" altLang="zh-CN" sz="2000" dirty="0"/>
              <a:t>1 </a:t>
            </a:r>
            <a:r>
              <a:rPr lang="zh-CN" altLang="en-US" sz="2000" dirty="0"/>
              <a:t>如果顶点</a:t>
            </a:r>
            <a:r>
              <a:rPr lang="en-US" altLang="zh-CN" sz="2000" dirty="0"/>
              <a:t>v</a:t>
            </a:r>
            <a:r>
              <a:rPr lang="zh-CN" altLang="en-US" sz="2000" dirty="0"/>
              <a:t>原来未被访问过，那么我们就经过边</a:t>
            </a:r>
            <a:r>
              <a:rPr lang="en-US" altLang="zh-CN" sz="2000" dirty="0"/>
              <a:t>(</a:t>
            </a:r>
            <a:r>
              <a:rPr lang="en-US" altLang="zh-CN" sz="2000" dirty="0" err="1"/>
              <a:t>u,v</a:t>
            </a:r>
            <a:r>
              <a:rPr lang="en-US" altLang="zh-CN" sz="2000" dirty="0"/>
              <a:t>)</a:t>
            </a:r>
            <a:r>
              <a:rPr lang="zh-CN" altLang="en-US" sz="2000" dirty="0"/>
              <a:t>去访问</a:t>
            </a:r>
            <a:r>
              <a:rPr lang="en-US" altLang="zh-CN" sz="2000" dirty="0"/>
              <a:t>v</a:t>
            </a:r>
            <a:r>
              <a:rPr lang="zh-CN" altLang="en-US" sz="2000" dirty="0"/>
              <a:t>，并从</a:t>
            </a:r>
            <a:r>
              <a:rPr lang="en-US" altLang="zh-CN" sz="2000" dirty="0"/>
              <a:t>v</a:t>
            </a:r>
            <a:r>
              <a:rPr lang="zh-CN" altLang="en-US" sz="2000" dirty="0"/>
              <a:t>继续搜索。在这种情况下，</a:t>
            </a:r>
            <a:r>
              <a:rPr lang="en-US" altLang="zh-CN" sz="2000" dirty="0"/>
              <a:t>(</a:t>
            </a:r>
            <a:r>
              <a:rPr lang="en-US" altLang="zh-CN" sz="2000" dirty="0" err="1"/>
              <a:t>u,v</a:t>
            </a:r>
            <a:r>
              <a:rPr lang="en-US" altLang="zh-CN" sz="2000" dirty="0"/>
              <a:t>)</a:t>
            </a:r>
            <a:r>
              <a:rPr lang="zh-CN" altLang="en-US" sz="2000" dirty="0"/>
              <a:t>就是一条树边</a:t>
            </a:r>
            <a:r>
              <a:rPr lang="en-US" altLang="zh-CN" sz="2000" dirty="0"/>
              <a:t>(Tree Edge)</a:t>
            </a:r>
            <a:r>
              <a:rPr lang="zh-CN" altLang="en-US" sz="2000" dirty="0"/>
              <a:t>，且</a:t>
            </a:r>
            <a:r>
              <a:rPr lang="en-US" altLang="zh-CN" sz="2000" dirty="0"/>
              <a:t>FATHER[v] = u</a:t>
            </a:r>
            <a:r>
              <a:rPr lang="zh-CN" altLang="en-US" sz="2000" dirty="0"/>
              <a:t>。</a:t>
            </a:r>
            <a:endParaRPr lang="zh-CN" altLang="en-US" sz="2000" dirty="0"/>
          </a:p>
          <a:p>
            <a:pPr eaLnBrk="1" hangingPunct="1">
              <a:lnSpc>
                <a:spcPct val="140000"/>
              </a:lnSpc>
            </a:pPr>
            <a:r>
              <a:rPr lang="zh-CN" altLang="en-US" sz="2000" dirty="0"/>
              <a:t>情形</a:t>
            </a:r>
            <a:r>
              <a:rPr lang="en-US" altLang="zh-CN" sz="2000" dirty="0"/>
              <a:t>2 </a:t>
            </a:r>
            <a:r>
              <a:rPr lang="zh-CN" altLang="en-US" sz="2000" dirty="0"/>
              <a:t>如果顶点</a:t>
            </a:r>
            <a:r>
              <a:rPr lang="en-US" altLang="zh-CN" sz="2000" dirty="0"/>
              <a:t>v</a:t>
            </a:r>
            <a:r>
              <a:rPr lang="zh-CN" altLang="en-US" sz="2000" dirty="0"/>
              <a:t>原来已经被访问过，那么我们就继续选择一条与</a:t>
            </a:r>
            <a:r>
              <a:rPr lang="en-US" altLang="zh-CN" sz="2000" dirty="0"/>
              <a:t>u</a:t>
            </a:r>
            <a:r>
              <a:rPr lang="zh-CN" altLang="en-US" sz="2000" dirty="0"/>
              <a:t>关联的其它未检查过的边。在这种情况下，边</a:t>
            </a:r>
            <a:r>
              <a:rPr lang="en-US" altLang="zh-CN" sz="2000" dirty="0"/>
              <a:t>(u, v)</a:t>
            </a:r>
            <a:r>
              <a:rPr lang="zh-CN" altLang="en-US" sz="2000" dirty="0"/>
              <a:t>就称为一条反向边</a:t>
            </a:r>
            <a:r>
              <a:rPr lang="en-US" altLang="zh-CN" sz="2000" dirty="0"/>
              <a:t>(Back Edge)</a:t>
            </a:r>
            <a:r>
              <a:rPr lang="zh-CN" altLang="en-US" sz="2000" dirty="0"/>
              <a:t>。</a:t>
            </a:r>
            <a:endParaRPr lang="zh-CN" altLang="en-US" sz="2000" dirty="0"/>
          </a:p>
          <a:p>
            <a:pPr eaLnBrk="1" hangingPunct="1">
              <a:lnSpc>
                <a:spcPct val="140000"/>
              </a:lnSpc>
            </a:pPr>
            <a:endParaRPr lang="zh-CN" altLang="en-US" sz="2000" dirty="0"/>
          </a:p>
        </p:txBody>
      </p:sp>
      <p:sp>
        <p:nvSpPr>
          <p:cNvPr id="43011" name="标题 1"/>
          <p:cNvSpPr>
            <a:spLocks noGrp="1" noChangeArrowheads="1"/>
          </p:cNvSpPr>
          <p:nvPr>
            <p:ph type="title" idx="4294967295"/>
          </p:nvPr>
        </p:nvSpPr>
        <p:spPr>
          <a:xfrm>
            <a:off x="1012874" y="323557"/>
            <a:ext cx="8407352" cy="731520"/>
          </a:xfrm>
        </p:spPr>
        <p:txBody>
          <a:bodyPr/>
          <a:lstStyle/>
          <a:p>
            <a:pPr eaLnBrk="1" hangingPunct="1"/>
            <a:r>
              <a:rPr lang="zh-CN" altLang="en-US" dirty="0"/>
              <a:t>无向图的DFS过程</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animEffect transition="in" filter="box(in)">
                                      <p:cBhvr>
                                        <p:cTn id="7" dur="500"/>
                                        <p:tgtEl>
                                          <p:spTgt spid="143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4338">
                                            <p:txEl>
                                              <p:pRg st="1" end="1"/>
                                            </p:txEl>
                                          </p:spTgt>
                                        </p:tgtEl>
                                        <p:attrNameLst>
                                          <p:attrName>style.visibility</p:attrName>
                                        </p:attrNameLst>
                                      </p:cBhvr>
                                      <p:to>
                                        <p:strVal val="visible"/>
                                      </p:to>
                                    </p:set>
                                    <p:animEffect transition="in" filter="box(in)">
                                      <p:cBhvr>
                                        <p:cTn id="12" dur="500"/>
                                        <p:tgtEl>
                                          <p:spTgt spid="1433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4338">
                                            <p:txEl>
                                              <p:pRg st="2" end="2"/>
                                            </p:txEl>
                                          </p:spTgt>
                                        </p:tgtEl>
                                        <p:attrNameLst>
                                          <p:attrName>style.visibility</p:attrName>
                                        </p:attrNameLst>
                                      </p:cBhvr>
                                      <p:to>
                                        <p:strVal val="visible"/>
                                      </p:to>
                                    </p:set>
                                    <p:animEffect transition="in" filter="box(in)">
                                      <p:cBhvr>
                                        <p:cTn id="17" dur="500"/>
                                        <p:tgtEl>
                                          <p:spTgt spid="1433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14338">
                                            <p:txEl>
                                              <p:pRg st="3" end="3"/>
                                            </p:txEl>
                                          </p:spTgt>
                                        </p:tgtEl>
                                        <p:attrNameLst>
                                          <p:attrName>style.visibility</p:attrName>
                                        </p:attrNameLst>
                                      </p:cBhvr>
                                      <p:to>
                                        <p:strVal val="visible"/>
                                      </p:to>
                                    </p:set>
                                    <p:animEffect transition="in" filter="box(in)">
                                      <p:cBhvr>
                                        <p:cTn id="22" dur="500"/>
                                        <p:tgtEl>
                                          <p:spTgt spid="143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noChangeArrowheads="1"/>
          </p:cNvSpPr>
          <p:nvPr>
            <p:ph type="title" idx="4294967295"/>
          </p:nvPr>
        </p:nvSpPr>
        <p:spPr>
          <a:xfrm>
            <a:off x="1153552" y="624110"/>
            <a:ext cx="10351060" cy="1280890"/>
          </a:xfrm>
        </p:spPr>
        <p:txBody>
          <a:bodyPr/>
          <a:lstStyle/>
          <a:p>
            <a:pPr eaLnBrk="1" hangingPunct="1"/>
            <a:r>
              <a:rPr lang="zh-CN" altLang="en-US" dirty="0"/>
              <a:t>无向图的DFS过程</a:t>
            </a:r>
            <a:endParaRPr lang="zh-CN" altLang="en-US" dirty="0"/>
          </a:p>
        </p:txBody>
      </p:sp>
      <p:sp>
        <p:nvSpPr>
          <p:cNvPr id="15363" name="内容占位符 2"/>
          <p:cNvSpPr>
            <a:spLocks noGrp="1" noChangeArrowheads="1"/>
          </p:cNvSpPr>
          <p:nvPr>
            <p:ph sz="quarter" idx="4294967295"/>
          </p:nvPr>
        </p:nvSpPr>
        <p:spPr>
          <a:xfrm>
            <a:off x="998806" y="1905000"/>
            <a:ext cx="10505806" cy="4114800"/>
          </a:xfrm>
        </p:spPr>
        <p:txBody>
          <a:bodyPr>
            <a:normAutofit/>
          </a:bodyPr>
          <a:lstStyle/>
          <a:p>
            <a:pPr eaLnBrk="1" hangingPunct="1">
              <a:lnSpc>
                <a:spcPct val="150000"/>
              </a:lnSpc>
            </a:pPr>
            <a:r>
              <a:rPr lang="en-US" altLang="zh-CN" sz="2000" dirty="0"/>
              <a:t>(2)</a:t>
            </a:r>
            <a:r>
              <a:rPr lang="zh-CN" altLang="en-US" sz="2000" dirty="0"/>
              <a:t>如果与</a:t>
            </a:r>
            <a:r>
              <a:rPr lang="en-US" altLang="zh-CN" sz="2000" dirty="0"/>
              <a:t>u</a:t>
            </a:r>
            <a:r>
              <a:rPr lang="zh-CN" altLang="en-US" sz="2000" dirty="0"/>
              <a:t>关联的所有边都已检查过，那么我们返回到</a:t>
            </a:r>
            <a:r>
              <a:rPr lang="en-US" altLang="zh-CN" sz="2000" dirty="0"/>
              <a:t>u</a:t>
            </a:r>
            <a:r>
              <a:rPr lang="zh-CN" altLang="en-US" sz="2000" dirty="0"/>
              <a:t>的父亲，并继续从父亲结点的未检查过的邻接边搜索。顶点</a:t>
            </a:r>
            <a:r>
              <a:rPr lang="en-US" altLang="zh-CN" sz="2000" dirty="0"/>
              <a:t>u</a:t>
            </a:r>
            <a:r>
              <a:rPr lang="zh-CN" altLang="en-US" sz="2000" dirty="0"/>
              <a:t>这时就说成是完全扫描过。</a:t>
            </a:r>
            <a:endParaRPr lang="zh-CN" altLang="en-US" sz="2000" dirty="0"/>
          </a:p>
          <a:p>
            <a:pPr eaLnBrk="1" hangingPunct="1">
              <a:lnSpc>
                <a:spcPct val="150000"/>
              </a:lnSpc>
            </a:pPr>
            <a:r>
              <a:rPr lang="zh-CN" altLang="en-US" sz="2000" dirty="0"/>
              <a:t>当搜索返回到起始顶点，并且所有的边都已经被检查过了，</a:t>
            </a:r>
            <a:r>
              <a:rPr lang="en-US" altLang="zh-CN" sz="2000" dirty="0"/>
              <a:t>DFS</a:t>
            </a:r>
            <a:r>
              <a:rPr lang="zh-CN" altLang="en-US" sz="2000" dirty="0"/>
              <a:t>就终止。</a:t>
            </a:r>
            <a:endParaRPr lang="zh-CN" altLang="en-US" sz="2000" dirty="0"/>
          </a:p>
          <a:p>
            <a:pPr eaLnBrk="1" hangingPunct="1">
              <a:lnSpc>
                <a:spcPct val="150000"/>
              </a:lnSpc>
            </a:pP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Effect transition="in" filter="box(in)">
                                      <p:cBhvr>
                                        <p:cTn id="7" dur="500"/>
                                        <p:tgtEl>
                                          <p:spTgt spid="15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5363">
                                            <p:txEl>
                                              <p:pRg st="1" end="1"/>
                                            </p:txEl>
                                          </p:spTgt>
                                        </p:tgtEl>
                                        <p:attrNameLst>
                                          <p:attrName>style.visibility</p:attrName>
                                        </p:attrNameLst>
                                      </p:cBhvr>
                                      <p:to>
                                        <p:strVal val="visible"/>
                                      </p:to>
                                    </p:set>
                                    <p:animEffect transition="in" filter="box(in)">
                                      <p:cBhvr>
                                        <p:cTn id="12" dur="500"/>
                                        <p:tgtEl>
                                          <p:spTgt spid="153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noChangeArrowheads="1"/>
          </p:cNvSpPr>
          <p:nvPr>
            <p:ph type="title" idx="4294967295"/>
          </p:nvPr>
        </p:nvSpPr>
        <p:spPr>
          <a:xfrm>
            <a:off x="1167618" y="624110"/>
            <a:ext cx="10336993" cy="1280890"/>
          </a:xfrm>
        </p:spPr>
        <p:txBody>
          <a:bodyPr/>
          <a:lstStyle/>
          <a:p>
            <a:pPr eaLnBrk="1" hangingPunct="1"/>
            <a:r>
              <a:rPr lang="zh-CN" altLang="en-US" dirty="0"/>
              <a:t>深度优先数</a:t>
            </a:r>
            <a:endParaRPr lang="zh-CN" altLang="en-US" dirty="0"/>
          </a:p>
        </p:txBody>
      </p:sp>
      <p:sp>
        <p:nvSpPr>
          <p:cNvPr id="16387" name="内容占位符 2"/>
          <p:cNvSpPr>
            <a:spLocks noGrp="1" noChangeArrowheads="1"/>
          </p:cNvSpPr>
          <p:nvPr>
            <p:ph sz="quarter" idx="4294967295"/>
          </p:nvPr>
        </p:nvSpPr>
        <p:spPr>
          <a:xfrm>
            <a:off x="815925" y="1600200"/>
            <a:ext cx="10564837" cy="5257800"/>
          </a:xfrm>
        </p:spPr>
        <p:txBody>
          <a:bodyPr>
            <a:normAutofit/>
          </a:bodyPr>
          <a:lstStyle/>
          <a:p>
            <a:pPr>
              <a:lnSpc>
                <a:spcPct val="150000"/>
              </a:lnSpc>
            </a:pPr>
            <a:r>
              <a:rPr lang="zh-CN" altLang="en-US" sz="2000" dirty="0"/>
              <a:t>在</a:t>
            </a:r>
            <a:r>
              <a:rPr lang="en-US" altLang="zh-CN" sz="2000" dirty="0"/>
              <a:t>DFS</a:t>
            </a:r>
            <a:r>
              <a:rPr lang="zh-CN" altLang="en-US" sz="2000" dirty="0"/>
              <a:t>时，用</a:t>
            </a:r>
            <a:r>
              <a:rPr lang="en-US" altLang="zh-CN" sz="2000" dirty="0"/>
              <a:t>dfn[u]</a:t>
            </a:r>
            <a:r>
              <a:rPr lang="zh-CN" altLang="en-US" sz="2000" dirty="0"/>
              <a:t>表示编号为</a:t>
            </a:r>
            <a:r>
              <a:rPr lang="en-US" altLang="zh-CN" sz="2000" dirty="0"/>
              <a:t>u</a:t>
            </a:r>
            <a:r>
              <a:rPr lang="zh-CN" altLang="en-US" sz="2000" dirty="0"/>
              <a:t>的节点在</a:t>
            </a:r>
            <a:r>
              <a:rPr lang="en-US" altLang="zh-CN" sz="2000" dirty="0"/>
              <a:t>DFS</a:t>
            </a:r>
            <a:r>
              <a:rPr lang="zh-CN" altLang="en-US" sz="2000" dirty="0"/>
              <a:t>过程中第一次访问的序号</a:t>
            </a:r>
            <a:r>
              <a:rPr lang="en-US" altLang="zh-CN" sz="2000" dirty="0"/>
              <a:t>(</a:t>
            </a:r>
            <a:r>
              <a:rPr lang="zh-CN" altLang="en-US" sz="2000" dirty="0"/>
              <a:t>也叫做开始时间、发现时间、时间戳、</a:t>
            </a:r>
            <a:r>
              <a:rPr lang="en-US" altLang="zh-CN" sz="2000" dirty="0"/>
              <a:t>dfs</a:t>
            </a:r>
            <a:r>
              <a:rPr lang="zh-CN" altLang="en-US" sz="2000" dirty="0"/>
              <a:t>序等）。</a:t>
            </a:r>
            <a:r>
              <a:rPr lang="en-US" altLang="zh-CN" sz="2000" dirty="0"/>
              <a:t>dfn is the time when a node is visited first time while DFS traversal.</a:t>
            </a:r>
            <a:endParaRPr lang="en-US" altLang="zh-CN" sz="2000" dirty="0"/>
          </a:p>
          <a:p>
            <a:pPr eaLnBrk="1" hangingPunct="1">
              <a:lnSpc>
                <a:spcPct val="150000"/>
              </a:lnSpc>
            </a:pPr>
            <a:r>
              <a:rPr lang="en-US" altLang="zh-CN" sz="2000" dirty="0" err="1"/>
              <a:t>dfn</a:t>
            </a:r>
            <a:r>
              <a:rPr lang="en-US" altLang="zh-CN" sz="2000" dirty="0"/>
              <a:t>[u]</a:t>
            </a:r>
            <a:r>
              <a:rPr lang="zh-CN" altLang="en-US" sz="2000" dirty="0"/>
              <a:t>称为顶点</a:t>
            </a:r>
            <a:r>
              <a:rPr lang="en-US" altLang="zh-CN" sz="2000" dirty="0"/>
              <a:t>u</a:t>
            </a:r>
            <a:r>
              <a:rPr lang="zh-CN" altLang="en-US" sz="2000" dirty="0"/>
              <a:t>的深度优先数。显然，越先访问的节点</a:t>
            </a:r>
            <a:r>
              <a:rPr lang="en-US" altLang="zh-CN" sz="2000" dirty="0"/>
              <a:t>dfn</a:t>
            </a:r>
            <a:r>
              <a:rPr lang="zh-CN" altLang="en-US" sz="2000" dirty="0"/>
              <a:t>值越小。</a:t>
            </a:r>
            <a:endParaRPr lang="zh-CN" altLang="en-US" sz="2000" dirty="0"/>
          </a:p>
          <a:p>
            <a:pPr eaLnBrk="1" hangingPunct="1">
              <a:lnSpc>
                <a:spcPct val="150000"/>
              </a:lnSpc>
            </a:pPr>
            <a:r>
              <a:rPr lang="en-US" altLang="zh-CN" sz="2000" dirty="0"/>
              <a:t>DFS</a:t>
            </a:r>
            <a:r>
              <a:rPr lang="zh-CN" altLang="en-US" sz="2000" dirty="0"/>
              <a:t>将图</a:t>
            </a:r>
            <a:r>
              <a:rPr lang="en-US" altLang="zh-CN" sz="2000" dirty="0"/>
              <a:t>G</a:t>
            </a:r>
            <a:r>
              <a:rPr lang="zh-CN" altLang="en-US" sz="2000" dirty="0"/>
              <a:t>的边划分成树边和反向边。很容易证明，树边形成了</a:t>
            </a:r>
            <a:r>
              <a:rPr lang="en-US" altLang="zh-CN" sz="2000" dirty="0"/>
              <a:t>G</a:t>
            </a:r>
            <a:r>
              <a:rPr lang="zh-CN" altLang="en-US" sz="2000" dirty="0"/>
              <a:t>的一棵生成树。称为深度优先生成树。当图不连通时，</a:t>
            </a:r>
            <a:r>
              <a:rPr lang="en-US" altLang="zh-CN" sz="2000" dirty="0"/>
              <a:t>DFS</a:t>
            </a:r>
            <a:r>
              <a:rPr lang="zh-CN" altLang="en-US" sz="2000" dirty="0"/>
              <a:t>的结果形成一个森林，而不是单棵树。</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box(in)">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box(in)">
                                      <p:cBhvr>
                                        <p:cTn id="12" dur="500"/>
                                        <p:tgtEl>
                                          <p:spTgt spid="16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box(in)">
                                      <p:cBhvr>
                                        <p:cTn id="17" dur="500"/>
                                        <p:tgtEl>
                                          <p:spTgt spid="163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noChangeArrowheads="1"/>
          </p:cNvSpPr>
          <p:nvPr>
            <p:ph type="title" idx="4294967295"/>
          </p:nvPr>
        </p:nvSpPr>
        <p:spPr>
          <a:xfrm>
            <a:off x="1463040" y="624110"/>
            <a:ext cx="10041571" cy="1280890"/>
          </a:xfrm>
        </p:spPr>
        <p:txBody>
          <a:bodyPr/>
          <a:lstStyle/>
          <a:p>
            <a:pPr eaLnBrk="1" hangingPunct="1"/>
            <a:r>
              <a:rPr lang="zh-CN" altLang="en-US" dirty="0"/>
              <a:t>DFS遍历标号过程</a:t>
            </a:r>
            <a:endParaRPr lang="zh-CN" altLang="en-US" dirty="0"/>
          </a:p>
        </p:txBody>
      </p:sp>
      <p:sp>
        <p:nvSpPr>
          <p:cNvPr id="46083" name="内容占位符 2"/>
          <p:cNvSpPr>
            <a:spLocks noGrp="1" noChangeArrowheads="1"/>
          </p:cNvSpPr>
          <p:nvPr>
            <p:ph sz="quarter" idx="4294967295"/>
          </p:nvPr>
        </p:nvSpPr>
        <p:spPr>
          <a:xfrm>
            <a:off x="829994" y="1770062"/>
            <a:ext cx="9723267" cy="4873625"/>
          </a:xfrm>
        </p:spPr>
        <p:txBody>
          <a:bodyPr>
            <a:normAutofit/>
          </a:bodyPr>
          <a:lstStyle/>
          <a:p>
            <a:pPr eaLnBrk="1" hangingPunct="1"/>
            <a:r>
              <a:rPr lang="zh-CN" altLang="en-US" sz="2000" dirty="0"/>
              <a:t>首先访问</a:t>
            </a:r>
            <a:r>
              <a:rPr lang="en-US" altLang="zh-CN" sz="2000" dirty="0"/>
              <a:t>A</a:t>
            </a:r>
            <a:r>
              <a:rPr lang="zh-CN" altLang="en-US" sz="2000" dirty="0"/>
              <a:t>点，标号</a:t>
            </a:r>
            <a:r>
              <a:rPr lang="en-US" altLang="zh-CN" sz="2000" dirty="0"/>
              <a:t>dfn[A]=1</a:t>
            </a:r>
            <a:endParaRPr lang="en-US" altLang="zh-CN" sz="2000" dirty="0"/>
          </a:p>
          <a:p>
            <a:pPr eaLnBrk="1" hangingPunct="1"/>
            <a:r>
              <a:rPr lang="zh-CN" altLang="en-US" sz="2000" dirty="0"/>
              <a:t>经过边</a:t>
            </a:r>
            <a:r>
              <a:rPr lang="en-US" altLang="zh-CN" sz="2000" dirty="0"/>
              <a:t>A-&gt;B</a:t>
            </a:r>
            <a:r>
              <a:rPr lang="zh-CN" altLang="en-US" sz="2000" dirty="0"/>
              <a:t>，访问</a:t>
            </a:r>
            <a:r>
              <a:rPr lang="en-US" altLang="zh-CN" sz="2000" dirty="0"/>
              <a:t>B</a:t>
            </a:r>
            <a:r>
              <a:rPr lang="zh-CN" altLang="en-US" sz="2000" dirty="0"/>
              <a:t>，标号</a:t>
            </a:r>
            <a:r>
              <a:rPr lang="en-US" altLang="zh-CN" sz="2000" dirty="0"/>
              <a:t>dfn[B]=2</a:t>
            </a:r>
            <a:r>
              <a:rPr lang="zh-CN" altLang="en-US" sz="2000" dirty="0"/>
              <a:t>，</a:t>
            </a:r>
            <a:r>
              <a:rPr lang="zh-CN" altLang="en-US" sz="2000" dirty="0">
                <a:solidFill>
                  <a:srgbClr val="FF0000"/>
                </a:solidFill>
              </a:rPr>
              <a:t>树边</a:t>
            </a:r>
            <a:endParaRPr lang="en-US" altLang="zh-CN" sz="2000" dirty="0">
              <a:solidFill>
                <a:srgbClr val="FF0000"/>
              </a:solidFill>
            </a:endParaRPr>
          </a:p>
          <a:p>
            <a:pPr eaLnBrk="1" hangingPunct="1"/>
            <a:r>
              <a:rPr lang="zh-CN" altLang="en-US" sz="2000" dirty="0"/>
              <a:t>经过边</a:t>
            </a:r>
            <a:r>
              <a:rPr lang="en-US" altLang="zh-CN" sz="2000" dirty="0"/>
              <a:t>B-&gt;C</a:t>
            </a:r>
            <a:r>
              <a:rPr lang="zh-CN" altLang="en-US" sz="2000" dirty="0"/>
              <a:t>，访问</a:t>
            </a:r>
            <a:r>
              <a:rPr lang="en-US" altLang="zh-CN" sz="2000" dirty="0"/>
              <a:t>C</a:t>
            </a:r>
            <a:r>
              <a:rPr lang="zh-CN" altLang="en-US" sz="2000" dirty="0"/>
              <a:t>，标号</a:t>
            </a:r>
            <a:r>
              <a:rPr lang="en-US" altLang="zh-CN" sz="2000" dirty="0"/>
              <a:t>dfn[C]=3</a:t>
            </a:r>
            <a:r>
              <a:rPr lang="zh-CN" altLang="en-US" sz="2000" dirty="0"/>
              <a:t>，</a:t>
            </a:r>
            <a:r>
              <a:rPr lang="zh-CN" altLang="en-US" sz="2000" dirty="0">
                <a:solidFill>
                  <a:srgbClr val="FF0000"/>
                </a:solidFill>
              </a:rPr>
              <a:t>树边</a:t>
            </a:r>
            <a:endParaRPr lang="en-US" altLang="zh-CN" sz="2000" dirty="0">
              <a:solidFill>
                <a:srgbClr val="FF0000"/>
              </a:solidFill>
            </a:endParaRPr>
          </a:p>
          <a:p>
            <a:pPr eaLnBrk="1" hangingPunct="1"/>
            <a:r>
              <a:rPr lang="zh-CN" altLang="en-US" sz="2000" dirty="0"/>
              <a:t>经过边</a:t>
            </a:r>
            <a:r>
              <a:rPr lang="en-US" altLang="zh-CN" sz="2000" dirty="0"/>
              <a:t>C-&gt;A</a:t>
            </a:r>
            <a:r>
              <a:rPr lang="zh-CN" altLang="en-US" sz="2000" dirty="0"/>
              <a:t>，发现</a:t>
            </a:r>
            <a:r>
              <a:rPr lang="en-US" altLang="zh-CN" sz="2000" dirty="0"/>
              <a:t>A</a:t>
            </a:r>
            <a:r>
              <a:rPr lang="zh-CN" altLang="en-US" sz="2000" dirty="0"/>
              <a:t>已经标号，且小于</a:t>
            </a:r>
            <a:r>
              <a:rPr lang="en-US" altLang="zh-CN" sz="2000" dirty="0"/>
              <a:t>C</a:t>
            </a:r>
            <a:r>
              <a:rPr lang="zh-CN" altLang="en-US" sz="2000" dirty="0"/>
              <a:t>自身标号，</a:t>
            </a:r>
            <a:r>
              <a:rPr lang="zh-CN" altLang="en-US" sz="2000" dirty="0">
                <a:solidFill>
                  <a:srgbClr val="FF0000"/>
                </a:solidFill>
              </a:rPr>
              <a:t>反向边</a:t>
            </a:r>
            <a:endParaRPr lang="en-US" altLang="zh-CN" sz="2000" dirty="0">
              <a:solidFill>
                <a:srgbClr val="FF0000"/>
              </a:solidFill>
            </a:endParaRPr>
          </a:p>
          <a:p>
            <a:pPr eaLnBrk="1" hangingPunct="1"/>
            <a:r>
              <a:rPr lang="zh-CN" altLang="en-US" sz="2000" dirty="0"/>
              <a:t>经过边</a:t>
            </a:r>
            <a:r>
              <a:rPr lang="en-US" altLang="zh-CN" sz="2000" dirty="0"/>
              <a:t>C-&gt;B</a:t>
            </a:r>
            <a:r>
              <a:rPr lang="zh-CN" altLang="en-US" sz="2000" dirty="0"/>
              <a:t>，发现</a:t>
            </a:r>
            <a:r>
              <a:rPr lang="en-US" altLang="zh-CN" sz="2000" dirty="0"/>
              <a:t>B</a:t>
            </a:r>
            <a:r>
              <a:rPr lang="zh-CN" altLang="en-US" sz="2000" dirty="0"/>
              <a:t>是</a:t>
            </a:r>
            <a:r>
              <a:rPr lang="en-US" altLang="zh-CN" sz="2000" dirty="0"/>
              <a:t>C</a:t>
            </a:r>
            <a:r>
              <a:rPr lang="zh-CN" altLang="en-US" sz="2000" dirty="0"/>
              <a:t>父亲，不处理。至此</a:t>
            </a:r>
            <a:r>
              <a:rPr lang="en-US" altLang="zh-CN" sz="2000" dirty="0"/>
              <a:t>C</a:t>
            </a:r>
            <a:r>
              <a:rPr lang="zh-CN" altLang="en-US" sz="2000" dirty="0"/>
              <a:t>访问完毕，回退</a:t>
            </a:r>
            <a:r>
              <a:rPr lang="en-US" altLang="zh-CN" sz="2000" dirty="0"/>
              <a:t>B</a:t>
            </a:r>
            <a:endParaRPr lang="en-US" altLang="zh-CN" sz="2000" dirty="0"/>
          </a:p>
          <a:p>
            <a:pPr eaLnBrk="1" hangingPunct="1"/>
            <a:r>
              <a:rPr lang="zh-CN" altLang="en-US" sz="2000" dirty="0"/>
              <a:t>经过边</a:t>
            </a:r>
            <a:r>
              <a:rPr lang="en-US" altLang="zh-CN" sz="2000" dirty="0"/>
              <a:t>B-&gt;A</a:t>
            </a:r>
            <a:r>
              <a:rPr lang="zh-CN" altLang="en-US" sz="2000" dirty="0"/>
              <a:t>，发现</a:t>
            </a:r>
            <a:r>
              <a:rPr lang="en-US" altLang="zh-CN" sz="2000" dirty="0"/>
              <a:t>A</a:t>
            </a:r>
            <a:r>
              <a:rPr lang="zh-CN" altLang="en-US" sz="2000" dirty="0"/>
              <a:t>是</a:t>
            </a:r>
            <a:r>
              <a:rPr lang="en-US" altLang="zh-CN" sz="2000" dirty="0"/>
              <a:t>B</a:t>
            </a:r>
            <a:r>
              <a:rPr lang="zh-CN" altLang="en-US" sz="2000" dirty="0"/>
              <a:t>父亲，不处理，至此</a:t>
            </a:r>
            <a:r>
              <a:rPr lang="en-US" altLang="zh-CN" sz="2000" dirty="0"/>
              <a:t>B</a:t>
            </a:r>
            <a:r>
              <a:rPr lang="zh-CN" altLang="en-US" sz="2000" dirty="0"/>
              <a:t>访问完毕，回退</a:t>
            </a:r>
            <a:r>
              <a:rPr lang="en-US" altLang="zh-CN" sz="2000" dirty="0"/>
              <a:t>A</a:t>
            </a:r>
            <a:endParaRPr lang="en-US" altLang="zh-CN" sz="2000" dirty="0"/>
          </a:p>
          <a:p>
            <a:pPr eaLnBrk="1" hangingPunct="1"/>
            <a:r>
              <a:rPr lang="zh-CN" altLang="en-US" sz="2000" dirty="0"/>
              <a:t>经过边</a:t>
            </a:r>
            <a:r>
              <a:rPr lang="en-US" altLang="zh-CN" sz="2000" dirty="0"/>
              <a:t>A-&gt;C</a:t>
            </a:r>
            <a:r>
              <a:rPr lang="zh-CN" altLang="en-US" sz="2000" dirty="0"/>
              <a:t>，发现</a:t>
            </a:r>
            <a:r>
              <a:rPr lang="en-US" altLang="zh-CN" sz="2000" dirty="0"/>
              <a:t>C</a:t>
            </a:r>
            <a:r>
              <a:rPr lang="zh-CN" altLang="en-US" sz="2000" dirty="0"/>
              <a:t>已经标号，且大于</a:t>
            </a:r>
            <a:r>
              <a:rPr lang="en-US" altLang="zh-CN" sz="2000" dirty="0"/>
              <a:t>A</a:t>
            </a:r>
            <a:r>
              <a:rPr lang="zh-CN" altLang="en-US" sz="2000" dirty="0"/>
              <a:t>自身标号，不处理，至此</a:t>
            </a:r>
            <a:r>
              <a:rPr lang="en-US" altLang="zh-CN" sz="2000" dirty="0"/>
              <a:t>A</a:t>
            </a:r>
            <a:r>
              <a:rPr lang="zh-CN" altLang="en-US" sz="2000" dirty="0"/>
              <a:t>访问完毕，整个</a:t>
            </a:r>
            <a:r>
              <a:rPr lang="en-US" altLang="zh-CN" sz="2000" dirty="0"/>
              <a:t>DFS</a:t>
            </a:r>
            <a:r>
              <a:rPr lang="zh-CN" altLang="en-US" sz="2000" dirty="0"/>
              <a:t>结束。</a:t>
            </a:r>
            <a:endParaRPr lang="en-US" altLang="zh-CN" sz="2000" dirty="0"/>
          </a:p>
          <a:p>
            <a:pPr eaLnBrk="1" hangingPunct="1"/>
            <a:r>
              <a:rPr lang="zh-CN" altLang="en-US" sz="2000" dirty="0"/>
              <a:t>由此可见：无向图</a:t>
            </a:r>
            <a:r>
              <a:rPr lang="en-US" altLang="zh-CN" sz="2000" dirty="0"/>
              <a:t>DFS</a:t>
            </a:r>
            <a:r>
              <a:rPr lang="zh-CN" altLang="en-US" sz="2000" dirty="0"/>
              <a:t>时，</a:t>
            </a:r>
            <a:r>
              <a:rPr lang="zh-CN" altLang="en-US" sz="2000" dirty="0">
                <a:solidFill>
                  <a:srgbClr val="FF0000"/>
                </a:solidFill>
              </a:rPr>
              <a:t>每个顶点访问过</a:t>
            </a:r>
            <a:r>
              <a:rPr lang="en-US" altLang="zh-CN" sz="2000" dirty="0">
                <a:solidFill>
                  <a:srgbClr val="FF0000"/>
                </a:solidFill>
              </a:rPr>
              <a:t>2</a:t>
            </a:r>
            <a:r>
              <a:rPr lang="zh-CN" altLang="en-US" sz="2000" dirty="0">
                <a:solidFill>
                  <a:srgbClr val="FF0000"/>
                </a:solidFill>
              </a:rPr>
              <a:t>次</a:t>
            </a:r>
            <a:r>
              <a:rPr lang="zh-CN" altLang="en-US" sz="2000" dirty="0"/>
              <a:t>，第</a:t>
            </a:r>
            <a:r>
              <a:rPr lang="en-US" altLang="zh-CN" sz="2000" dirty="0"/>
              <a:t>1</a:t>
            </a:r>
            <a:r>
              <a:rPr lang="zh-CN" altLang="en-US" sz="2000" dirty="0"/>
              <a:t>次是进入时，第</a:t>
            </a:r>
            <a:r>
              <a:rPr lang="en-US" altLang="zh-CN" sz="2000" dirty="0"/>
              <a:t>2</a:t>
            </a:r>
            <a:r>
              <a:rPr lang="zh-CN" altLang="en-US" sz="2000" dirty="0"/>
              <a:t>次是退出时。</a:t>
            </a:r>
            <a:r>
              <a:rPr lang="zh-CN" altLang="en-US" sz="2000" dirty="0">
                <a:solidFill>
                  <a:srgbClr val="FF0000"/>
                </a:solidFill>
              </a:rPr>
              <a:t>每条边访问过</a:t>
            </a:r>
            <a:r>
              <a:rPr lang="en-US" altLang="zh-CN" sz="2000" dirty="0">
                <a:solidFill>
                  <a:srgbClr val="FF0000"/>
                </a:solidFill>
              </a:rPr>
              <a:t>2</a:t>
            </a:r>
            <a:r>
              <a:rPr lang="zh-CN" altLang="en-US" sz="2000" dirty="0">
                <a:solidFill>
                  <a:srgbClr val="FF0000"/>
                </a:solidFill>
              </a:rPr>
              <a:t>次</a:t>
            </a:r>
            <a:r>
              <a:rPr lang="zh-CN" altLang="en-US" sz="2000" dirty="0"/>
              <a:t>，第</a:t>
            </a:r>
            <a:r>
              <a:rPr lang="en-US" altLang="zh-CN" sz="2000" dirty="0"/>
              <a:t>1</a:t>
            </a:r>
            <a:r>
              <a:rPr lang="zh-CN" altLang="en-US" sz="2000" dirty="0"/>
              <a:t>次</a:t>
            </a:r>
            <a:r>
              <a:rPr lang="en-US" altLang="zh-CN" sz="2000" dirty="0"/>
              <a:t>u-&gt;v</a:t>
            </a:r>
            <a:r>
              <a:rPr lang="zh-CN" altLang="en-US" sz="2000" dirty="0"/>
              <a:t>，第</a:t>
            </a:r>
            <a:r>
              <a:rPr lang="en-US" altLang="zh-CN" sz="2000" dirty="0"/>
              <a:t>2</a:t>
            </a:r>
            <a:r>
              <a:rPr lang="zh-CN" altLang="en-US" sz="2000" dirty="0"/>
              <a:t>次</a:t>
            </a:r>
            <a:r>
              <a:rPr lang="en-US" altLang="zh-CN" sz="2000" dirty="0"/>
              <a:t>v-&gt;u</a:t>
            </a:r>
            <a:r>
              <a:rPr lang="zh-CN" altLang="en-US" sz="2000" dirty="0"/>
              <a:t>。</a:t>
            </a:r>
            <a:endParaRPr lang="en-US" altLang="zh-CN" sz="2000" dirty="0"/>
          </a:p>
          <a:p>
            <a:pPr eaLnBrk="1" hangingPunct="1"/>
            <a:endParaRPr lang="zh-CN" altLang="en-US" sz="2000" dirty="0"/>
          </a:p>
        </p:txBody>
      </p:sp>
      <p:grpSp>
        <p:nvGrpSpPr>
          <p:cNvPr id="46084" name="组合 7"/>
          <p:cNvGrpSpPr/>
          <p:nvPr/>
        </p:nvGrpSpPr>
        <p:grpSpPr bwMode="auto">
          <a:xfrm>
            <a:off x="7881938" y="214313"/>
            <a:ext cx="2571382" cy="2437752"/>
            <a:chOff x="0" y="0"/>
            <a:chExt cx="3317706" cy="3115171"/>
          </a:xfrm>
        </p:grpSpPr>
        <p:sp>
          <p:nvSpPr>
            <p:cNvPr id="46085" name="等腰三角形 3"/>
            <p:cNvSpPr>
              <a:spLocks noChangeArrowheads="1"/>
            </p:cNvSpPr>
            <p:nvPr/>
          </p:nvSpPr>
          <p:spPr bwMode="auto">
            <a:xfrm>
              <a:off x="286756" y="428044"/>
              <a:ext cx="2214168" cy="2144279"/>
            </a:xfrm>
            <a:prstGeom prst="triangle">
              <a:avLst>
                <a:gd name="adj" fmla="val 50000"/>
              </a:avLst>
            </a:prstGeom>
            <a:noFill/>
            <a:ln w="25400">
              <a:solidFill>
                <a:schemeClr val="accent1"/>
              </a:solidFill>
              <a:miter lim="800000"/>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endParaRPr lang="zh-CN" altLang="en-US">
                <a:solidFill>
                  <a:srgbClr val="FFFFFF"/>
                </a:solidFill>
                <a:latin typeface="Century Schoolbook" panose="02040604050505020304" pitchFamily="18" charset="0"/>
              </a:endParaRPr>
            </a:p>
          </p:txBody>
        </p:sp>
        <p:sp>
          <p:nvSpPr>
            <p:cNvPr id="46086" name="TextBox 4"/>
            <p:cNvSpPr txBox="1">
              <a:spLocks noChangeArrowheads="1"/>
            </p:cNvSpPr>
            <p:nvPr/>
          </p:nvSpPr>
          <p:spPr bwMode="auto">
            <a:xfrm>
              <a:off x="1214446" y="0"/>
              <a:ext cx="817377" cy="471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latin typeface="Century Schoolbook" panose="02040604050505020304" pitchFamily="18" charset="0"/>
                </a:rPr>
                <a:t>A(1)</a:t>
              </a:r>
              <a:endParaRPr lang="zh-CN" altLang="en-US">
                <a:latin typeface="Century Schoolbook" panose="02040604050505020304" pitchFamily="18" charset="0"/>
              </a:endParaRPr>
            </a:p>
          </p:txBody>
        </p:sp>
        <p:sp>
          <p:nvSpPr>
            <p:cNvPr id="46087" name="TextBox 5"/>
            <p:cNvSpPr txBox="1">
              <a:spLocks noChangeArrowheads="1"/>
            </p:cNvSpPr>
            <p:nvPr/>
          </p:nvSpPr>
          <p:spPr bwMode="auto">
            <a:xfrm>
              <a:off x="0" y="2643206"/>
              <a:ext cx="817377" cy="471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latin typeface="Century Schoolbook" panose="02040604050505020304" pitchFamily="18" charset="0"/>
                </a:rPr>
                <a:t>B(2)</a:t>
              </a:r>
              <a:endParaRPr lang="zh-CN" altLang="en-US">
                <a:latin typeface="Century Schoolbook" panose="02040604050505020304" pitchFamily="18" charset="0"/>
              </a:endParaRPr>
            </a:p>
          </p:txBody>
        </p:sp>
        <p:sp>
          <p:nvSpPr>
            <p:cNvPr id="46088" name="TextBox 6"/>
            <p:cNvSpPr txBox="1">
              <a:spLocks noChangeArrowheads="1"/>
            </p:cNvSpPr>
            <p:nvPr/>
          </p:nvSpPr>
          <p:spPr bwMode="auto">
            <a:xfrm>
              <a:off x="2500329" y="2571768"/>
              <a:ext cx="817377" cy="47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latin typeface="Century Schoolbook" panose="02040604050505020304" pitchFamily="18" charset="0"/>
                </a:rPr>
                <a:t>C(3)</a:t>
              </a:r>
              <a:endParaRPr lang="zh-CN" altLang="en-US">
                <a:latin typeface="Century Schoolbook" panose="02040604050505020304" pitchFamily="18" charset="0"/>
              </a:endParaRPr>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noChangeArrowheads="1"/>
          </p:cNvSpPr>
          <p:nvPr>
            <p:ph type="title" idx="4294967295"/>
          </p:nvPr>
        </p:nvSpPr>
        <p:spPr>
          <a:xfrm>
            <a:off x="1153552" y="624110"/>
            <a:ext cx="10351060" cy="923925"/>
          </a:xfrm>
        </p:spPr>
        <p:txBody>
          <a:bodyPr/>
          <a:lstStyle/>
          <a:p>
            <a:pPr eaLnBrk="1" hangingPunct="1"/>
            <a:r>
              <a:rPr lang="zh-CN" altLang="en-US" dirty="0"/>
              <a:t>举例</a:t>
            </a:r>
            <a:endParaRPr lang="zh-CN" altLang="en-US" dirty="0"/>
          </a:p>
        </p:txBody>
      </p:sp>
      <p:pic>
        <p:nvPicPr>
          <p:cNvPr id="47107" name="内容占位符 3" descr="无向图的DFS.png"/>
          <p:cNvPicPr>
            <a:picLocks noGrp="1" noChangeArrowheads="1"/>
          </p:cNvPicPr>
          <p:nvPr>
            <p:ph sz="quarter" idx="4294967295"/>
          </p:nvPr>
        </p:nvPicPr>
        <p:blipFill>
          <a:blip r:embed="rId1">
            <a:extLst>
              <a:ext uri="{28A0092B-C50C-407E-A947-70E740481C1C}">
                <a14:useLocalDpi xmlns:a14="http://schemas.microsoft.com/office/drawing/2010/main" val="0"/>
              </a:ext>
            </a:extLst>
          </a:blip>
          <a:srcRect/>
          <a:stretch>
            <a:fillRect/>
          </a:stretch>
        </p:blipFill>
        <p:spPr>
          <a:xfrm>
            <a:off x="2595563" y="1238250"/>
            <a:ext cx="6227762" cy="3848100"/>
          </a:xfrm>
        </p:spPr>
      </p:pic>
      <p:sp>
        <p:nvSpPr>
          <p:cNvPr id="47108" name="TextBox 4"/>
          <p:cNvSpPr txBox="1">
            <a:spLocks noChangeArrowheads="1"/>
          </p:cNvSpPr>
          <p:nvPr/>
        </p:nvSpPr>
        <p:spPr bwMode="auto">
          <a:xfrm>
            <a:off x="1280160" y="5572126"/>
            <a:ext cx="1035106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zh-CN" altLang="en-US" dirty="0">
                <a:latin typeface="+mn-ea"/>
                <a:ea typeface="+mn-ea"/>
              </a:rPr>
              <a:t>上图中展示无向图</a:t>
            </a:r>
            <a:r>
              <a:rPr lang="en-US" altLang="zh-CN" dirty="0">
                <a:latin typeface="+mn-ea"/>
                <a:ea typeface="+mn-ea"/>
              </a:rPr>
              <a:t>G</a:t>
            </a:r>
            <a:r>
              <a:rPr lang="zh-CN" altLang="en-US" dirty="0">
                <a:latin typeface="+mn-ea"/>
                <a:ea typeface="+mn-ea"/>
              </a:rPr>
              <a:t>的深度优先搜索。</a:t>
            </a:r>
            <a:r>
              <a:rPr lang="en-US" altLang="zh-CN" dirty="0">
                <a:latin typeface="+mn-ea"/>
                <a:ea typeface="+mn-ea"/>
              </a:rPr>
              <a:t>(a)</a:t>
            </a:r>
            <a:r>
              <a:rPr lang="zh-CN" altLang="en-US" dirty="0">
                <a:latin typeface="+mn-ea"/>
                <a:ea typeface="+mn-ea"/>
              </a:rPr>
              <a:t>是无向图，</a:t>
            </a:r>
            <a:r>
              <a:rPr lang="en-US" altLang="zh-CN" dirty="0">
                <a:latin typeface="+mn-ea"/>
                <a:ea typeface="+mn-ea"/>
              </a:rPr>
              <a:t>(b)</a:t>
            </a:r>
            <a:r>
              <a:rPr lang="zh-CN" altLang="en-US" dirty="0">
                <a:latin typeface="+mn-ea"/>
                <a:ea typeface="+mn-ea"/>
              </a:rPr>
              <a:t>中的实线边是树边，虚线边是反向边。顶点</a:t>
            </a:r>
            <a:r>
              <a:rPr lang="en-US" altLang="zh-CN" dirty="0">
                <a:latin typeface="+mn-ea"/>
                <a:ea typeface="+mn-ea"/>
              </a:rPr>
              <a:t>1</a:t>
            </a:r>
            <a:r>
              <a:rPr lang="zh-CN" altLang="en-US" dirty="0">
                <a:latin typeface="+mn-ea"/>
                <a:ea typeface="+mn-ea"/>
              </a:rPr>
              <a:t>是</a:t>
            </a:r>
            <a:r>
              <a:rPr lang="en-US" altLang="zh-CN" dirty="0">
                <a:latin typeface="+mn-ea"/>
                <a:ea typeface="+mn-ea"/>
              </a:rPr>
              <a:t>DFS</a:t>
            </a:r>
            <a:r>
              <a:rPr lang="zh-CN" altLang="en-US" dirty="0">
                <a:latin typeface="+mn-ea"/>
                <a:ea typeface="+mn-ea"/>
              </a:rPr>
              <a:t>树的根。</a:t>
            </a:r>
            <a:r>
              <a:rPr lang="en-US" altLang="zh-CN" dirty="0">
                <a:latin typeface="+mn-ea"/>
                <a:ea typeface="+mn-ea"/>
              </a:rPr>
              <a:t>(c)</a:t>
            </a:r>
            <a:r>
              <a:rPr lang="zh-CN" altLang="en-US" dirty="0">
                <a:latin typeface="+mn-ea"/>
                <a:ea typeface="+mn-ea"/>
              </a:rPr>
              <a:t>列出了边的检查顺序。可以产生多棵以同一个顶点为根的生成树，例如树边</a:t>
            </a:r>
            <a:r>
              <a:rPr lang="en-US" altLang="zh-CN" dirty="0">
                <a:latin typeface="+mn-ea"/>
                <a:ea typeface="+mn-ea"/>
              </a:rPr>
              <a:t>(5,6)</a:t>
            </a:r>
            <a:r>
              <a:rPr lang="zh-CN" altLang="en-US" dirty="0">
                <a:latin typeface="+mn-ea"/>
                <a:ea typeface="+mn-ea"/>
              </a:rPr>
              <a:t>可被反向边</a:t>
            </a:r>
            <a:r>
              <a:rPr lang="en-US" altLang="zh-CN" dirty="0">
                <a:latin typeface="+mn-ea"/>
                <a:ea typeface="+mn-ea"/>
              </a:rPr>
              <a:t>(5,7)</a:t>
            </a:r>
            <a:r>
              <a:rPr lang="zh-CN" altLang="en-US" dirty="0">
                <a:latin typeface="+mn-ea"/>
                <a:ea typeface="+mn-ea"/>
              </a:rPr>
              <a:t>替换。</a:t>
            </a:r>
            <a:endParaRPr lang="zh-CN" altLang="en-US" dirty="0">
              <a:latin typeface="+mn-ea"/>
              <a:ea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noChangeArrowheads="1"/>
          </p:cNvSpPr>
          <p:nvPr>
            <p:ph type="title" idx="4294967295"/>
          </p:nvPr>
        </p:nvSpPr>
        <p:spPr>
          <a:xfrm>
            <a:off x="801858" y="624110"/>
            <a:ext cx="10702753" cy="881133"/>
          </a:xfrm>
        </p:spPr>
        <p:txBody>
          <a:bodyPr/>
          <a:lstStyle/>
          <a:p>
            <a:pPr eaLnBrk="1" hangingPunct="1"/>
            <a:r>
              <a:rPr lang="zh-CN" altLang="en-US" dirty="0"/>
              <a:t>练习：无向图标出DFN值，并画出DFS树</a:t>
            </a:r>
            <a:endParaRPr lang="zh-CN" altLang="en-US" dirty="0"/>
          </a:p>
        </p:txBody>
      </p:sp>
      <p:sp>
        <p:nvSpPr>
          <p:cNvPr id="48131" name="内容占位符 2"/>
          <p:cNvSpPr>
            <a:spLocks noGrp="1" noChangeArrowheads="1"/>
          </p:cNvSpPr>
          <p:nvPr>
            <p:ph sz="quarter" idx="4294967295"/>
          </p:nvPr>
        </p:nvSpPr>
        <p:spPr>
          <a:xfrm>
            <a:off x="801858" y="1683434"/>
            <a:ext cx="8915400" cy="3886200"/>
          </a:xfrm>
        </p:spPr>
        <p:txBody>
          <a:bodyPr>
            <a:normAutofit/>
          </a:bodyPr>
          <a:lstStyle/>
          <a:p>
            <a:pPr eaLnBrk="1" hangingPunct="1"/>
            <a:r>
              <a:rPr lang="zh-CN" altLang="en-US" sz="2000" dirty="0"/>
              <a:t>以</a:t>
            </a:r>
            <a:r>
              <a:rPr lang="en-US" altLang="zh-CN" sz="2000" dirty="0"/>
              <a:t>b</a:t>
            </a:r>
            <a:r>
              <a:rPr lang="zh-CN" altLang="en-US" sz="2000" dirty="0"/>
              <a:t>为起点搜索</a:t>
            </a:r>
            <a:endParaRPr lang="zh-CN" altLang="en-US" sz="2000" dirty="0"/>
          </a:p>
        </p:txBody>
      </p:sp>
      <p:pic>
        <p:nvPicPr>
          <p:cNvPr id="4813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47996" y="2676012"/>
            <a:ext cx="7610475" cy="307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idx="4294967295"/>
          </p:nvPr>
        </p:nvSpPr>
        <p:spPr/>
        <p:txBody>
          <a:bodyPr/>
          <a:lstStyle/>
          <a:p>
            <a:pPr eaLnBrk="1" hangingPunct="1"/>
            <a:r>
              <a:rPr lang="zh-CN" altLang="en-US"/>
              <a:t>参考答案</a:t>
            </a:r>
            <a:endParaRPr lang="zh-CN" altLang="en-US"/>
          </a:p>
        </p:txBody>
      </p:sp>
      <p:pic>
        <p:nvPicPr>
          <p:cNvPr id="49155" name="Picture 2"/>
          <p:cNvPicPr>
            <a:picLocks noGrp="1" noChangeAspect="1" noChangeArrowheads="1"/>
          </p:cNvPicPr>
          <p:nvPr>
            <p:ph sz="quarter" idx="4294967295"/>
          </p:nvPr>
        </p:nvPicPr>
        <p:blipFill>
          <a:blip r:embed="rId1">
            <a:extLst>
              <a:ext uri="{28A0092B-C50C-407E-A947-70E740481C1C}">
                <a14:useLocalDpi xmlns:a14="http://schemas.microsoft.com/office/drawing/2010/main" val="0"/>
              </a:ext>
            </a:extLst>
          </a:blip>
          <a:srcRect/>
          <a:stretch>
            <a:fillRect/>
          </a:stretch>
        </p:blipFill>
        <p:spPr>
          <a:xfrm>
            <a:off x="3738564" y="1571626"/>
            <a:ext cx="4352925" cy="3667125"/>
          </a:xfr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noChangeArrowheads="1"/>
          </p:cNvSpPr>
          <p:nvPr>
            <p:ph type="title" idx="4294967295"/>
          </p:nvPr>
        </p:nvSpPr>
        <p:spPr>
          <a:xfrm>
            <a:off x="717452" y="274638"/>
            <a:ext cx="8731348" cy="582612"/>
          </a:xfrm>
        </p:spPr>
        <p:txBody>
          <a:bodyPr>
            <a:normAutofit fontScale="90000"/>
          </a:bodyPr>
          <a:lstStyle/>
          <a:p>
            <a:pPr eaLnBrk="1" hangingPunct="1"/>
            <a:r>
              <a:rPr lang="zh-CN" altLang="en-US"/>
              <a:t>DFS实现-数据结构</a:t>
            </a:r>
            <a:endParaRPr lang="zh-CN" altLang="en-US"/>
          </a:p>
        </p:txBody>
      </p:sp>
      <p:sp>
        <p:nvSpPr>
          <p:cNvPr id="21507" name="内容占位符 2"/>
          <p:cNvSpPr>
            <a:spLocks noGrp="1" noChangeArrowheads="1"/>
          </p:cNvSpPr>
          <p:nvPr>
            <p:ph sz="quarter" idx="4294967295"/>
          </p:nvPr>
        </p:nvSpPr>
        <p:spPr>
          <a:xfrm>
            <a:off x="717452" y="928688"/>
            <a:ext cx="10621108" cy="5715000"/>
          </a:xfrm>
        </p:spPr>
        <p:txBody>
          <a:bodyPr>
            <a:normAutofit/>
          </a:bodyPr>
          <a:lstStyle/>
          <a:p>
            <a:pPr eaLnBrk="1" hangingPunct="1">
              <a:lnSpc>
                <a:spcPct val="130000"/>
              </a:lnSpc>
            </a:pPr>
            <a:r>
              <a:rPr lang="zh-CN" altLang="en-US" sz="2000" dirty="0"/>
              <a:t>用邻接表存储图。边用结构体表示，可在结构体中记录多种信息。一种最小的信息表示为：</a:t>
            </a:r>
            <a:endParaRPr lang="en-US" altLang="zh-CN" sz="2000" dirty="0"/>
          </a:p>
          <a:p>
            <a:pPr eaLnBrk="1" hangingPunct="1">
              <a:lnSpc>
                <a:spcPct val="130000"/>
              </a:lnSpc>
              <a:buFont typeface="Wingdings" panose="05000000000000000000" pitchFamily="2" charset="2"/>
              <a:buNone/>
            </a:pPr>
            <a:r>
              <a:rPr lang="en-US" altLang="zh-CN" sz="2000" dirty="0"/>
              <a:t>struct node {</a:t>
            </a:r>
            <a:endParaRPr lang="en-US" altLang="zh-CN" sz="2000" dirty="0"/>
          </a:p>
          <a:p>
            <a:pPr eaLnBrk="1" hangingPunct="1">
              <a:lnSpc>
                <a:spcPct val="130000"/>
              </a:lnSpc>
              <a:buFont typeface="Wingdings" panose="05000000000000000000" pitchFamily="2" charset="2"/>
              <a:buNone/>
            </a:pPr>
            <a:r>
              <a:rPr lang="en-US" altLang="zh-CN" sz="2000" dirty="0"/>
              <a:t>	</a:t>
            </a:r>
            <a:r>
              <a:rPr lang="en-US" altLang="zh-CN" sz="2000" dirty="0" err="1"/>
              <a:t>int</a:t>
            </a:r>
            <a:r>
              <a:rPr lang="en-US" altLang="zh-CN" sz="2000" dirty="0"/>
              <a:t> v;		//</a:t>
            </a:r>
            <a:r>
              <a:rPr lang="zh-CN" altLang="en-US" sz="2000" dirty="0"/>
              <a:t>边的终点</a:t>
            </a:r>
            <a:endParaRPr lang="en-US" altLang="zh-CN" sz="2000" dirty="0"/>
          </a:p>
          <a:p>
            <a:pPr eaLnBrk="1" hangingPunct="1">
              <a:lnSpc>
                <a:spcPct val="130000"/>
              </a:lnSpc>
              <a:buFont typeface="Wingdings" panose="05000000000000000000" pitchFamily="2" charset="2"/>
              <a:buNone/>
            </a:pPr>
            <a:r>
              <a:rPr lang="en-US" altLang="zh-CN" sz="2000" dirty="0"/>
              <a:t>	node *next;		//</a:t>
            </a:r>
            <a:r>
              <a:rPr lang="zh-CN" altLang="en-US" sz="2000" dirty="0"/>
              <a:t>下一条边的指针</a:t>
            </a:r>
            <a:endParaRPr lang="en-US" altLang="zh-CN" sz="2000" dirty="0"/>
          </a:p>
          <a:p>
            <a:pPr eaLnBrk="1" hangingPunct="1">
              <a:lnSpc>
                <a:spcPct val="130000"/>
              </a:lnSpc>
              <a:buFont typeface="Wingdings" panose="05000000000000000000" pitchFamily="2" charset="2"/>
              <a:buNone/>
            </a:pPr>
            <a:r>
              <a:rPr lang="en-US" altLang="zh-CN" sz="2000" dirty="0"/>
              <a:t>}edge[MAXM];      	//</a:t>
            </a:r>
            <a:r>
              <a:rPr lang="zh-CN" altLang="en-US" sz="2000" dirty="0"/>
              <a:t>所有边存储在</a:t>
            </a:r>
            <a:r>
              <a:rPr lang="en-US" altLang="zh-CN" sz="2000" dirty="0" err="1"/>
              <a:t>edata</a:t>
            </a:r>
            <a:r>
              <a:rPr lang="zh-CN" altLang="en-US" sz="2000" dirty="0"/>
              <a:t>数组中</a:t>
            </a:r>
            <a:endParaRPr lang="en-US" altLang="zh-CN" sz="2000" dirty="0"/>
          </a:p>
          <a:p>
            <a:pPr eaLnBrk="1" hangingPunct="1">
              <a:lnSpc>
                <a:spcPct val="130000"/>
              </a:lnSpc>
            </a:pPr>
            <a:r>
              <a:rPr lang="zh-CN" altLang="en-US" sz="2000" dirty="0"/>
              <a:t>利用</a:t>
            </a:r>
            <a:r>
              <a:rPr lang="en-US" altLang="zh-CN" sz="2000" dirty="0"/>
              <a:t>next</a:t>
            </a:r>
            <a:r>
              <a:rPr lang="zh-CN" altLang="en-US" sz="2000" dirty="0"/>
              <a:t>指针，每个节点的邻接边形成一条单链表</a:t>
            </a:r>
            <a:endParaRPr lang="en-US" altLang="zh-CN" sz="2000" dirty="0"/>
          </a:p>
          <a:p>
            <a:pPr eaLnBrk="1" hangingPunct="1">
              <a:lnSpc>
                <a:spcPct val="130000"/>
              </a:lnSpc>
            </a:pPr>
            <a:r>
              <a:rPr lang="zh-CN" altLang="en-US" sz="2000" dirty="0"/>
              <a:t>用一个指针数组</a:t>
            </a:r>
            <a:r>
              <a:rPr lang="en-US" altLang="zh-CN" sz="2000" dirty="0" err="1"/>
              <a:t>adj</a:t>
            </a:r>
            <a:r>
              <a:rPr lang="en-US" altLang="zh-CN" sz="2000" dirty="0"/>
              <a:t>[MAXN]</a:t>
            </a:r>
            <a:r>
              <a:rPr lang="zh-CN" altLang="en-US" sz="2000" dirty="0"/>
              <a:t>存储每个节点的边链表的头指针</a:t>
            </a:r>
            <a:endParaRPr lang="en-US" altLang="zh-CN" sz="2000" dirty="0"/>
          </a:p>
          <a:p>
            <a:pPr eaLnBrk="1" hangingPunct="1">
              <a:lnSpc>
                <a:spcPct val="130000"/>
              </a:lnSpc>
              <a:buFont typeface="Wingdings" panose="05000000000000000000" pitchFamily="2" charset="2"/>
              <a:buNone/>
            </a:pPr>
            <a:r>
              <a:rPr lang="en-US" altLang="zh-CN" sz="2000" dirty="0"/>
              <a:t>node* </a:t>
            </a:r>
            <a:r>
              <a:rPr lang="en-US" altLang="zh-CN" sz="2000" dirty="0" err="1"/>
              <a:t>adj</a:t>
            </a:r>
            <a:r>
              <a:rPr lang="en-US" altLang="zh-CN" sz="2000" dirty="0"/>
              <a:t>[MAXN];</a:t>
            </a:r>
            <a:endParaRPr lang="en-US" altLang="zh-CN" sz="2000" dirty="0"/>
          </a:p>
          <a:p>
            <a:pPr eaLnBrk="1" hangingPunct="1">
              <a:lnSpc>
                <a:spcPct val="130000"/>
              </a:lnSpc>
            </a:pPr>
            <a:r>
              <a:rPr lang="zh-CN" altLang="en-US" sz="2000" dirty="0"/>
              <a:t>读入的边是逐条后插到</a:t>
            </a:r>
            <a:r>
              <a:rPr lang="en-US" altLang="zh-CN" sz="2000" dirty="0"/>
              <a:t>edge[ ]</a:t>
            </a:r>
            <a:r>
              <a:rPr lang="zh-CN" altLang="en-US" sz="2000" dirty="0"/>
              <a:t>数组中，用一个指针变量</a:t>
            </a:r>
            <a:r>
              <a:rPr lang="en-US" altLang="zh-CN" sz="2000" dirty="0" err="1"/>
              <a:t>ecnt</a:t>
            </a:r>
            <a:r>
              <a:rPr lang="zh-CN" altLang="en-US" sz="2000" dirty="0"/>
              <a:t>记录当前插入位置。</a:t>
            </a:r>
            <a:endParaRPr lang="en-US" altLang="zh-CN" sz="2000" dirty="0"/>
          </a:p>
          <a:p>
            <a:pPr eaLnBrk="1" hangingPunct="1">
              <a:lnSpc>
                <a:spcPct val="130000"/>
              </a:lnSpc>
              <a:buFont typeface="Wingdings" panose="05000000000000000000" pitchFamily="2" charset="2"/>
              <a:buNone/>
            </a:pPr>
            <a:endParaRPr lang="en-US" altLang="zh-CN" sz="2000" dirty="0"/>
          </a:p>
          <a:p>
            <a:pPr eaLnBrk="1" hangingPunct="1">
              <a:lnSpc>
                <a:spcPct val="130000"/>
              </a:lnSpc>
              <a:buFont typeface="Wingdings" panose="05000000000000000000" pitchFamily="2" charset="2"/>
              <a:buNone/>
            </a:pP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ox(in)">
                                      <p:cBhvr>
                                        <p:cTn id="7" dur="5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box(in)">
                                      <p:cBhvr>
                                        <p:cTn id="12" dur="500"/>
                                        <p:tgtEl>
                                          <p:spTgt spid="2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box(in)">
                                      <p:cBhvr>
                                        <p:cTn id="17" dur="500"/>
                                        <p:tgtEl>
                                          <p:spTgt spid="21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box(in)">
                                      <p:cBhvr>
                                        <p:cTn id="22" dur="500"/>
                                        <p:tgtEl>
                                          <p:spTgt spid="215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Effect transition="in" filter="box(in)">
                                      <p:cBhvr>
                                        <p:cTn id="27" dur="500"/>
                                        <p:tgtEl>
                                          <p:spTgt spid="215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1507">
                                            <p:txEl>
                                              <p:pRg st="5" end="5"/>
                                            </p:txEl>
                                          </p:spTgt>
                                        </p:tgtEl>
                                        <p:attrNameLst>
                                          <p:attrName>style.visibility</p:attrName>
                                        </p:attrNameLst>
                                      </p:cBhvr>
                                      <p:to>
                                        <p:strVal val="visible"/>
                                      </p:to>
                                    </p:set>
                                    <p:animEffect transition="in" filter="box(in)">
                                      <p:cBhvr>
                                        <p:cTn id="32" dur="500"/>
                                        <p:tgtEl>
                                          <p:spTgt spid="2150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1507">
                                            <p:txEl>
                                              <p:pRg st="6" end="6"/>
                                            </p:txEl>
                                          </p:spTgt>
                                        </p:tgtEl>
                                        <p:attrNameLst>
                                          <p:attrName>style.visibility</p:attrName>
                                        </p:attrNameLst>
                                      </p:cBhvr>
                                      <p:to>
                                        <p:strVal val="visible"/>
                                      </p:to>
                                    </p:set>
                                    <p:animEffect transition="in" filter="box(in)">
                                      <p:cBhvr>
                                        <p:cTn id="37" dur="500"/>
                                        <p:tgtEl>
                                          <p:spTgt spid="2150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1507">
                                            <p:txEl>
                                              <p:pRg st="7" end="7"/>
                                            </p:txEl>
                                          </p:spTgt>
                                        </p:tgtEl>
                                        <p:attrNameLst>
                                          <p:attrName>style.visibility</p:attrName>
                                        </p:attrNameLst>
                                      </p:cBhvr>
                                      <p:to>
                                        <p:strVal val="visible"/>
                                      </p:to>
                                    </p:set>
                                    <p:animEffect transition="in" filter="box(in)">
                                      <p:cBhvr>
                                        <p:cTn id="42" dur="500"/>
                                        <p:tgtEl>
                                          <p:spTgt spid="2150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1507">
                                            <p:txEl>
                                              <p:pRg st="8" end="8"/>
                                            </p:txEl>
                                          </p:spTgt>
                                        </p:tgtEl>
                                        <p:attrNameLst>
                                          <p:attrName>style.visibility</p:attrName>
                                        </p:attrNameLst>
                                      </p:cBhvr>
                                      <p:to>
                                        <p:strVal val="visible"/>
                                      </p:to>
                                    </p:set>
                                    <p:animEffect transition="in" filter="box(in)">
                                      <p:cBhvr>
                                        <p:cTn id="47" dur="500"/>
                                        <p:tgtEl>
                                          <p:spTgt spid="2150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noChangeArrowheads="1"/>
          </p:cNvSpPr>
          <p:nvPr>
            <p:ph type="title" idx="4294967295"/>
          </p:nvPr>
        </p:nvSpPr>
        <p:spPr>
          <a:xfrm>
            <a:off x="618978" y="1"/>
            <a:ext cx="8872685" cy="796925"/>
          </a:xfrm>
        </p:spPr>
        <p:txBody>
          <a:bodyPr/>
          <a:lstStyle/>
          <a:p>
            <a:pPr eaLnBrk="1" hangingPunct="1"/>
            <a:r>
              <a:rPr lang="zh-CN" altLang="en-US" dirty="0"/>
              <a:t>添加边的函数</a:t>
            </a:r>
            <a:endParaRPr lang="zh-CN" altLang="en-US" dirty="0"/>
          </a:p>
        </p:txBody>
      </p:sp>
      <p:sp>
        <p:nvSpPr>
          <p:cNvPr id="51203" name="内容占位符 2"/>
          <p:cNvSpPr>
            <a:spLocks noGrp="1" noChangeArrowheads="1"/>
          </p:cNvSpPr>
          <p:nvPr>
            <p:ph sz="quarter" idx="4294967295"/>
          </p:nvPr>
        </p:nvSpPr>
        <p:spPr>
          <a:xfrm>
            <a:off x="618978" y="785814"/>
            <a:ext cx="9691835" cy="6072187"/>
          </a:xfrm>
        </p:spPr>
        <p:txBody>
          <a:bodyPr/>
          <a:lstStyle/>
          <a:p>
            <a:pPr eaLnBrk="1" hangingPunct="1"/>
            <a:r>
              <a:rPr lang="zh-CN" altLang="en-US" sz="2000" dirty="0"/>
              <a:t>无向图的一条边在存储时，实现是拆成两条“有向边”来存储的。例如，设一条无向边</a:t>
            </a:r>
            <a:r>
              <a:rPr lang="en-US" altLang="zh-CN" sz="2000" dirty="0"/>
              <a:t>(</a:t>
            </a:r>
            <a:r>
              <a:rPr lang="en-US" altLang="zh-CN" sz="2000" dirty="0" err="1"/>
              <a:t>u,v</a:t>
            </a:r>
            <a:r>
              <a:rPr lang="en-US" altLang="zh-CN" sz="2000" dirty="0"/>
              <a:t>)</a:t>
            </a:r>
            <a:r>
              <a:rPr lang="zh-CN" altLang="en-US" sz="2000" dirty="0"/>
              <a:t>，存储时一条边是</a:t>
            </a:r>
            <a:r>
              <a:rPr lang="en-US" altLang="zh-CN" sz="2000" dirty="0"/>
              <a:t>u-&gt;v</a:t>
            </a:r>
            <a:r>
              <a:rPr lang="zh-CN" altLang="en-US" sz="2000" dirty="0"/>
              <a:t>，另一条边是</a:t>
            </a:r>
            <a:r>
              <a:rPr lang="en-US" altLang="zh-CN" sz="2000" dirty="0"/>
              <a:t>v-&gt;u</a:t>
            </a:r>
            <a:endParaRPr lang="en-US" altLang="zh-CN" sz="2000" dirty="0"/>
          </a:p>
          <a:p>
            <a:pPr eaLnBrk="1" hangingPunct="1">
              <a:buFont typeface="Wingdings" panose="05000000000000000000" pitchFamily="2" charset="2"/>
              <a:buNone/>
            </a:pPr>
            <a:r>
              <a:rPr lang="en-US" altLang="zh-CN" sz="2000" dirty="0" err="1"/>
              <a:t>const</a:t>
            </a:r>
            <a:r>
              <a:rPr lang="en-US" altLang="zh-CN" sz="2000" dirty="0"/>
              <a:t> </a:t>
            </a:r>
            <a:r>
              <a:rPr lang="en-US" altLang="zh-CN" sz="2000" dirty="0" err="1"/>
              <a:t>int</a:t>
            </a:r>
            <a:r>
              <a:rPr lang="en-US" altLang="zh-CN" sz="2000" dirty="0"/>
              <a:t> MAXN = 5100;	//</a:t>
            </a:r>
            <a:r>
              <a:rPr lang="zh-CN" altLang="en-US" sz="2000" dirty="0"/>
              <a:t>最大顶点数</a:t>
            </a:r>
            <a:endParaRPr lang="en-US" altLang="zh-CN" sz="2000" dirty="0"/>
          </a:p>
          <a:p>
            <a:pPr eaLnBrk="1" hangingPunct="1">
              <a:buFont typeface="Wingdings" panose="05000000000000000000" pitchFamily="2" charset="2"/>
              <a:buNone/>
            </a:pPr>
            <a:r>
              <a:rPr lang="en-US" altLang="zh-CN" sz="2000" dirty="0" err="1"/>
              <a:t>const</a:t>
            </a:r>
            <a:r>
              <a:rPr lang="en-US" altLang="zh-CN" sz="2000" dirty="0"/>
              <a:t> </a:t>
            </a:r>
            <a:r>
              <a:rPr lang="en-US" altLang="zh-CN" sz="2000" dirty="0" err="1"/>
              <a:t>int</a:t>
            </a:r>
            <a:r>
              <a:rPr lang="en-US" altLang="zh-CN" sz="2000" dirty="0"/>
              <a:t> MAXM = 101000;	//</a:t>
            </a:r>
            <a:r>
              <a:rPr lang="zh-CN" altLang="en-US" sz="2000" dirty="0"/>
              <a:t>最大边数，等于题设最大边数*</a:t>
            </a:r>
            <a:r>
              <a:rPr lang="en-US" altLang="zh-CN" sz="2000" dirty="0"/>
              <a:t>2</a:t>
            </a:r>
            <a:endParaRPr lang="en-US" altLang="zh-CN" sz="2000" dirty="0"/>
          </a:p>
          <a:p>
            <a:pPr eaLnBrk="1" hangingPunct="1">
              <a:buFont typeface="Wingdings" panose="05000000000000000000" pitchFamily="2" charset="2"/>
              <a:buNone/>
            </a:pPr>
            <a:r>
              <a:rPr lang="en-US" altLang="zh-CN" sz="2000" dirty="0"/>
              <a:t>node *</a:t>
            </a:r>
            <a:r>
              <a:rPr lang="en-US" altLang="zh-CN" sz="2000" dirty="0" err="1"/>
              <a:t>ecnt</a:t>
            </a:r>
            <a:r>
              <a:rPr lang="en-US" altLang="zh-CN" sz="2000" dirty="0"/>
              <a:t> = &amp;edge[0];	//</a:t>
            </a:r>
            <a:r>
              <a:rPr lang="zh-CN" altLang="en-US" sz="2000" dirty="0"/>
              <a:t>边数组空闲空间指针</a:t>
            </a:r>
            <a:endParaRPr lang="en-US" altLang="zh-CN" sz="2000" dirty="0"/>
          </a:p>
          <a:p>
            <a:pPr eaLnBrk="1" hangingPunct="1">
              <a:buFont typeface="Wingdings" panose="05000000000000000000" pitchFamily="2" charset="2"/>
              <a:buNone/>
            </a:pPr>
            <a:r>
              <a:rPr lang="en-US" altLang="zh-CN" sz="2000" dirty="0" err="1"/>
              <a:t>int</a:t>
            </a:r>
            <a:r>
              <a:rPr lang="en-US" altLang="zh-CN" sz="2000" dirty="0"/>
              <a:t> n, m;			             //</a:t>
            </a:r>
            <a:r>
              <a:rPr lang="zh-CN" altLang="en-US" sz="2000" dirty="0"/>
              <a:t>顶点数，边数</a:t>
            </a:r>
            <a:endParaRPr lang="en-US" altLang="zh-CN" sz="2000" dirty="0"/>
          </a:p>
          <a:p>
            <a:pPr eaLnBrk="1" hangingPunct="1">
              <a:buFont typeface="Wingdings" panose="05000000000000000000" pitchFamily="2" charset="2"/>
              <a:buNone/>
            </a:pPr>
            <a:endParaRPr lang="en-US" altLang="zh-CN" sz="2000" dirty="0"/>
          </a:p>
          <a:p>
            <a:pPr>
              <a:lnSpc>
                <a:spcPct val="90000"/>
              </a:lnSpc>
              <a:buNone/>
            </a:pPr>
            <a:r>
              <a:rPr lang="en-US" altLang="zh-CN" sz="2000" dirty="0"/>
              <a:t>void </a:t>
            </a:r>
            <a:r>
              <a:rPr lang="en-US" altLang="zh-CN" sz="2000" dirty="0" err="1"/>
              <a:t>addedge</a:t>
            </a:r>
            <a:r>
              <a:rPr lang="en-US" altLang="zh-CN" sz="2000" dirty="0"/>
              <a:t>(</a:t>
            </a:r>
            <a:r>
              <a:rPr lang="en-US" altLang="zh-CN" sz="2000" dirty="0" err="1"/>
              <a:t>int</a:t>
            </a:r>
            <a:r>
              <a:rPr lang="en-US" altLang="zh-CN" sz="2000" dirty="0"/>
              <a:t> u, </a:t>
            </a:r>
            <a:r>
              <a:rPr lang="en-US" altLang="zh-CN" sz="2000" dirty="0" err="1"/>
              <a:t>int</a:t>
            </a:r>
            <a:r>
              <a:rPr lang="en-US" altLang="zh-CN" sz="2000" dirty="0"/>
              <a:t> v)	 {		//</a:t>
            </a:r>
            <a:r>
              <a:rPr lang="zh-CN" altLang="en-US" sz="2000" dirty="0"/>
              <a:t>添加边的函数，无向图要加两条边</a:t>
            </a:r>
            <a:endParaRPr lang="en-US" altLang="zh-CN" sz="2000" dirty="0"/>
          </a:p>
          <a:p>
            <a:pPr>
              <a:lnSpc>
                <a:spcPct val="90000"/>
              </a:lnSpc>
              <a:buNone/>
            </a:pPr>
            <a:endParaRPr lang="en-US" altLang="zh-CN" sz="2000" dirty="0"/>
          </a:p>
          <a:p>
            <a:pPr>
              <a:lnSpc>
                <a:spcPct val="90000"/>
              </a:lnSpc>
              <a:buNone/>
            </a:pPr>
            <a:r>
              <a:rPr lang="en-US" altLang="zh-CN" sz="2000" dirty="0"/>
              <a:t>	node *p = ++</a:t>
            </a:r>
            <a:r>
              <a:rPr lang="en-US" altLang="zh-CN" sz="2000" dirty="0" err="1"/>
              <a:t>ecnt</a:t>
            </a:r>
            <a:r>
              <a:rPr lang="en-US" altLang="zh-CN" sz="2000" dirty="0"/>
              <a:t>;			       //</a:t>
            </a:r>
            <a:r>
              <a:rPr lang="zh-CN" altLang="en-US" sz="2000" dirty="0"/>
              <a:t>边</a:t>
            </a:r>
            <a:r>
              <a:rPr lang="en-US" altLang="zh-CN" sz="2000" dirty="0"/>
              <a:t>u-&gt;v</a:t>
            </a:r>
            <a:endParaRPr lang="en-US" altLang="zh-CN" sz="2000" dirty="0"/>
          </a:p>
          <a:p>
            <a:pPr>
              <a:lnSpc>
                <a:spcPct val="90000"/>
              </a:lnSpc>
              <a:buNone/>
            </a:pPr>
            <a:r>
              <a:rPr lang="en-US" altLang="zh-CN" sz="2000" dirty="0"/>
              <a:t>	p-&gt;v = v;	p-&gt;next = </a:t>
            </a:r>
            <a:r>
              <a:rPr lang="en-US" altLang="zh-CN" sz="2000" dirty="0" err="1"/>
              <a:t>adj</a:t>
            </a:r>
            <a:r>
              <a:rPr lang="en-US" altLang="zh-CN" sz="2000" dirty="0"/>
              <a:t>[u];      </a:t>
            </a:r>
            <a:r>
              <a:rPr lang="en-US" altLang="zh-CN" sz="2000" dirty="0" err="1"/>
              <a:t>adj</a:t>
            </a:r>
            <a:r>
              <a:rPr lang="en-US" altLang="zh-CN" sz="2000" dirty="0"/>
              <a:t>[u] = p;</a:t>
            </a:r>
            <a:endParaRPr lang="en-US" altLang="zh-CN" sz="2000" dirty="0"/>
          </a:p>
          <a:p>
            <a:pPr>
              <a:lnSpc>
                <a:spcPct val="90000"/>
              </a:lnSpc>
              <a:buNone/>
            </a:pPr>
            <a:r>
              <a:rPr lang="en-US" altLang="zh-CN" sz="2000" dirty="0"/>
              <a:t>	p = ++</a:t>
            </a:r>
            <a:r>
              <a:rPr lang="en-US" altLang="zh-CN" sz="2000" dirty="0" err="1"/>
              <a:t>ecnt</a:t>
            </a:r>
            <a:r>
              <a:rPr lang="en-US" altLang="zh-CN" sz="2000" dirty="0"/>
              <a:t>;				              //</a:t>
            </a:r>
            <a:r>
              <a:rPr lang="zh-CN" altLang="en-US" sz="2000" dirty="0"/>
              <a:t>边</a:t>
            </a:r>
            <a:r>
              <a:rPr lang="en-US" altLang="zh-CN" sz="2000" dirty="0"/>
              <a:t>v-&gt;u</a:t>
            </a:r>
            <a:endParaRPr lang="en-US" altLang="zh-CN" sz="2000" dirty="0"/>
          </a:p>
          <a:p>
            <a:pPr>
              <a:lnSpc>
                <a:spcPct val="90000"/>
              </a:lnSpc>
              <a:buNone/>
            </a:pPr>
            <a:r>
              <a:rPr lang="en-US" altLang="zh-CN" sz="2000" dirty="0"/>
              <a:t>	p-&gt;v = u;	p-&gt;next = </a:t>
            </a:r>
            <a:r>
              <a:rPr lang="en-US" altLang="zh-CN" sz="2000" dirty="0" err="1"/>
              <a:t>adj</a:t>
            </a:r>
            <a:r>
              <a:rPr lang="en-US" altLang="zh-CN" sz="2000" dirty="0"/>
              <a:t>[v];       </a:t>
            </a:r>
            <a:r>
              <a:rPr lang="en-US" altLang="zh-CN" sz="2000" dirty="0" err="1"/>
              <a:t>adj</a:t>
            </a:r>
            <a:r>
              <a:rPr lang="en-US" altLang="zh-CN" sz="2000" dirty="0"/>
              <a:t>[v] = p;</a:t>
            </a:r>
            <a:endParaRPr lang="en-US" altLang="zh-CN" sz="2000" dirty="0"/>
          </a:p>
          <a:p>
            <a:pPr eaLnBrk="1" hangingPunct="1">
              <a:buFont typeface="Wingdings" panose="05000000000000000000" pitchFamily="2" charset="2"/>
              <a:buNone/>
            </a:pPr>
            <a:r>
              <a:rPr lang="en-US" altLang="zh-CN" sz="2000" dirty="0"/>
              <a:t>}</a:t>
            </a:r>
            <a:endParaRPr lang="en-US" altLang="zh-CN" sz="2000" dirty="0"/>
          </a:p>
          <a:p>
            <a:pPr eaLnBrk="1" hangingPunct="1">
              <a:buFont typeface="Wingdings" panose="05000000000000000000" pitchFamily="2" charset="2"/>
              <a:buNone/>
            </a:pPr>
            <a:endParaRPr lang="zh-CN" altLang="en-US" sz="2000"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noChangeArrowheads="1"/>
          </p:cNvSpPr>
          <p:nvPr>
            <p:ph type="title" idx="4294967295"/>
          </p:nvPr>
        </p:nvSpPr>
        <p:spPr>
          <a:xfrm>
            <a:off x="689317" y="274638"/>
            <a:ext cx="8759483" cy="582612"/>
          </a:xfrm>
        </p:spPr>
        <p:txBody>
          <a:bodyPr>
            <a:normAutofit fontScale="90000"/>
          </a:bodyPr>
          <a:lstStyle/>
          <a:p>
            <a:pPr eaLnBrk="1" hangingPunct="1"/>
            <a:r>
              <a:rPr lang="zh-CN" altLang="en-US" dirty="0"/>
              <a:t>读入数据，构造邻接表</a:t>
            </a:r>
            <a:endParaRPr lang="zh-CN" altLang="en-US" dirty="0"/>
          </a:p>
        </p:txBody>
      </p:sp>
      <p:sp>
        <p:nvSpPr>
          <p:cNvPr id="52227" name="内容占位符 2"/>
          <p:cNvSpPr>
            <a:spLocks noGrp="1" noChangeArrowheads="1"/>
          </p:cNvSpPr>
          <p:nvPr>
            <p:ph sz="quarter" idx="4294967295"/>
          </p:nvPr>
        </p:nvSpPr>
        <p:spPr>
          <a:xfrm>
            <a:off x="689317" y="928688"/>
            <a:ext cx="9978683" cy="5929312"/>
          </a:xfrm>
        </p:spPr>
        <p:txBody>
          <a:bodyPr>
            <a:normAutofit/>
          </a:bodyPr>
          <a:lstStyle/>
          <a:p>
            <a:pPr eaLnBrk="1" hangingPunct="1">
              <a:lnSpc>
                <a:spcPct val="90000"/>
              </a:lnSpc>
              <a:buFont typeface="Wingdings" panose="05000000000000000000" pitchFamily="2" charset="2"/>
              <a:buNone/>
            </a:pPr>
            <a:r>
              <a:rPr lang="en-US" altLang="zh-CN" sz="2000" dirty="0"/>
              <a:t>void </a:t>
            </a:r>
            <a:r>
              <a:rPr lang="en-US" altLang="zh-CN" sz="2000" dirty="0" err="1"/>
              <a:t>init</a:t>
            </a:r>
            <a:r>
              <a:rPr lang="en-US" altLang="zh-CN" sz="2000" dirty="0"/>
              <a:t>()  {</a:t>
            </a:r>
            <a:endParaRPr lang="en-US" altLang="zh-CN" sz="2000" dirty="0"/>
          </a:p>
          <a:p>
            <a:pPr eaLnBrk="1" hangingPunct="1">
              <a:lnSpc>
                <a:spcPct val="90000"/>
              </a:lnSpc>
              <a:buFont typeface="Wingdings" panose="05000000000000000000" pitchFamily="2" charset="2"/>
              <a:buNone/>
            </a:pPr>
            <a:r>
              <a:rPr lang="en-US" altLang="zh-CN" sz="2000" dirty="0"/>
              <a:t>	</a:t>
            </a:r>
            <a:r>
              <a:rPr lang="en-US" altLang="zh-CN" sz="2000" dirty="0" err="1"/>
              <a:t>scanf</a:t>
            </a:r>
            <a:r>
              <a:rPr lang="en-US" altLang="zh-CN" sz="2000" dirty="0"/>
              <a:t>("%</a:t>
            </a:r>
            <a:r>
              <a:rPr lang="en-US" altLang="zh-CN" sz="2000" dirty="0" err="1"/>
              <a:t>d%d</a:t>
            </a:r>
            <a:r>
              <a:rPr lang="en-US" altLang="zh-CN" sz="2000" dirty="0"/>
              <a:t>", &amp;n, &amp;m);</a:t>
            </a:r>
            <a:endParaRPr lang="en-US" altLang="zh-CN" sz="2000" dirty="0"/>
          </a:p>
          <a:p>
            <a:pPr eaLnBrk="1" hangingPunct="1">
              <a:lnSpc>
                <a:spcPct val="90000"/>
              </a:lnSpc>
              <a:buFont typeface="Wingdings" panose="05000000000000000000" pitchFamily="2" charset="2"/>
              <a:buNone/>
            </a:pPr>
            <a:r>
              <a:rPr lang="en-US" altLang="zh-CN" sz="2000" dirty="0"/>
              <a:t>	</a:t>
            </a:r>
            <a:r>
              <a:rPr lang="en-US" altLang="zh-CN" sz="2000" dirty="0" err="1"/>
              <a:t>int</a:t>
            </a:r>
            <a:r>
              <a:rPr lang="en-US" altLang="zh-CN" sz="2000" dirty="0"/>
              <a:t> x, y;</a:t>
            </a:r>
            <a:endParaRPr lang="en-US" altLang="zh-CN" sz="2000" dirty="0"/>
          </a:p>
          <a:p>
            <a:pPr eaLnBrk="1" hangingPunct="1">
              <a:lnSpc>
                <a:spcPct val="90000"/>
              </a:lnSpc>
              <a:buFont typeface="Wingdings" panose="05000000000000000000" pitchFamily="2" charset="2"/>
              <a:buNone/>
            </a:pPr>
            <a:r>
              <a:rPr lang="en-US" altLang="zh-CN" sz="2000" dirty="0"/>
              <a:t>	for(</a:t>
            </a:r>
            <a:r>
              <a:rPr lang="en-US" altLang="zh-CN" sz="2000" dirty="0" err="1"/>
              <a:t>int</a:t>
            </a:r>
            <a:r>
              <a:rPr lang="en-US" altLang="zh-CN" sz="2000" dirty="0"/>
              <a:t> </a:t>
            </a:r>
            <a:r>
              <a:rPr lang="en-US" altLang="zh-CN" sz="2000" dirty="0" err="1"/>
              <a:t>i</a:t>
            </a:r>
            <a:r>
              <a:rPr lang="en-US" altLang="zh-CN" sz="2000" dirty="0"/>
              <a:t>=1; </a:t>
            </a:r>
            <a:r>
              <a:rPr lang="en-US" altLang="zh-CN" sz="2000" dirty="0" err="1"/>
              <a:t>i</a:t>
            </a:r>
            <a:r>
              <a:rPr lang="en-US" altLang="zh-CN" sz="2000" dirty="0"/>
              <a:t>&lt;=m; </a:t>
            </a:r>
            <a:r>
              <a:rPr lang="en-US" altLang="zh-CN" sz="2000" dirty="0" err="1"/>
              <a:t>i</a:t>
            </a:r>
            <a:r>
              <a:rPr lang="en-US" altLang="zh-CN" sz="2000" dirty="0"/>
              <a:t>++)	{</a:t>
            </a:r>
            <a:endParaRPr lang="en-US" altLang="zh-CN" sz="2000" dirty="0"/>
          </a:p>
          <a:p>
            <a:pPr eaLnBrk="1" hangingPunct="1">
              <a:lnSpc>
                <a:spcPct val="90000"/>
              </a:lnSpc>
              <a:buFont typeface="Wingdings" panose="05000000000000000000" pitchFamily="2" charset="2"/>
              <a:buNone/>
            </a:pPr>
            <a:r>
              <a:rPr lang="en-US" altLang="zh-CN" sz="2000" dirty="0"/>
              <a:t>		  </a:t>
            </a:r>
            <a:r>
              <a:rPr lang="en-US" altLang="zh-CN" sz="2000" dirty="0" err="1"/>
              <a:t>scanf</a:t>
            </a:r>
            <a:r>
              <a:rPr lang="en-US" altLang="zh-CN" sz="2000" dirty="0"/>
              <a:t>("%</a:t>
            </a:r>
            <a:r>
              <a:rPr lang="en-US" altLang="zh-CN" sz="2000" dirty="0" err="1"/>
              <a:t>d%d</a:t>
            </a:r>
            <a:r>
              <a:rPr lang="en-US" altLang="zh-CN" sz="2000" dirty="0"/>
              <a:t>", &amp;x, &amp;y);</a:t>
            </a:r>
            <a:endParaRPr lang="en-US" altLang="zh-CN" sz="2000" dirty="0"/>
          </a:p>
          <a:p>
            <a:pPr eaLnBrk="1" hangingPunct="1">
              <a:lnSpc>
                <a:spcPct val="90000"/>
              </a:lnSpc>
              <a:buFont typeface="Wingdings" panose="05000000000000000000" pitchFamily="2" charset="2"/>
              <a:buNone/>
            </a:pPr>
            <a:r>
              <a:rPr lang="en-US" altLang="zh-CN" sz="2000" dirty="0"/>
              <a:t>		  </a:t>
            </a:r>
            <a:r>
              <a:rPr lang="en-US" altLang="zh-CN" sz="2000" dirty="0" err="1"/>
              <a:t>addedge</a:t>
            </a:r>
            <a:r>
              <a:rPr lang="en-US" altLang="zh-CN" sz="2000" dirty="0"/>
              <a:t>(x, y);</a:t>
            </a:r>
            <a:endParaRPr lang="en-US" altLang="zh-CN" sz="2000" dirty="0"/>
          </a:p>
          <a:p>
            <a:pPr eaLnBrk="1" hangingPunct="1">
              <a:lnSpc>
                <a:spcPct val="90000"/>
              </a:lnSpc>
              <a:buFont typeface="Wingdings" panose="05000000000000000000" pitchFamily="2" charset="2"/>
              <a:buNone/>
            </a:pPr>
            <a:r>
              <a:rPr lang="en-US" altLang="zh-CN" sz="2000" dirty="0"/>
              <a:t>	}</a:t>
            </a:r>
            <a:endParaRPr lang="en-US" altLang="zh-CN" sz="2000" dirty="0"/>
          </a:p>
          <a:p>
            <a:pPr eaLnBrk="1" hangingPunct="1">
              <a:lnSpc>
                <a:spcPct val="90000"/>
              </a:lnSpc>
              <a:buFont typeface="Wingdings" panose="05000000000000000000" pitchFamily="2" charset="2"/>
              <a:buNone/>
            </a:pPr>
            <a:r>
              <a:rPr lang="en-US" altLang="zh-CN" sz="2000" dirty="0"/>
              <a:t>}</a:t>
            </a:r>
            <a:endParaRPr lang="zh-CN" altLang="en-US" sz="200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noChangeArrowheads="1"/>
          </p:cNvSpPr>
          <p:nvPr>
            <p:ph type="title" idx="4294967295"/>
          </p:nvPr>
        </p:nvSpPr>
        <p:spPr>
          <a:xfrm>
            <a:off x="1129884" y="306563"/>
            <a:ext cx="8911687" cy="1280890"/>
          </a:xfrm>
        </p:spPr>
        <p:txBody>
          <a:bodyPr/>
          <a:lstStyle/>
          <a:p>
            <a:pPr eaLnBrk="1" hangingPunct="1"/>
            <a:r>
              <a:rPr lang="zh-CN" altLang="en-US" dirty="0"/>
              <a:t>DFS实现</a:t>
            </a:r>
            <a:endParaRPr lang="zh-CN" altLang="en-US" dirty="0"/>
          </a:p>
        </p:txBody>
      </p:sp>
      <p:sp>
        <p:nvSpPr>
          <p:cNvPr id="24579" name="内容占位符 2"/>
          <p:cNvSpPr>
            <a:spLocks noGrp="1" noChangeArrowheads="1"/>
          </p:cNvSpPr>
          <p:nvPr>
            <p:ph sz="quarter" idx="4294967295"/>
          </p:nvPr>
        </p:nvSpPr>
        <p:spPr>
          <a:xfrm>
            <a:off x="858129" y="1459085"/>
            <a:ext cx="10691445" cy="4873625"/>
          </a:xfrm>
        </p:spPr>
        <p:txBody>
          <a:bodyPr>
            <a:noAutofit/>
          </a:bodyPr>
          <a:lstStyle/>
          <a:p>
            <a:pPr eaLnBrk="1" hangingPunct="1">
              <a:lnSpc>
                <a:spcPct val="80000"/>
              </a:lnSpc>
              <a:buFont typeface="Wingdings" panose="05000000000000000000" pitchFamily="2" charset="2"/>
              <a:buNone/>
            </a:pPr>
            <a:r>
              <a:rPr lang="en-US" altLang="zh-CN" sz="2000" dirty="0" err="1">
                <a:latin typeface="Courier New" panose="02070309020205020404" pitchFamily="49" charset="0"/>
              </a:rPr>
              <a:t>int</a:t>
            </a:r>
            <a:r>
              <a:rPr lang="en-US" altLang="zh-CN" sz="2000" dirty="0">
                <a:latin typeface="Courier New" panose="02070309020205020404" pitchFamily="49" charset="0"/>
              </a:rPr>
              <a:t> dfn[MAXN], low[MAXN];</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err="1">
                <a:latin typeface="Courier New" panose="02070309020205020404" pitchFamily="49" charset="0"/>
              </a:rPr>
              <a:t>int</a:t>
            </a:r>
            <a:r>
              <a:rPr lang="en-US" altLang="zh-CN" sz="2000" dirty="0">
                <a:latin typeface="Courier New" panose="02070309020205020404" pitchFamily="49" charset="0"/>
              </a:rPr>
              <a:t> </a:t>
            </a:r>
            <a:r>
              <a:rPr lang="en-US" altLang="zh-CN" sz="2000" dirty="0" err="1">
                <a:latin typeface="Courier New" panose="02070309020205020404" pitchFamily="49" charset="0"/>
              </a:rPr>
              <a:t>dcnt</a:t>
            </a:r>
            <a:r>
              <a:rPr lang="en-US" altLang="zh-CN" sz="2000" dirty="0">
                <a:latin typeface="Courier New" panose="02070309020205020404" pitchFamily="49" charset="0"/>
              </a:rPr>
              <a:t>=0;</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void </a:t>
            </a:r>
            <a:r>
              <a:rPr lang="en-US" altLang="zh-CN" sz="2000" dirty="0" err="1">
                <a:latin typeface="Courier New" panose="02070309020205020404" pitchFamily="49" charset="0"/>
              </a:rPr>
              <a:t>dfs</a:t>
            </a:r>
            <a:r>
              <a:rPr lang="en-US" altLang="zh-CN" sz="2000" dirty="0">
                <a:latin typeface="Courier New" panose="02070309020205020404" pitchFamily="49" charset="0"/>
              </a:rPr>
              <a:t>(</a:t>
            </a:r>
            <a:r>
              <a:rPr lang="en-US" altLang="zh-CN" sz="2000" dirty="0" err="1">
                <a:latin typeface="Courier New" panose="02070309020205020404" pitchFamily="49" charset="0"/>
              </a:rPr>
              <a:t>int</a:t>
            </a:r>
            <a:r>
              <a:rPr lang="en-US" altLang="zh-CN" sz="2000" dirty="0">
                <a:latin typeface="Courier New" panose="02070309020205020404" pitchFamily="49" charset="0"/>
              </a:rPr>
              <a:t> u, </a:t>
            </a:r>
            <a:r>
              <a:rPr lang="en-US" altLang="zh-CN" sz="2000" dirty="0" err="1">
                <a:latin typeface="Courier New" panose="02070309020205020404" pitchFamily="49" charset="0"/>
              </a:rPr>
              <a:t>int</a:t>
            </a:r>
            <a:r>
              <a:rPr lang="en-US" altLang="zh-CN" sz="2000" dirty="0">
                <a:latin typeface="Courier New" panose="02070309020205020404" pitchFamily="49" charset="0"/>
              </a:rPr>
              <a:t> </a:t>
            </a:r>
            <a:r>
              <a:rPr lang="en-US" altLang="zh-CN" sz="2000" dirty="0" err="1">
                <a:latin typeface="Courier New" panose="02070309020205020404" pitchFamily="49" charset="0"/>
              </a:rPr>
              <a:t>fa</a:t>
            </a:r>
            <a:r>
              <a:rPr lang="en-US" altLang="zh-CN" sz="2000" dirty="0" smtClean="0">
                <a:latin typeface="Courier New" panose="02070309020205020404" pitchFamily="49" charset="0"/>
              </a:rPr>
              <a:t>) {</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dfn[u] = ++ </a:t>
            </a:r>
            <a:r>
              <a:rPr lang="en-US" altLang="zh-CN" sz="2000" dirty="0" err="1">
                <a:latin typeface="Courier New" panose="02070309020205020404" pitchFamily="49" charset="0"/>
              </a:rPr>
              <a:t>dcnt</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for(edge *p = </a:t>
            </a:r>
            <a:r>
              <a:rPr lang="en-US" altLang="zh-CN" sz="2000" dirty="0" err="1">
                <a:latin typeface="Courier New" panose="02070309020205020404" pitchFamily="49" charset="0"/>
              </a:rPr>
              <a:t>adj</a:t>
            </a:r>
            <a:r>
              <a:rPr lang="en-US" altLang="zh-CN" sz="2000" dirty="0">
                <a:latin typeface="Courier New" panose="02070309020205020404" pitchFamily="49" charset="0"/>
              </a:rPr>
              <a:t>[u]; p ; p = p-&gt;next</a:t>
            </a:r>
            <a:r>
              <a:rPr lang="en-US" altLang="zh-CN" sz="2000" dirty="0" smtClean="0">
                <a:latin typeface="Courier New" panose="02070309020205020404" pitchFamily="49" charset="0"/>
              </a:rPr>
              <a:t>) {</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a:t>
            </a:r>
            <a:r>
              <a:rPr lang="en-US" altLang="zh-CN" sz="2000" dirty="0" err="1" smtClean="0">
                <a:latin typeface="Courier New" panose="02070309020205020404" pitchFamily="49" charset="0"/>
              </a:rPr>
              <a:t>int</a:t>
            </a:r>
            <a:r>
              <a:rPr lang="en-US" altLang="zh-CN" sz="2000" dirty="0" smtClean="0">
                <a:latin typeface="Courier New" panose="02070309020205020404" pitchFamily="49" charset="0"/>
              </a:rPr>
              <a:t> </a:t>
            </a:r>
            <a:r>
              <a:rPr lang="en-US" altLang="zh-CN" sz="2000" dirty="0">
                <a:latin typeface="Courier New" panose="02070309020205020404" pitchFamily="49" charset="0"/>
              </a:rPr>
              <a:t>v = p-&gt;v;</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if</a:t>
            </a:r>
            <a:r>
              <a:rPr lang="en-US" altLang="zh-CN" sz="2000" dirty="0">
                <a:latin typeface="Courier New" panose="02070309020205020404" pitchFamily="49" charset="0"/>
              </a:rPr>
              <a:t>(!</a:t>
            </a:r>
            <a:r>
              <a:rPr lang="en-US" altLang="zh-CN" sz="2000" dirty="0" err="1">
                <a:latin typeface="Courier New" panose="02070309020205020404" pitchFamily="49" charset="0"/>
              </a:rPr>
              <a:t>dfn</a:t>
            </a:r>
            <a:r>
              <a:rPr lang="en-US" altLang="zh-CN" sz="2000" dirty="0">
                <a:latin typeface="Courier New" panose="02070309020205020404" pitchFamily="49" charset="0"/>
              </a:rPr>
              <a:t>[v</a:t>
            </a:r>
            <a:r>
              <a:rPr lang="en-US" altLang="zh-CN" sz="2000" dirty="0" smtClean="0">
                <a:latin typeface="Courier New" panose="02070309020205020404" pitchFamily="49" charset="0"/>
              </a:rPr>
              <a:t>]) {</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err="1">
                <a:latin typeface="Courier New" panose="02070309020205020404" pitchFamily="49" charset="0"/>
              </a:rPr>
              <a:t>printf</a:t>
            </a:r>
            <a:r>
              <a:rPr lang="en-US" altLang="zh-CN" sz="2000" dirty="0">
                <a:latin typeface="Courier New" panose="02070309020205020404" pitchFamily="49" charset="0"/>
              </a:rPr>
              <a:t>("%</a:t>
            </a:r>
            <a:r>
              <a:rPr lang="en-US" altLang="zh-CN" sz="2000" dirty="0" err="1">
                <a:latin typeface="Courier New" panose="02070309020205020404" pitchFamily="49" charset="0"/>
              </a:rPr>
              <a:t>d,%d</a:t>
            </a:r>
            <a:r>
              <a:rPr lang="en-US" altLang="zh-CN" sz="2000" dirty="0">
                <a:latin typeface="Courier New" panose="02070309020205020404" pitchFamily="49" charset="0"/>
              </a:rPr>
              <a:t> is a tree edge.\n", </a:t>
            </a:r>
            <a:r>
              <a:rPr lang="en-US" altLang="zh-CN" sz="2000" dirty="0" err="1">
                <a:latin typeface="Courier New" panose="02070309020205020404" pitchFamily="49" charset="0"/>
              </a:rPr>
              <a:t>u,v</a:t>
            </a:r>
            <a:r>
              <a:rPr lang="en-US" altLang="zh-CN" sz="2000" dirty="0">
                <a:latin typeface="Courier New" panose="02070309020205020404" pitchFamily="49" charset="0"/>
              </a:rPr>
              <a:t>);	//u-&gt;v</a:t>
            </a:r>
            <a:r>
              <a:rPr lang="zh-CN" altLang="en-US" sz="2000" dirty="0">
                <a:latin typeface="Courier New" panose="02070309020205020404" pitchFamily="49" charset="0"/>
              </a:rPr>
              <a:t>是一条树边</a:t>
            </a:r>
            <a:endParaRPr lang="zh-CN" altLang="en-US" sz="2000" dirty="0">
              <a:latin typeface="Courier New" panose="02070309020205020404" pitchFamily="49" charset="0"/>
            </a:endParaRPr>
          </a:p>
          <a:p>
            <a:pPr eaLnBrk="1" hangingPunct="1">
              <a:lnSpc>
                <a:spcPct val="80000"/>
              </a:lnSpc>
              <a:buFont typeface="Wingdings" panose="05000000000000000000" pitchFamily="2" charset="2"/>
              <a:buNone/>
            </a:pPr>
            <a:r>
              <a:rPr lang="zh-CN" altLang="en-US" sz="2000" dirty="0">
                <a:latin typeface="Courier New" panose="02070309020205020404" pitchFamily="49" charset="0"/>
              </a:rPr>
              <a:t>			</a:t>
            </a:r>
            <a:r>
              <a:rPr lang="en-US" altLang="zh-CN" sz="2000" dirty="0" err="1">
                <a:latin typeface="Courier New" panose="02070309020205020404" pitchFamily="49" charset="0"/>
              </a:rPr>
              <a:t>dfs</a:t>
            </a:r>
            <a:r>
              <a:rPr lang="en-US" altLang="zh-CN" sz="2000" dirty="0">
                <a:latin typeface="Courier New" panose="02070309020205020404" pitchFamily="49" charset="0"/>
              </a:rPr>
              <a:t>(v, u);		</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else </a:t>
            </a:r>
            <a:r>
              <a:rPr lang="en-US" altLang="zh-CN" sz="2000" dirty="0">
                <a:latin typeface="Courier New" panose="02070309020205020404" pitchFamily="49" charset="0"/>
              </a:rPr>
              <a:t>if(v != fa &amp;&amp; dfn[v] &lt; dfn[u])</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err="1">
                <a:latin typeface="Courier New" panose="02070309020205020404" pitchFamily="49" charset="0"/>
              </a:rPr>
              <a:t>printf</a:t>
            </a:r>
            <a:r>
              <a:rPr lang="en-US" altLang="zh-CN" sz="2000" dirty="0">
                <a:latin typeface="Courier New" panose="02070309020205020404" pitchFamily="49" charset="0"/>
              </a:rPr>
              <a:t>("%</a:t>
            </a:r>
            <a:r>
              <a:rPr lang="en-US" altLang="zh-CN" sz="2000" dirty="0" err="1">
                <a:latin typeface="Courier New" panose="02070309020205020404" pitchFamily="49" charset="0"/>
              </a:rPr>
              <a:t>d,%d</a:t>
            </a:r>
            <a:r>
              <a:rPr lang="en-US" altLang="zh-CN" sz="2000" dirty="0">
                <a:latin typeface="Courier New" panose="02070309020205020404" pitchFamily="49" charset="0"/>
              </a:rPr>
              <a:t> is a back edge.\n", </a:t>
            </a:r>
            <a:r>
              <a:rPr lang="en-US" altLang="zh-CN" sz="2000" dirty="0" err="1">
                <a:latin typeface="Courier New" panose="02070309020205020404" pitchFamily="49" charset="0"/>
              </a:rPr>
              <a:t>u,v</a:t>
            </a:r>
            <a:r>
              <a:rPr lang="en-US" altLang="zh-CN" sz="2000" dirty="0">
                <a:latin typeface="Courier New" panose="02070309020205020404" pitchFamily="49" charset="0"/>
              </a:rPr>
              <a:t>);	//u-&gt;v</a:t>
            </a:r>
            <a:r>
              <a:rPr lang="zh-CN" altLang="en-US" sz="2000" dirty="0">
                <a:latin typeface="Courier New" panose="02070309020205020404" pitchFamily="49" charset="0"/>
              </a:rPr>
              <a:t>是一条反祖边</a:t>
            </a:r>
            <a:endParaRPr lang="zh-CN" altLang="en-US" sz="2000" dirty="0">
              <a:latin typeface="Courier New" panose="02070309020205020404" pitchFamily="49" charset="0"/>
            </a:endParaRPr>
          </a:p>
          <a:p>
            <a:pPr eaLnBrk="1" hangingPunct="1">
              <a:lnSpc>
                <a:spcPct val="80000"/>
              </a:lnSpc>
              <a:buFont typeface="Wingdings" panose="05000000000000000000" pitchFamily="2" charset="2"/>
              <a:buNone/>
            </a:pPr>
            <a:r>
              <a:rPr lang="zh-CN" altLang="en-US" sz="2000" dirty="0">
                <a:latin typeface="Courier New" panose="02070309020205020404" pitchFamily="49" charset="0"/>
              </a:rPr>
              <a:t>	</a:t>
            </a:r>
            <a:r>
              <a:rPr lang="en-US" altLang="zh-CN" sz="2000" dirty="0" smtClean="0">
                <a:latin typeface="Courier New" panose="02070309020205020404" pitchFamily="49" charset="0"/>
              </a:rPr>
              <a:t>}</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a:t>
            </a:r>
            <a:endParaRPr lang="zh-CN" altLang="en-US" sz="2000" dirty="0">
              <a:latin typeface="Courier New" panose="02070309020205020404" pitchFamily="49" charset="0"/>
            </a:endParaRPr>
          </a:p>
          <a:p>
            <a:pPr eaLnBrk="1" hangingPunct="1">
              <a:lnSpc>
                <a:spcPct val="80000"/>
              </a:lnSpc>
              <a:buFont typeface="Wingdings" panose="05000000000000000000" pitchFamily="2" charset="2"/>
              <a:buNone/>
            </a:pPr>
            <a:endParaRPr lang="zh-CN" altLang="en-US" sz="2000" dirty="0">
              <a:latin typeface="Courier New" panose="02070309020205020404" pitchFamily="49" charset="0"/>
              <a:cs typeface="Courier New" panose="02070309020205020404" pitchFamily="49" charset="0"/>
            </a:endParaRPr>
          </a:p>
        </p:txBody>
      </p:sp>
      <mc:AlternateContent xmlns:mc="http://schemas.openxmlformats.org/markup-compatibility/2006" xmlns:p14="http://schemas.microsoft.com/office/powerpoint/2010/main">
        <mc:Choice Requires="p14">
          <p:contentPart r:id="rId1" p14:bwMode="auto">
            <p14:nvContentPartPr>
              <p14:cNvPr id="2" name="墨迹 1"/>
              <p14:cNvContentPartPr/>
              <p14:nvPr/>
            </p14:nvContentPartPr>
            <p14:xfrm>
              <a:off x="3184526" y="2884170"/>
              <a:ext cx="80645" cy="8890"/>
            </p14:xfrm>
          </p:contentPart>
        </mc:Choice>
        <mc:Fallback xmlns="">
          <p:pic>
            <p:nvPicPr>
              <p:cNvPr id="2" name="墨迹 1"/>
            </p:nvPicPr>
            <p:blipFill>
              <a:blip r:embed="rId2"/>
            </p:blipFill>
            <p:spPr>
              <a:xfrm>
                <a:off x="3184526" y="2884170"/>
                <a:ext cx="80645" cy="8890"/>
              </a:xfrm>
              <a:prstGeom prst="rect"/>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 calcmode="lin" valueType="num">
                                      <p:cBhvr additive="base">
                                        <p:cTn id="7"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79">
                                            <p:txEl>
                                              <p:pRg st="1" end="1"/>
                                            </p:txEl>
                                          </p:spTgt>
                                        </p:tgtEl>
                                        <p:attrNameLst>
                                          <p:attrName>style.visibility</p:attrName>
                                        </p:attrNameLst>
                                      </p:cBhvr>
                                      <p:to>
                                        <p:strVal val="visible"/>
                                      </p:to>
                                    </p:set>
                                    <p:anim calcmode="lin" valueType="num">
                                      <p:cBhvr additive="base">
                                        <p:cTn id="13"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579">
                                            <p:txEl>
                                              <p:pRg st="2" end="2"/>
                                            </p:txEl>
                                          </p:spTgt>
                                        </p:tgtEl>
                                        <p:attrNameLst>
                                          <p:attrName>style.visibility</p:attrName>
                                        </p:attrNameLst>
                                      </p:cBhvr>
                                      <p:to>
                                        <p:strVal val="visible"/>
                                      </p:to>
                                    </p:set>
                                    <p:anim calcmode="lin" valueType="num">
                                      <p:cBhvr additive="base">
                                        <p:cTn id="19"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579">
                                            <p:txEl>
                                              <p:pRg st="3" end="3"/>
                                            </p:txEl>
                                          </p:spTgt>
                                        </p:tgtEl>
                                        <p:attrNameLst>
                                          <p:attrName>style.visibility</p:attrName>
                                        </p:attrNameLst>
                                      </p:cBhvr>
                                      <p:to>
                                        <p:strVal val="visible"/>
                                      </p:to>
                                    </p:set>
                                    <p:anim calcmode="lin" valueType="num">
                                      <p:cBhvr additive="base">
                                        <p:cTn id="25" dur="500" fill="hold"/>
                                        <p:tgtEl>
                                          <p:spTgt spid="2457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5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4579">
                                            <p:txEl>
                                              <p:pRg st="4" end="4"/>
                                            </p:txEl>
                                          </p:spTgt>
                                        </p:tgtEl>
                                        <p:attrNameLst>
                                          <p:attrName>style.visibility</p:attrName>
                                        </p:attrNameLst>
                                      </p:cBhvr>
                                      <p:to>
                                        <p:strVal val="visible"/>
                                      </p:to>
                                    </p:set>
                                    <p:anim calcmode="lin" valueType="num">
                                      <p:cBhvr additive="base">
                                        <p:cTn id="31" dur="5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57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4579">
                                            <p:txEl>
                                              <p:pRg st="5" end="5"/>
                                            </p:txEl>
                                          </p:spTgt>
                                        </p:tgtEl>
                                        <p:attrNameLst>
                                          <p:attrName>style.visibility</p:attrName>
                                        </p:attrNameLst>
                                      </p:cBhvr>
                                      <p:to>
                                        <p:strVal val="visible"/>
                                      </p:to>
                                    </p:set>
                                    <p:anim calcmode="lin" valueType="num">
                                      <p:cBhvr additive="base">
                                        <p:cTn id="37" dur="500" fill="hold"/>
                                        <p:tgtEl>
                                          <p:spTgt spid="2457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457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4579">
                                            <p:txEl>
                                              <p:pRg st="6" end="6"/>
                                            </p:txEl>
                                          </p:spTgt>
                                        </p:tgtEl>
                                        <p:attrNameLst>
                                          <p:attrName>style.visibility</p:attrName>
                                        </p:attrNameLst>
                                      </p:cBhvr>
                                      <p:to>
                                        <p:strVal val="visible"/>
                                      </p:to>
                                    </p:set>
                                    <p:anim calcmode="lin" valueType="num">
                                      <p:cBhvr additive="base">
                                        <p:cTn id="43" dur="500" fill="hold"/>
                                        <p:tgtEl>
                                          <p:spTgt spid="2457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457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4579">
                                            <p:txEl>
                                              <p:pRg st="7" end="7"/>
                                            </p:txEl>
                                          </p:spTgt>
                                        </p:tgtEl>
                                        <p:attrNameLst>
                                          <p:attrName>style.visibility</p:attrName>
                                        </p:attrNameLst>
                                      </p:cBhvr>
                                      <p:to>
                                        <p:strVal val="visible"/>
                                      </p:to>
                                    </p:set>
                                    <p:anim calcmode="lin" valueType="num">
                                      <p:cBhvr additive="base">
                                        <p:cTn id="49" dur="500" fill="hold"/>
                                        <p:tgtEl>
                                          <p:spTgt spid="2457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457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4579">
                                            <p:txEl>
                                              <p:pRg st="8" end="8"/>
                                            </p:txEl>
                                          </p:spTgt>
                                        </p:tgtEl>
                                        <p:attrNameLst>
                                          <p:attrName>style.visibility</p:attrName>
                                        </p:attrNameLst>
                                      </p:cBhvr>
                                      <p:to>
                                        <p:strVal val="visible"/>
                                      </p:to>
                                    </p:set>
                                    <p:anim calcmode="lin" valueType="num">
                                      <p:cBhvr additive="base">
                                        <p:cTn id="55" dur="500" fill="hold"/>
                                        <p:tgtEl>
                                          <p:spTgt spid="24579">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457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24579">
                                            <p:txEl>
                                              <p:pRg st="9" end="9"/>
                                            </p:txEl>
                                          </p:spTgt>
                                        </p:tgtEl>
                                        <p:attrNameLst>
                                          <p:attrName>style.visibility</p:attrName>
                                        </p:attrNameLst>
                                      </p:cBhvr>
                                      <p:to>
                                        <p:strVal val="visible"/>
                                      </p:to>
                                    </p:set>
                                    <p:anim calcmode="lin" valueType="num">
                                      <p:cBhvr additive="base">
                                        <p:cTn id="61" dur="500" fill="hold"/>
                                        <p:tgtEl>
                                          <p:spTgt spid="24579">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457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4579">
                                            <p:txEl>
                                              <p:pRg st="10" end="10"/>
                                            </p:txEl>
                                          </p:spTgt>
                                        </p:tgtEl>
                                        <p:attrNameLst>
                                          <p:attrName>style.visibility</p:attrName>
                                        </p:attrNameLst>
                                      </p:cBhvr>
                                      <p:to>
                                        <p:strVal val="visible"/>
                                      </p:to>
                                    </p:set>
                                    <p:anim calcmode="lin" valueType="num">
                                      <p:cBhvr additive="base">
                                        <p:cTn id="67" dur="500" fill="hold"/>
                                        <p:tgtEl>
                                          <p:spTgt spid="24579">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4579">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4579">
                                            <p:txEl>
                                              <p:pRg st="11" end="11"/>
                                            </p:txEl>
                                          </p:spTgt>
                                        </p:tgtEl>
                                        <p:attrNameLst>
                                          <p:attrName>style.visibility</p:attrName>
                                        </p:attrNameLst>
                                      </p:cBhvr>
                                      <p:to>
                                        <p:strVal val="visible"/>
                                      </p:to>
                                    </p:set>
                                    <p:anim calcmode="lin" valueType="num">
                                      <p:cBhvr additive="base">
                                        <p:cTn id="73" dur="500" fill="hold"/>
                                        <p:tgtEl>
                                          <p:spTgt spid="24579">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4579">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4579">
                                            <p:txEl>
                                              <p:pRg st="12" end="12"/>
                                            </p:txEl>
                                          </p:spTgt>
                                        </p:tgtEl>
                                        <p:attrNameLst>
                                          <p:attrName>style.visibility</p:attrName>
                                        </p:attrNameLst>
                                      </p:cBhvr>
                                      <p:to>
                                        <p:strVal val="visible"/>
                                      </p:to>
                                    </p:set>
                                    <p:anim calcmode="lin" valueType="num">
                                      <p:cBhvr additive="base">
                                        <p:cTn id="79" dur="500" fill="hold"/>
                                        <p:tgtEl>
                                          <p:spTgt spid="24579">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24579">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24579">
                                            <p:txEl>
                                              <p:pRg st="13" end="13"/>
                                            </p:txEl>
                                          </p:spTgt>
                                        </p:tgtEl>
                                        <p:attrNameLst>
                                          <p:attrName>style.visibility</p:attrName>
                                        </p:attrNameLst>
                                      </p:cBhvr>
                                      <p:to>
                                        <p:strVal val="visible"/>
                                      </p:to>
                                    </p:set>
                                    <p:anim calcmode="lin" valueType="num">
                                      <p:cBhvr additive="base">
                                        <p:cTn id="85" dur="500" fill="hold"/>
                                        <p:tgtEl>
                                          <p:spTgt spid="24579">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24579">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noChangeArrowheads="1"/>
          </p:cNvSpPr>
          <p:nvPr>
            <p:ph type="title" idx="4294967295"/>
          </p:nvPr>
        </p:nvSpPr>
        <p:spPr>
          <a:xfrm>
            <a:off x="1097280" y="624110"/>
            <a:ext cx="10407331" cy="1280890"/>
          </a:xfrm>
        </p:spPr>
        <p:txBody>
          <a:bodyPr/>
          <a:lstStyle/>
          <a:p>
            <a:pPr eaLnBrk="1" hangingPunct="1"/>
            <a:r>
              <a:rPr lang="zh-CN" altLang="en-US" dirty="0"/>
              <a:t>DFS实现-主过程</a:t>
            </a:r>
            <a:endParaRPr lang="zh-CN" altLang="en-US" dirty="0"/>
          </a:p>
        </p:txBody>
      </p:sp>
      <p:sp>
        <p:nvSpPr>
          <p:cNvPr id="25603" name="内容占位符 2"/>
          <p:cNvSpPr>
            <a:spLocks noGrp="1" noChangeArrowheads="1"/>
          </p:cNvSpPr>
          <p:nvPr>
            <p:ph sz="quarter" idx="4294967295"/>
          </p:nvPr>
        </p:nvSpPr>
        <p:spPr>
          <a:xfrm>
            <a:off x="928469" y="1600201"/>
            <a:ext cx="9310908" cy="4873625"/>
          </a:xfrm>
        </p:spPr>
        <p:txBody>
          <a:bodyPr/>
          <a:lstStyle/>
          <a:p>
            <a:pPr eaLnBrk="1" hangingPunct="1">
              <a:buFont typeface="Wingdings" panose="05000000000000000000" pitchFamily="2" charset="2"/>
              <a:buNone/>
            </a:pPr>
            <a:r>
              <a:rPr lang="en-US" altLang="nn-NO" sz="2000" dirty="0" err="1">
                <a:latin typeface="Courier New" panose="02070309020205020404" pitchFamily="49" charset="0"/>
              </a:rPr>
              <a:t>memset</a:t>
            </a:r>
            <a:r>
              <a:rPr lang="en-US" altLang="nn-NO" sz="2000" dirty="0">
                <a:latin typeface="Courier New" panose="02070309020205020404" pitchFamily="49" charset="0"/>
              </a:rPr>
              <a:t>(dfn, 0, </a:t>
            </a:r>
            <a:r>
              <a:rPr lang="en-US" altLang="nn-NO" sz="2000" dirty="0" err="1">
                <a:latin typeface="Courier New" panose="02070309020205020404" pitchFamily="49" charset="0"/>
              </a:rPr>
              <a:t>sizeof</a:t>
            </a:r>
            <a:r>
              <a:rPr lang="en-US" altLang="nn-NO" sz="2000" dirty="0">
                <a:latin typeface="Courier New" panose="02070309020205020404" pitchFamily="49" charset="0"/>
              </a:rPr>
              <a:t>(dfn));</a:t>
            </a:r>
            <a:r>
              <a:rPr lang="nn-NO" altLang="en-US" sz="2000" dirty="0">
                <a:latin typeface="Courier New" panose="02070309020205020404" pitchFamily="49" charset="0"/>
              </a:rPr>
              <a:t>	</a:t>
            </a:r>
            <a:endParaRPr lang="nn-NO" altLang="en-US" sz="2000" dirty="0">
              <a:latin typeface="Courier New" panose="02070309020205020404" pitchFamily="49" charset="0"/>
            </a:endParaRPr>
          </a:p>
          <a:p>
            <a:pPr eaLnBrk="1" hangingPunct="1">
              <a:buFont typeface="Wingdings" panose="05000000000000000000" pitchFamily="2" charset="2"/>
              <a:buNone/>
            </a:pPr>
            <a:r>
              <a:rPr lang="nn-NO" altLang="en-US" sz="2000" dirty="0">
                <a:latin typeface="Courier New" panose="02070309020205020404" pitchFamily="49" charset="0"/>
              </a:rPr>
              <a:t>for(int i=1; i&lt;=n; i++)</a:t>
            </a:r>
            <a:r>
              <a:rPr lang="en-US" altLang="nn-NO" sz="2000" dirty="0">
                <a:latin typeface="Courier New" panose="02070309020205020404" pitchFamily="49" charset="0"/>
              </a:rPr>
              <a:t>   //</a:t>
            </a:r>
            <a:r>
              <a:rPr lang="zh-CN" altLang="en-US" sz="2000" dirty="0">
                <a:latin typeface="Courier New" panose="02070309020205020404" pitchFamily="49" charset="0"/>
              </a:rPr>
              <a:t>非连通图，</a:t>
            </a:r>
            <a:r>
              <a:rPr lang="en-US" altLang="zh-CN" sz="2000" dirty="0">
                <a:latin typeface="Courier New" panose="02070309020205020404" pitchFamily="49" charset="0"/>
              </a:rPr>
              <a:t>dfn</a:t>
            </a:r>
            <a:r>
              <a:rPr lang="zh-CN" altLang="en-US" sz="2000" dirty="0">
                <a:latin typeface="Courier New" panose="02070309020205020404" pitchFamily="49" charset="0"/>
              </a:rPr>
              <a:t>也充当了</a:t>
            </a:r>
            <a:r>
              <a:rPr lang="en-US" altLang="zh-CN" sz="2000" dirty="0">
                <a:latin typeface="Courier New" panose="02070309020205020404" pitchFamily="49" charset="0"/>
              </a:rPr>
              <a:t>vis</a:t>
            </a:r>
            <a:r>
              <a:rPr lang="zh-CN" altLang="en-US" sz="2000" dirty="0">
                <a:latin typeface="Courier New" panose="02070309020205020404" pitchFamily="49" charset="0"/>
              </a:rPr>
              <a:t>数组</a:t>
            </a:r>
            <a:endParaRPr lang="nn-NO" altLang="en-US" sz="2000" dirty="0">
              <a:latin typeface="Courier New" panose="02070309020205020404" pitchFamily="49" charset="0"/>
            </a:endParaRPr>
          </a:p>
          <a:p>
            <a:pPr eaLnBrk="1" hangingPunct="1">
              <a:buFont typeface="Wingdings" panose="05000000000000000000" pitchFamily="2" charset="2"/>
              <a:buNone/>
            </a:pPr>
            <a:r>
              <a:rPr lang="nn-NO" altLang="en-US" sz="2000" dirty="0">
                <a:latin typeface="Courier New" panose="02070309020205020404" pitchFamily="49" charset="0"/>
              </a:rPr>
              <a:t>    </a:t>
            </a:r>
            <a:r>
              <a:rPr lang="en-US" altLang="nn-NO" sz="2000" dirty="0">
                <a:latin typeface="Courier New" panose="02070309020205020404" pitchFamily="49" charset="0"/>
              </a:rPr>
              <a:t>if(!dfn[</a:t>
            </a:r>
            <a:r>
              <a:rPr lang="en-US" altLang="nn-NO" sz="2000" dirty="0" err="1">
                <a:latin typeface="Courier New" panose="02070309020205020404" pitchFamily="49" charset="0"/>
              </a:rPr>
              <a:t>i</a:t>
            </a:r>
            <a:r>
              <a:rPr lang="en-US" altLang="nn-NO" sz="2000" dirty="0">
                <a:latin typeface="Courier New" panose="02070309020205020404" pitchFamily="49" charset="0"/>
              </a:rPr>
              <a:t>])</a:t>
            </a:r>
            <a:endParaRPr lang="en-US" altLang="nn-NO" sz="2000" dirty="0">
              <a:latin typeface="Courier New" panose="02070309020205020404" pitchFamily="49" charset="0"/>
            </a:endParaRPr>
          </a:p>
          <a:p>
            <a:pPr eaLnBrk="1" hangingPunct="1">
              <a:buFont typeface="Wingdings" panose="05000000000000000000" pitchFamily="2" charset="2"/>
              <a:buNone/>
            </a:pPr>
            <a:r>
              <a:rPr lang="nn-NO" altLang="en-US" sz="2000" dirty="0">
                <a:latin typeface="Courier New" panose="02070309020205020404" pitchFamily="49" charset="0"/>
              </a:rPr>
              <a:t>		</a:t>
            </a:r>
            <a:r>
              <a:rPr lang="nn-NO" altLang="en-US" sz="2000" dirty="0" smtClean="0">
                <a:latin typeface="Courier New" panose="02070309020205020404" pitchFamily="49" charset="0"/>
              </a:rPr>
              <a:t>    dfs(i</a:t>
            </a:r>
            <a:r>
              <a:rPr lang="nn-NO" altLang="en-US" sz="2000" dirty="0">
                <a:latin typeface="Courier New" panose="02070309020205020404" pitchFamily="49" charset="0"/>
              </a:rPr>
              <a:t>, 0);</a:t>
            </a:r>
            <a:endParaRPr lang="zh-CN" altLang="en-US" sz="2000" dirty="0">
              <a:latin typeface="Courier New" panose="02070309020205020404" pitchFamily="49" charset="0"/>
              <a:cs typeface="Courier New" panose="020703090202050204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603">
                                            <p:txEl>
                                              <p:pRg st="1" end="1"/>
                                            </p:txEl>
                                          </p:spTgt>
                                        </p:tgtEl>
                                        <p:attrNameLst>
                                          <p:attrName>style.visibility</p:attrName>
                                        </p:attrNameLst>
                                      </p:cBhvr>
                                      <p:to>
                                        <p:strVal val="visible"/>
                                      </p:to>
                                    </p:set>
                                    <p:anim calcmode="lin" valueType="num">
                                      <p:cBhvr additive="base">
                                        <p:cTn id="13"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5603">
                                            <p:txEl>
                                              <p:pRg st="2" end="2"/>
                                            </p:txEl>
                                          </p:spTgt>
                                        </p:tgtEl>
                                        <p:attrNameLst>
                                          <p:attrName>style.visibility</p:attrName>
                                        </p:attrNameLst>
                                      </p:cBhvr>
                                      <p:to>
                                        <p:strVal val="visible"/>
                                      </p:to>
                                    </p:set>
                                    <p:anim calcmode="lin" valueType="num">
                                      <p:cBhvr additive="base">
                                        <p:cTn id="19"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6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5603">
                                            <p:txEl>
                                              <p:pRg st="3" end="3"/>
                                            </p:txEl>
                                          </p:spTgt>
                                        </p:tgtEl>
                                        <p:attrNameLst>
                                          <p:attrName>style.visibility</p:attrName>
                                        </p:attrNameLst>
                                      </p:cBhvr>
                                      <p:to>
                                        <p:strVal val="visible"/>
                                      </p:to>
                                    </p:set>
                                    <p:anim calcmode="lin" valueType="num">
                                      <p:cBhvr additive="base">
                                        <p:cTn id="25" dur="500" fill="hold"/>
                                        <p:tgtEl>
                                          <p:spTgt spid="2560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560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idx="4294967295"/>
          </p:nvPr>
        </p:nvSpPr>
        <p:spPr>
          <a:xfrm>
            <a:off x="984738" y="511569"/>
            <a:ext cx="10519873" cy="852998"/>
          </a:xfrm>
        </p:spPr>
        <p:txBody>
          <a:bodyPr/>
          <a:lstStyle/>
          <a:p>
            <a:pPr eaLnBrk="1" hangingPunct="1"/>
            <a:r>
              <a:rPr lang="zh-CN" altLang="en-US" dirty="0"/>
              <a:t>时间分析</a:t>
            </a:r>
            <a:endParaRPr lang="zh-CN" altLang="en-US" dirty="0"/>
          </a:p>
        </p:txBody>
      </p:sp>
      <p:sp>
        <p:nvSpPr>
          <p:cNvPr id="26627" name="内容占位符 2"/>
          <p:cNvSpPr>
            <a:spLocks noGrp="1" noChangeArrowheads="1"/>
          </p:cNvSpPr>
          <p:nvPr>
            <p:ph sz="quarter" idx="4294967295"/>
          </p:nvPr>
        </p:nvSpPr>
        <p:spPr>
          <a:xfrm>
            <a:off x="731521" y="1600201"/>
            <a:ext cx="9507856" cy="4873625"/>
          </a:xfrm>
        </p:spPr>
        <p:txBody>
          <a:bodyPr>
            <a:normAutofit/>
          </a:bodyPr>
          <a:lstStyle/>
          <a:p>
            <a:pPr eaLnBrk="1" hangingPunct="1">
              <a:lnSpc>
                <a:spcPct val="140000"/>
              </a:lnSpc>
            </a:pPr>
            <a:r>
              <a:rPr lang="zh-CN" altLang="en-US" sz="2000" dirty="0"/>
              <a:t>对图</a:t>
            </a:r>
            <a:r>
              <a:rPr lang="en-US" altLang="zh-CN" sz="2000" dirty="0"/>
              <a:t>G</a:t>
            </a:r>
            <a:r>
              <a:rPr lang="zh-CN" altLang="en-US" sz="2000" dirty="0"/>
              <a:t>的每个顶点</a:t>
            </a:r>
            <a:r>
              <a:rPr lang="en-US" altLang="zh-CN" sz="2000" dirty="0"/>
              <a:t>v</a:t>
            </a:r>
            <a:r>
              <a:rPr lang="zh-CN" altLang="en-US" sz="2000" dirty="0"/>
              <a:t>，过程</a:t>
            </a:r>
            <a:r>
              <a:rPr lang="en-US" altLang="zh-CN" sz="2000" dirty="0"/>
              <a:t>DFS-VISIT</a:t>
            </a:r>
            <a:r>
              <a:rPr lang="zh-CN" altLang="en-US" sz="2000" dirty="0"/>
              <a:t>仅被调用一次。因为只有当</a:t>
            </a:r>
            <a:r>
              <a:rPr lang="en-US" altLang="zh-CN" sz="2000" dirty="0"/>
              <a:t>v</a:t>
            </a:r>
            <a:r>
              <a:rPr lang="zh-CN" altLang="en-US" sz="2000" dirty="0"/>
              <a:t>未被访问时，才调用</a:t>
            </a:r>
            <a:r>
              <a:rPr lang="en-US" altLang="zh-CN" sz="2000" dirty="0"/>
              <a:t>DFS-VISIT</a:t>
            </a:r>
            <a:r>
              <a:rPr lang="zh-CN" altLang="en-US" sz="2000" dirty="0"/>
              <a:t>。因此整个</a:t>
            </a:r>
            <a:r>
              <a:rPr lang="en-US" altLang="zh-CN" sz="2000" dirty="0"/>
              <a:t>DFS</a:t>
            </a:r>
            <a:r>
              <a:rPr lang="zh-CN" altLang="en-US" sz="2000" dirty="0"/>
              <a:t>过程，每个顶点仅被访问一次。</a:t>
            </a:r>
            <a:endParaRPr lang="zh-CN" altLang="en-US" sz="2000" dirty="0"/>
          </a:p>
          <a:p>
            <a:pPr eaLnBrk="1" hangingPunct="1">
              <a:lnSpc>
                <a:spcPct val="140000"/>
              </a:lnSpc>
            </a:pPr>
            <a:r>
              <a:rPr lang="zh-CN" altLang="en-US" sz="2000" dirty="0"/>
              <a:t>在函数</a:t>
            </a:r>
            <a:r>
              <a:rPr lang="en-US" altLang="zh-CN" sz="2000" dirty="0"/>
              <a:t>DFS</a:t>
            </a:r>
            <a:r>
              <a:rPr lang="zh-CN" altLang="en-US" sz="2000" dirty="0"/>
              <a:t>中每条边仅枚举一次。只要顶点不被重复访问，与顶点相邻的边也不会重复检查。尽管每个顶点邻接边的数量是变化的，但采用聚集分析，</a:t>
            </a:r>
            <a:r>
              <a:rPr lang="en-US" altLang="zh-CN" sz="2000" dirty="0"/>
              <a:t>DFS</a:t>
            </a:r>
            <a:r>
              <a:rPr lang="zh-CN" altLang="en-US" sz="2000" dirty="0"/>
              <a:t>访问的边的总数却是固定的：</a:t>
            </a:r>
            <a:r>
              <a:rPr lang="en-US" altLang="zh-CN" sz="2000" dirty="0"/>
              <a:t>2*E</a:t>
            </a:r>
            <a:r>
              <a:rPr lang="zh-CN" altLang="en-US" sz="2000" dirty="0"/>
              <a:t>（无向图的邻接表存储方式，每条边</a:t>
            </a:r>
            <a:r>
              <a:rPr lang="en-US" altLang="zh-CN" sz="2000" dirty="0"/>
              <a:t>(</a:t>
            </a:r>
            <a:r>
              <a:rPr lang="en-US" altLang="zh-CN" sz="2000" dirty="0" err="1"/>
              <a:t>u,v</a:t>
            </a:r>
            <a:r>
              <a:rPr lang="en-US" altLang="zh-CN" sz="2000" dirty="0"/>
              <a:t>)</a:t>
            </a:r>
            <a:r>
              <a:rPr lang="zh-CN" altLang="en-US" sz="2000" dirty="0"/>
              <a:t>被存储了两次，一次是在</a:t>
            </a:r>
            <a:r>
              <a:rPr lang="en-US" altLang="zh-CN" sz="2000" dirty="0"/>
              <a:t>u</a:t>
            </a:r>
            <a:r>
              <a:rPr lang="zh-CN" altLang="en-US" sz="2000" dirty="0"/>
              <a:t>的边表中，一次在</a:t>
            </a:r>
            <a:r>
              <a:rPr lang="en-US" altLang="zh-CN" sz="2000" dirty="0"/>
              <a:t>v</a:t>
            </a:r>
            <a:r>
              <a:rPr lang="zh-CN" altLang="en-US" sz="2000" dirty="0"/>
              <a:t>的边表中）。</a:t>
            </a:r>
            <a:endParaRPr lang="zh-CN" altLang="en-US" sz="2000" dirty="0"/>
          </a:p>
          <a:p>
            <a:pPr eaLnBrk="1" hangingPunct="1">
              <a:lnSpc>
                <a:spcPct val="140000"/>
              </a:lnSpc>
            </a:pPr>
            <a:r>
              <a:rPr lang="en-US" altLang="zh-CN" sz="2000" dirty="0"/>
              <a:t>DFS</a:t>
            </a:r>
            <a:r>
              <a:rPr lang="zh-CN" altLang="en-US" sz="2000" dirty="0"/>
              <a:t>总时间为</a:t>
            </a:r>
            <a:r>
              <a:rPr lang="en-US" altLang="zh-CN" sz="2000" dirty="0"/>
              <a:t>O(V+2E)</a:t>
            </a:r>
            <a:r>
              <a:rPr lang="zh-CN" altLang="en-US" sz="2000" dirty="0"/>
              <a:t>。</a:t>
            </a:r>
            <a:endParaRPr lang="zh-CN" altLang="en-US" sz="2000" dirty="0"/>
          </a:p>
          <a:p>
            <a:pPr eaLnBrk="1" hangingPunct="1">
              <a:lnSpc>
                <a:spcPct val="140000"/>
              </a:lnSpc>
            </a:pP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12" dur="500"/>
                                        <p:tgtEl>
                                          <p:spTgt spid="266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17" dur="500"/>
                                        <p:tgtEl>
                                          <p:spTgt spid="266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noChangeArrowheads="1"/>
          </p:cNvSpPr>
          <p:nvPr>
            <p:ph type="title" idx="4294967295"/>
          </p:nvPr>
        </p:nvSpPr>
        <p:spPr>
          <a:xfrm>
            <a:off x="1237958" y="624110"/>
            <a:ext cx="10266654" cy="1280890"/>
          </a:xfrm>
        </p:spPr>
        <p:txBody>
          <a:bodyPr/>
          <a:lstStyle/>
          <a:p>
            <a:pPr eaLnBrk="1" hangingPunct="1"/>
            <a:r>
              <a:rPr lang="zh-CN" altLang="en-US" dirty="0"/>
              <a:t>DFN的简单应用</a:t>
            </a:r>
            <a:endParaRPr lang="zh-CN" altLang="en-US" dirty="0"/>
          </a:p>
        </p:txBody>
      </p:sp>
      <p:sp>
        <p:nvSpPr>
          <p:cNvPr id="27651" name="内容占位符 2"/>
          <p:cNvSpPr>
            <a:spLocks noGrp="1" noChangeArrowheads="1"/>
          </p:cNvSpPr>
          <p:nvPr>
            <p:ph sz="quarter" idx="4294967295"/>
          </p:nvPr>
        </p:nvSpPr>
        <p:spPr>
          <a:xfrm>
            <a:off x="970671" y="1600201"/>
            <a:ext cx="10533941" cy="4873625"/>
          </a:xfrm>
        </p:spPr>
        <p:txBody>
          <a:bodyPr>
            <a:normAutofit/>
          </a:bodyPr>
          <a:lstStyle/>
          <a:p>
            <a:pPr eaLnBrk="1" hangingPunct="1">
              <a:lnSpc>
                <a:spcPct val="150000"/>
              </a:lnSpc>
            </a:pPr>
            <a:r>
              <a:rPr lang="zh-CN" altLang="en-US" sz="2000" dirty="0"/>
              <a:t>在一个有根树上，怎样以</a:t>
            </a:r>
            <a:r>
              <a:rPr lang="en-US" altLang="zh-CN" sz="2000" dirty="0"/>
              <a:t>O</a:t>
            </a:r>
            <a:r>
              <a:rPr lang="zh-CN" altLang="en-US" sz="2000" dirty="0"/>
              <a:t>（</a:t>
            </a:r>
            <a:r>
              <a:rPr lang="en-US" altLang="zh-CN" sz="2000" dirty="0"/>
              <a:t>1</a:t>
            </a:r>
            <a:r>
              <a:rPr lang="zh-CN" altLang="en-US" sz="2000" dirty="0"/>
              <a:t>）的时间判断一个</a:t>
            </a:r>
            <a:r>
              <a:rPr lang="zh-CN" altLang="en-US" sz="2000" dirty="0" smtClean="0"/>
              <a:t>结点</a:t>
            </a:r>
            <a:r>
              <a:rPr lang="en-US" altLang="zh-CN" sz="2000" dirty="0" smtClean="0"/>
              <a:t>u</a:t>
            </a:r>
            <a:r>
              <a:rPr lang="zh-CN" altLang="en-US" sz="2000" dirty="0" smtClean="0"/>
              <a:t>是否</a:t>
            </a:r>
            <a:r>
              <a:rPr lang="zh-CN" altLang="en-US" sz="2000" dirty="0"/>
              <a:t>是另一个结点</a:t>
            </a:r>
            <a:r>
              <a:rPr lang="en-US" altLang="zh-CN" sz="2000" dirty="0"/>
              <a:t>w</a:t>
            </a:r>
            <a:r>
              <a:rPr lang="zh-CN" altLang="en-US" sz="2000" dirty="0"/>
              <a:t>的祖先？</a:t>
            </a:r>
            <a:endParaRPr lang="en-US" altLang="zh-CN" sz="2000" dirty="0"/>
          </a:p>
          <a:p>
            <a:pPr eaLnBrk="1" hangingPunct="1">
              <a:lnSpc>
                <a:spcPct val="150000"/>
              </a:lnSpc>
            </a:pPr>
            <a:r>
              <a:rPr lang="zh-CN" altLang="en-US" sz="2000" dirty="0"/>
              <a:t>方法：在树上从根结点出发做一次</a:t>
            </a:r>
            <a:r>
              <a:rPr lang="en-US" altLang="zh-CN" sz="2000" dirty="0"/>
              <a:t>DFS</a:t>
            </a:r>
            <a:r>
              <a:rPr lang="zh-CN" altLang="en-US" sz="2000" dirty="0"/>
              <a:t>，记录每个结点的</a:t>
            </a:r>
            <a:r>
              <a:rPr lang="en-US" altLang="zh-CN" sz="2000" dirty="0"/>
              <a:t>DFN</a:t>
            </a:r>
            <a:r>
              <a:rPr lang="zh-CN" altLang="en-US" sz="2000" dirty="0"/>
              <a:t>值和后代的数量。设</a:t>
            </a:r>
            <a:r>
              <a:rPr lang="en-US" altLang="zh-CN" sz="2000" dirty="0"/>
              <a:t>u</a:t>
            </a:r>
            <a:r>
              <a:rPr lang="zh-CN" altLang="en-US" sz="2000" dirty="0"/>
              <a:t>有</a:t>
            </a:r>
            <a:r>
              <a:rPr lang="en-US" altLang="zh-CN" sz="2000" dirty="0"/>
              <a:t>d</a:t>
            </a:r>
            <a:r>
              <a:rPr lang="zh-CN" altLang="en-US" sz="2000" dirty="0"/>
              <a:t>个后代。如果满足</a:t>
            </a:r>
            <a:endParaRPr lang="en-US" altLang="zh-CN" sz="2000" dirty="0"/>
          </a:p>
          <a:p>
            <a:pPr eaLnBrk="1" hangingPunct="1">
              <a:lnSpc>
                <a:spcPct val="150000"/>
              </a:lnSpc>
            </a:pPr>
            <a:r>
              <a:rPr lang="en-US" altLang="zh-CN" sz="2000" dirty="0"/>
              <a:t>DFN[u] &lt; DFN[w] &lt;= DFN[u] + d </a:t>
            </a:r>
            <a:r>
              <a:rPr lang="zh-CN" altLang="en-US" sz="2000" dirty="0"/>
              <a:t>则表明</a:t>
            </a:r>
            <a:r>
              <a:rPr lang="en-US" altLang="zh-CN" sz="2000" dirty="0"/>
              <a:t>u</a:t>
            </a:r>
            <a:r>
              <a:rPr lang="zh-CN" altLang="en-US" sz="2000" dirty="0"/>
              <a:t>是</a:t>
            </a:r>
            <a:r>
              <a:rPr lang="en-US" altLang="zh-CN" sz="2000" dirty="0"/>
              <a:t>w</a:t>
            </a:r>
            <a:r>
              <a:rPr lang="zh-CN" altLang="en-US" sz="2000" dirty="0"/>
              <a:t>的祖先。</a:t>
            </a:r>
            <a:endParaRPr lang="en-US" altLang="zh-CN"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box(in)">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7651">
                                            <p:txEl>
                                              <p:pRg st="1" end="1"/>
                                            </p:txEl>
                                          </p:spTgt>
                                        </p:tgtEl>
                                        <p:attrNameLst>
                                          <p:attrName>style.visibility</p:attrName>
                                        </p:attrNameLst>
                                      </p:cBhvr>
                                      <p:to>
                                        <p:strVal val="visible"/>
                                      </p:to>
                                    </p:set>
                                    <p:animEffect transition="in" filter="box(in)">
                                      <p:cBhvr>
                                        <p:cTn id="12" dur="500"/>
                                        <p:tgtEl>
                                          <p:spTgt spid="276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Effect transition="in" filter="box(in)">
                                      <p:cBhvr>
                                        <p:cTn id="17" dur="500"/>
                                        <p:tgtEl>
                                          <p:spTgt spid="276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noChangeArrowheads="1"/>
          </p:cNvSpPr>
          <p:nvPr>
            <p:ph type="title" idx="4294967295"/>
          </p:nvPr>
        </p:nvSpPr>
        <p:spPr>
          <a:xfrm>
            <a:off x="1111348" y="624110"/>
            <a:ext cx="10393263" cy="1280890"/>
          </a:xfrm>
        </p:spPr>
        <p:txBody>
          <a:bodyPr/>
          <a:lstStyle/>
          <a:p>
            <a:r>
              <a:rPr lang="zh-CN" altLang="en-US" dirty="0"/>
              <a:t>割点</a:t>
            </a:r>
            <a:r>
              <a:rPr lang="en-US" altLang="zh-CN" dirty="0"/>
              <a:t>(articulation point or cut vertex)</a:t>
            </a:r>
            <a:endParaRPr lang="zh-CN" altLang="en-US" dirty="0"/>
          </a:p>
        </p:txBody>
      </p:sp>
      <p:sp>
        <p:nvSpPr>
          <p:cNvPr id="60419" name="内容占位符 2"/>
          <p:cNvSpPr>
            <a:spLocks noGrp="1" noChangeArrowheads="1"/>
          </p:cNvSpPr>
          <p:nvPr>
            <p:ph sz="quarter" idx="4294967295"/>
          </p:nvPr>
        </p:nvSpPr>
        <p:spPr>
          <a:xfrm>
            <a:off x="886265" y="2133600"/>
            <a:ext cx="10618347" cy="4229100"/>
          </a:xfrm>
        </p:spPr>
        <p:txBody>
          <a:bodyPr/>
          <a:lstStyle/>
          <a:p>
            <a:pPr eaLnBrk="1" hangingPunct="1"/>
            <a:r>
              <a:rPr lang="en-US" altLang="zh-CN" dirty="0">
                <a:latin typeface="Times New Roman" panose="02020603050405020304" pitchFamily="18" charset="0"/>
              </a:rPr>
              <a:t>G</a:t>
            </a:r>
            <a:r>
              <a:rPr lang="zh-CN" altLang="en-US" dirty="0">
                <a:latin typeface="Times New Roman" panose="02020603050405020304" pitchFamily="18" charset="0"/>
              </a:rPr>
              <a:t>是连通图，</a:t>
            </a:r>
            <a:r>
              <a:rPr lang="en-US" altLang="zh-CN" i="1" dirty="0" err="1">
                <a:latin typeface="Times New Roman" panose="02020603050405020304" pitchFamily="18" charset="0"/>
              </a:rPr>
              <a:t>v</a:t>
            </a:r>
            <a:r>
              <a:rPr lang="en-US" altLang="zh-CN" dirty="0" err="1">
                <a:latin typeface="Times New Roman" panose="02020603050405020304" pitchFamily="18" charset="0"/>
              </a:rPr>
              <a:t>∈V</a:t>
            </a:r>
            <a:r>
              <a:rPr lang="en-US" altLang="zh-CN" dirty="0">
                <a:latin typeface="Times New Roman" panose="02020603050405020304" pitchFamily="18" charset="0"/>
              </a:rPr>
              <a:t>(G)</a:t>
            </a:r>
            <a:r>
              <a:rPr lang="zh-CN" altLang="en-US" dirty="0">
                <a:latin typeface="Times New Roman" panose="02020603050405020304" pitchFamily="18" charset="0"/>
              </a:rPr>
              <a:t>，去掉</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zh-CN" altLang="en-US" dirty="0">
                <a:latin typeface="Times New Roman" panose="02020603050405020304" pitchFamily="18" charset="0"/>
              </a:rPr>
              <a:t>及与之关联原边后，</a:t>
            </a:r>
            <a:r>
              <a:rPr lang="en-US" altLang="zh-CN" dirty="0">
                <a:latin typeface="Times New Roman" panose="02020603050405020304" pitchFamily="18" charset="0"/>
              </a:rPr>
              <a:t>G</a:t>
            </a:r>
            <a:r>
              <a:rPr lang="zh-CN" altLang="en-US" dirty="0">
                <a:latin typeface="Times New Roman" panose="02020603050405020304" pitchFamily="18" charset="0"/>
              </a:rPr>
              <a:t>不再连通，则称</a:t>
            </a:r>
            <a:r>
              <a:rPr lang="en-US" altLang="zh-CN" i="1" dirty="0">
                <a:latin typeface="Times New Roman" panose="02020603050405020304" pitchFamily="18" charset="0"/>
              </a:rPr>
              <a:t>v</a:t>
            </a:r>
            <a:r>
              <a:rPr lang="zh-CN" altLang="en-US" dirty="0">
                <a:latin typeface="Times New Roman" panose="02020603050405020304" pitchFamily="18" charset="0"/>
              </a:rPr>
              <a:t>是</a:t>
            </a:r>
            <a:r>
              <a:rPr lang="en-US" altLang="zh-CN" dirty="0">
                <a:latin typeface="Times New Roman" panose="02020603050405020304" pitchFamily="18" charset="0"/>
              </a:rPr>
              <a:t>G</a:t>
            </a:r>
            <a:r>
              <a:rPr lang="zh-CN" altLang="en-US" dirty="0">
                <a:latin typeface="Times New Roman" panose="02020603050405020304" pitchFamily="18" charset="0"/>
              </a:rPr>
              <a:t>的一个割点。</a:t>
            </a:r>
            <a:r>
              <a:rPr lang="en-US" altLang="zh-CN" dirty="0">
                <a:latin typeface="Times New Roman" panose="02020603050405020304" pitchFamily="18" charset="0"/>
              </a:rPr>
              <a:t>Articulation point</a:t>
            </a:r>
            <a:r>
              <a:rPr lang="zh-CN" altLang="en-US" dirty="0">
                <a:latin typeface="Times New Roman" panose="02020603050405020304" pitchFamily="18" charset="0"/>
              </a:rPr>
              <a:t>是关节点的意思。</a:t>
            </a:r>
            <a:endParaRPr lang="zh-CN" altLang="en-US" dirty="0">
              <a:latin typeface="Times New Roman" panose="02020603050405020304" pitchFamily="18" charset="0"/>
            </a:endParaRPr>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r>
              <a:rPr lang="en-US" altLang="zh-CN" dirty="0"/>
              <a:t>A vertex in an undirected connected graph is an articulation point (or cut vertex) </a:t>
            </a:r>
            <a:r>
              <a:rPr lang="en-US" altLang="zh-CN" dirty="0" err="1"/>
              <a:t>iff</a:t>
            </a:r>
            <a:r>
              <a:rPr lang="en-US" altLang="zh-CN" dirty="0"/>
              <a:t> removing it (and edges through it) disconnects the graph. </a:t>
            </a:r>
            <a:endParaRPr lang="zh-CN" altLang="en-US" dirty="0"/>
          </a:p>
        </p:txBody>
      </p:sp>
      <p:sp>
        <p:nvSpPr>
          <p:cNvPr id="60420" name="Oval 5"/>
          <p:cNvSpPr>
            <a:spLocks noChangeArrowheads="1"/>
          </p:cNvSpPr>
          <p:nvPr/>
        </p:nvSpPr>
        <p:spPr bwMode="auto">
          <a:xfrm>
            <a:off x="3886200" y="31242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31749" name="Oval 6"/>
          <p:cNvSpPr>
            <a:spLocks noChangeArrowheads="1"/>
          </p:cNvSpPr>
          <p:nvPr/>
        </p:nvSpPr>
        <p:spPr bwMode="auto">
          <a:xfrm>
            <a:off x="5029200" y="4038600"/>
            <a:ext cx="381000" cy="381000"/>
          </a:xfrm>
          <a:prstGeom prst="ellipse">
            <a:avLst/>
          </a:prstGeom>
          <a:solidFill>
            <a:srgbClr val="FF0000"/>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latin typeface="Century Schoolbook" panose="02040604050505020304" pitchFamily="18" charset="0"/>
              </a:rPr>
              <a:t>v</a:t>
            </a:r>
            <a:endParaRPr lang="zh-CN" altLang="en-US">
              <a:latin typeface="Century Schoolbook" panose="02040604050505020304" pitchFamily="18" charset="0"/>
            </a:endParaRPr>
          </a:p>
        </p:txBody>
      </p:sp>
      <p:sp>
        <p:nvSpPr>
          <p:cNvPr id="60422" name="Oval 7"/>
          <p:cNvSpPr>
            <a:spLocks noChangeArrowheads="1"/>
          </p:cNvSpPr>
          <p:nvPr/>
        </p:nvSpPr>
        <p:spPr bwMode="auto">
          <a:xfrm>
            <a:off x="6019800" y="32766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60423" name="Oval 8"/>
          <p:cNvSpPr>
            <a:spLocks noChangeArrowheads="1"/>
          </p:cNvSpPr>
          <p:nvPr/>
        </p:nvSpPr>
        <p:spPr bwMode="auto">
          <a:xfrm>
            <a:off x="3810000" y="45720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60424" name="Oval 9"/>
          <p:cNvSpPr>
            <a:spLocks noChangeArrowheads="1"/>
          </p:cNvSpPr>
          <p:nvPr/>
        </p:nvSpPr>
        <p:spPr bwMode="auto">
          <a:xfrm>
            <a:off x="6400800" y="51054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60425" name="AutoShape 10"/>
          <p:cNvCxnSpPr>
            <a:cxnSpLocks noChangeShapeType="1"/>
            <a:stCxn id="60420" idx="4"/>
            <a:endCxn id="60423" idx="0"/>
          </p:cNvCxnSpPr>
          <p:nvPr/>
        </p:nvCxnSpPr>
        <p:spPr bwMode="auto">
          <a:xfrm flipH="1">
            <a:off x="4000500" y="3505200"/>
            <a:ext cx="76200" cy="1066800"/>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60426" name="AutoShape 12"/>
          <p:cNvCxnSpPr>
            <a:cxnSpLocks noChangeShapeType="1"/>
            <a:stCxn id="60420" idx="5"/>
            <a:endCxn id="31749" idx="1"/>
          </p:cNvCxnSpPr>
          <p:nvPr/>
        </p:nvCxnSpPr>
        <p:spPr bwMode="auto">
          <a:xfrm>
            <a:off x="4211639" y="3449639"/>
            <a:ext cx="873125" cy="644525"/>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60427" name="AutoShape 13"/>
          <p:cNvCxnSpPr>
            <a:cxnSpLocks noChangeShapeType="1"/>
            <a:stCxn id="31749" idx="7"/>
            <a:endCxn id="60422" idx="3"/>
          </p:cNvCxnSpPr>
          <p:nvPr/>
        </p:nvCxnSpPr>
        <p:spPr bwMode="auto">
          <a:xfrm flipV="1">
            <a:off x="5354639" y="3602039"/>
            <a:ext cx="720725" cy="492125"/>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60428" name="AutoShape 14"/>
          <p:cNvCxnSpPr>
            <a:cxnSpLocks noChangeShapeType="1"/>
            <a:stCxn id="60422" idx="4"/>
            <a:endCxn id="60424" idx="0"/>
          </p:cNvCxnSpPr>
          <p:nvPr/>
        </p:nvCxnSpPr>
        <p:spPr bwMode="auto">
          <a:xfrm>
            <a:off x="6210300" y="3657600"/>
            <a:ext cx="381000" cy="1447800"/>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60429" name="AutoShape 15"/>
          <p:cNvCxnSpPr>
            <a:cxnSpLocks noChangeShapeType="1"/>
            <a:stCxn id="31749" idx="5"/>
            <a:endCxn id="60424" idx="1"/>
          </p:cNvCxnSpPr>
          <p:nvPr/>
        </p:nvCxnSpPr>
        <p:spPr bwMode="auto">
          <a:xfrm>
            <a:off x="5354639" y="4364039"/>
            <a:ext cx="1101725" cy="796925"/>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60430" name="AutoShape 17"/>
          <p:cNvCxnSpPr>
            <a:cxnSpLocks noChangeShapeType="1"/>
            <a:stCxn id="60423" idx="6"/>
            <a:endCxn id="31749" idx="3"/>
          </p:cNvCxnSpPr>
          <p:nvPr/>
        </p:nvCxnSpPr>
        <p:spPr bwMode="auto">
          <a:xfrm flipV="1">
            <a:off x="4191001" y="4364038"/>
            <a:ext cx="893763" cy="398462"/>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hold" grpId="0" nodeType="clickEffect">
                                  <p:stCondLst>
                                    <p:cond delay="0"/>
                                  </p:stCondLst>
                                  <p:childTnLst>
                                    <p:animClr clrSpc="rgb" dir="cw">
                                      <p:cBhvr override="childStyle">
                                        <p:cTn id="6" dur="250" autoRev="1" fill="hold"/>
                                        <p:tgtEl>
                                          <p:spTgt spid="31749"/>
                                        </p:tgtEl>
                                        <p:attrNameLst>
                                          <p:attrName>style.color</p:attrName>
                                        </p:attrNameLst>
                                      </p:cBhvr>
                                      <p:to>
                                        <a:schemeClr val="bg1"/>
                                      </p:to>
                                    </p:animClr>
                                    <p:animClr clrSpc="rgb" dir="cw">
                                      <p:cBhvr>
                                        <p:cTn id="7" dur="250" autoRev="1" fill="hold"/>
                                        <p:tgtEl>
                                          <p:spTgt spid="31749"/>
                                        </p:tgtEl>
                                        <p:attrNameLst>
                                          <p:attrName>fillcolor</p:attrName>
                                        </p:attrNameLst>
                                      </p:cBhvr>
                                      <p:to>
                                        <a:schemeClr val="bg1"/>
                                      </p:to>
                                    </p:animClr>
                                    <p:set>
                                      <p:cBhvr>
                                        <p:cTn id="8" dur="250" autoRev="1" fill="hold"/>
                                        <p:tgtEl>
                                          <p:spTgt spid="31749"/>
                                        </p:tgtEl>
                                        <p:attrNameLst>
                                          <p:attrName>fill.type</p:attrName>
                                        </p:attrNameLst>
                                      </p:cBhvr>
                                      <p:to>
                                        <p:strVal val="solid"/>
                                      </p:to>
                                    </p:set>
                                    <p:set>
                                      <p:cBhvr>
                                        <p:cTn id="9" dur="250" autoRev="1" fill="hold"/>
                                        <p:tgtEl>
                                          <p:spTgt spid="31749"/>
                                        </p:tgtEl>
                                        <p:attrNameLst>
                                          <p:attrName>fill.on</p:attrName>
                                        </p:attrNameLst>
                                      </p:cBhvr>
                                      <p:to>
                                        <p:strVal val="true"/>
                                      </p:to>
                                    </p:set>
                                  </p:childTnLst>
                                </p:cTn>
                              </p:par>
                            </p:childTnLst>
                          </p:cTn>
                        </p:par>
                        <p:par>
                          <p:cTn id="10" fill="hold">
                            <p:stCondLst>
                              <p:cond delay="500"/>
                            </p:stCondLst>
                            <p:childTnLst>
                              <p:par>
                                <p:cTn id="11" presetID="27" presetClass="emph" presetSubtype="0" fill="hold" grpId="1" nodeType="afterEffect">
                                  <p:stCondLst>
                                    <p:cond delay="0"/>
                                  </p:stCondLst>
                                  <p:childTnLst>
                                    <p:animClr clrSpc="rgb" dir="cw">
                                      <p:cBhvr override="childStyle">
                                        <p:cTn id="12" dur="250" autoRev="1" fill="hold"/>
                                        <p:tgtEl>
                                          <p:spTgt spid="31749"/>
                                        </p:tgtEl>
                                        <p:attrNameLst>
                                          <p:attrName>style.color</p:attrName>
                                        </p:attrNameLst>
                                      </p:cBhvr>
                                      <p:to>
                                        <a:schemeClr val="bg1"/>
                                      </p:to>
                                    </p:animClr>
                                    <p:animClr clrSpc="rgb" dir="cw">
                                      <p:cBhvr>
                                        <p:cTn id="13" dur="250" autoRev="1" fill="hold"/>
                                        <p:tgtEl>
                                          <p:spTgt spid="31749"/>
                                        </p:tgtEl>
                                        <p:attrNameLst>
                                          <p:attrName>fillcolor</p:attrName>
                                        </p:attrNameLst>
                                      </p:cBhvr>
                                      <p:to>
                                        <a:schemeClr val="bg1"/>
                                      </p:to>
                                    </p:animClr>
                                    <p:set>
                                      <p:cBhvr>
                                        <p:cTn id="14" dur="250" autoRev="1" fill="hold"/>
                                        <p:tgtEl>
                                          <p:spTgt spid="31749"/>
                                        </p:tgtEl>
                                        <p:attrNameLst>
                                          <p:attrName>fill.type</p:attrName>
                                        </p:attrNameLst>
                                      </p:cBhvr>
                                      <p:to>
                                        <p:strVal val="solid"/>
                                      </p:to>
                                    </p:set>
                                    <p:set>
                                      <p:cBhvr>
                                        <p:cTn id="15" dur="250" autoRev="1" fill="hold"/>
                                        <p:tgtEl>
                                          <p:spTgt spid="31749"/>
                                        </p:tgtEl>
                                        <p:attrNameLst>
                                          <p:attrName>fill.on</p:attrName>
                                        </p:attrNameLst>
                                      </p:cBhvr>
                                      <p:to>
                                        <p:strVal val="true"/>
                                      </p:to>
                                    </p:set>
                                  </p:childTnLst>
                                </p:cTn>
                              </p:par>
                            </p:childTnLst>
                          </p:cTn>
                        </p:par>
                        <p:par>
                          <p:cTn id="16" fill="hold">
                            <p:stCondLst>
                              <p:cond delay="1000"/>
                            </p:stCondLst>
                            <p:childTnLst>
                              <p:par>
                                <p:cTn id="17" presetID="27" presetClass="emph" presetSubtype="0" fill="hold" grpId="2" nodeType="afterEffect">
                                  <p:stCondLst>
                                    <p:cond delay="0"/>
                                  </p:stCondLst>
                                  <p:childTnLst>
                                    <p:animClr clrSpc="rgb" dir="cw">
                                      <p:cBhvr override="childStyle">
                                        <p:cTn id="18" dur="250" autoRev="1" fill="hold"/>
                                        <p:tgtEl>
                                          <p:spTgt spid="31749"/>
                                        </p:tgtEl>
                                        <p:attrNameLst>
                                          <p:attrName>style.color</p:attrName>
                                        </p:attrNameLst>
                                      </p:cBhvr>
                                      <p:to>
                                        <a:schemeClr val="bg1"/>
                                      </p:to>
                                    </p:animClr>
                                    <p:animClr clrSpc="rgb" dir="cw">
                                      <p:cBhvr>
                                        <p:cTn id="19" dur="250" autoRev="1" fill="hold"/>
                                        <p:tgtEl>
                                          <p:spTgt spid="31749"/>
                                        </p:tgtEl>
                                        <p:attrNameLst>
                                          <p:attrName>fillcolor</p:attrName>
                                        </p:attrNameLst>
                                      </p:cBhvr>
                                      <p:to>
                                        <a:schemeClr val="bg1"/>
                                      </p:to>
                                    </p:animClr>
                                    <p:set>
                                      <p:cBhvr>
                                        <p:cTn id="20" dur="250" autoRev="1" fill="hold"/>
                                        <p:tgtEl>
                                          <p:spTgt spid="31749"/>
                                        </p:tgtEl>
                                        <p:attrNameLst>
                                          <p:attrName>fill.type</p:attrName>
                                        </p:attrNameLst>
                                      </p:cBhvr>
                                      <p:to>
                                        <p:strVal val="solid"/>
                                      </p:to>
                                    </p:set>
                                    <p:set>
                                      <p:cBhvr>
                                        <p:cTn id="21" dur="250" autoRev="1" fill="hold"/>
                                        <p:tgtEl>
                                          <p:spTgt spid="3174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nimBg="1"/>
      <p:bldP spid="31749" grpId="1" animBg="1"/>
      <p:bldP spid="31749" grpId="2"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noChangeArrowheads="1"/>
          </p:cNvSpPr>
          <p:nvPr>
            <p:ph type="title" idx="4294967295"/>
          </p:nvPr>
        </p:nvSpPr>
        <p:spPr>
          <a:xfrm>
            <a:off x="1012874" y="624110"/>
            <a:ext cx="10491737" cy="1280890"/>
          </a:xfrm>
        </p:spPr>
        <p:txBody>
          <a:bodyPr/>
          <a:lstStyle/>
          <a:p>
            <a:pPr eaLnBrk="1" hangingPunct="1"/>
            <a:r>
              <a:rPr lang="zh-CN" altLang="en-US" dirty="0"/>
              <a:t>LOW参数</a:t>
            </a:r>
            <a:endParaRPr lang="zh-CN" altLang="en-US" dirty="0"/>
          </a:p>
        </p:txBody>
      </p:sp>
      <p:sp>
        <p:nvSpPr>
          <p:cNvPr id="61443" name="内容占位符 2"/>
          <p:cNvSpPr>
            <a:spLocks noGrp="1" noChangeArrowheads="1"/>
          </p:cNvSpPr>
          <p:nvPr>
            <p:ph sz="quarter" idx="4294967295"/>
          </p:nvPr>
        </p:nvSpPr>
        <p:spPr>
          <a:xfrm>
            <a:off x="787791" y="1600201"/>
            <a:ext cx="10716820" cy="4873625"/>
          </a:xfrm>
        </p:spPr>
        <p:txBody>
          <a:bodyPr>
            <a:normAutofit/>
          </a:bodyPr>
          <a:lstStyle/>
          <a:p>
            <a:pPr eaLnBrk="1" hangingPunct="1">
              <a:lnSpc>
                <a:spcPct val="150000"/>
              </a:lnSpc>
            </a:pPr>
            <a:r>
              <a:rPr lang="zh-CN" altLang="en-US" sz="2000" dirty="0"/>
              <a:t>我们通过</a:t>
            </a:r>
            <a:r>
              <a:rPr lang="en-US" altLang="zh-CN" sz="2000" dirty="0"/>
              <a:t>DFS</a:t>
            </a:r>
            <a:r>
              <a:rPr lang="zh-CN" altLang="en-US" sz="2000" dirty="0"/>
              <a:t>把无向图定向成有向图</a:t>
            </a:r>
            <a:r>
              <a:rPr lang="en-US" altLang="zh-CN" sz="2000" dirty="0"/>
              <a:t>(</a:t>
            </a:r>
            <a:r>
              <a:rPr lang="zh-CN" altLang="en-US" sz="2000" dirty="0"/>
              <a:t>仅由树边和返祖边构成的</a:t>
            </a:r>
            <a:r>
              <a:rPr lang="en-US" altLang="zh-CN" sz="2000" dirty="0"/>
              <a:t>DFS</a:t>
            </a:r>
            <a:r>
              <a:rPr lang="zh-CN" altLang="en-US" sz="2000" dirty="0"/>
              <a:t>树</a:t>
            </a:r>
            <a:r>
              <a:rPr lang="en-US" altLang="zh-CN" sz="2000" dirty="0"/>
              <a:t>)</a:t>
            </a:r>
            <a:r>
              <a:rPr lang="zh-CN" altLang="en-US" sz="2000" dirty="0"/>
              <a:t>，树边向下，从父结点指向子结点。反祖边向上，从后代结点指向祖先结点。</a:t>
            </a:r>
            <a:endParaRPr lang="en-US" altLang="zh-CN" sz="2000" dirty="0"/>
          </a:p>
          <a:p>
            <a:pPr eaLnBrk="1" hangingPunct="1">
              <a:lnSpc>
                <a:spcPct val="150000"/>
              </a:lnSpc>
            </a:pPr>
            <a:r>
              <a:rPr lang="zh-CN" altLang="en-US" sz="2000" dirty="0"/>
              <a:t>定义每个顶点的</a:t>
            </a:r>
            <a:r>
              <a:rPr lang="en-US" altLang="zh-CN" sz="2000" dirty="0"/>
              <a:t>low</a:t>
            </a:r>
            <a:r>
              <a:rPr lang="zh-CN" altLang="en-US" sz="2000" dirty="0"/>
              <a:t>参数，</a:t>
            </a:r>
            <a:r>
              <a:rPr lang="en-US" altLang="zh-CN" sz="2000" dirty="0"/>
              <a:t>low[u]</a:t>
            </a:r>
            <a:r>
              <a:rPr lang="zh-CN" altLang="en-US" sz="2000" dirty="0"/>
              <a:t>表示沿</a:t>
            </a:r>
            <a:r>
              <a:rPr lang="en-US" altLang="zh-CN" sz="2000" dirty="0"/>
              <a:t>u</a:t>
            </a:r>
            <a:r>
              <a:rPr lang="zh-CN" altLang="en-US" sz="2000" dirty="0"/>
              <a:t>出发的有向轨能够到达的点</a:t>
            </a:r>
            <a:r>
              <a:rPr lang="en-US" altLang="zh-CN" sz="2000" dirty="0"/>
              <a:t>v</a:t>
            </a:r>
            <a:r>
              <a:rPr lang="zh-CN" altLang="en-US" sz="2000" dirty="0"/>
              <a:t>中，</a:t>
            </a:r>
            <a:r>
              <a:rPr lang="en-US" altLang="zh-CN" sz="2000" dirty="0"/>
              <a:t>low[v]</a:t>
            </a:r>
            <a:r>
              <a:rPr lang="zh-CN" altLang="en-US" sz="2000" dirty="0"/>
              <a:t>的最小值。</a:t>
            </a:r>
            <a:r>
              <a:rPr lang="en-US" altLang="zh-CN" sz="2000" dirty="0"/>
              <a:t>(</a:t>
            </a:r>
            <a:r>
              <a:rPr lang="zh-CN" altLang="en-US" sz="2000" dirty="0"/>
              <a:t>经过返祖边后则停止</a:t>
            </a:r>
            <a:r>
              <a:rPr lang="en-US" altLang="zh-CN" sz="2000" dirty="0"/>
              <a:t>)</a:t>
            </a:r>
            <a:endParaRPr lang="en-US" altLang="zh-CN" sz="2000" dirty="0"/>
          </a:p>
          <a:p>
            <a:pPr eaLnBrk="1" hangingPunct="1">
              <a:lnSpc>
                <a:spcPct val="150000"/>
              </a:lnSpc>
            </a:pPr>
            <a:r>
              <a:rPr lang="en-US" altLang="zh-CN" sz="2000" dirty="0">
                <a:sym typeface="Wingdings" panose="05000000000000000000" pitchFamily="2" charset="2"/>
              </a:rPr>
              <a:t>low[u]</a:t>
            </a:r>
            <a:r>
              <a:rPr lang="zh-CN" altLang="en-US" sz="2000" dirty="0">
                <a:sym typeface="Wingdings" panose="05000000000000000000" pitchFamily="2" charset="2"/>
              </a:rPr>
              <a:t>定义为</a:t>
            </a:r>
            <a:r>
              <a:rPr lang="en-US" altLang="zh-CN" sz="2000" dirty="0">
                <a:sym typeface="Wingdings" panose="05000000000000000000" pitchFamily="2" charset="2"/>
              </a:rPr>
              <a:t>u</a:t>
            </a:r>
            <a:r>
              <a:rPr lang="zh-CN" altLang="en-US" sz="2000" dirty="0">
                <a:sym typeface="Wingdings" panose="05000000000000000000" pitchFamily="2" charset="2"/>
              </a:rPr>
              <a:t>或者</a:t>
            </a:r>
            <a:r>
              <a:rPr lang="en-US" altLang="zh-CN" sz="2000" dirty="0">
                <a:sym typeface="Wingdings" panose="05000000000000000000" pitchFamily="2" charset="2"/>
              </a:rPr>
              <a:t>u</a:t>
            </a:r>
            <a:r>
              <a:rPr lang="zh-CN" altLang="en-US" sz="2000" dirty="0">
                <a:sym typeface="Wingdings" panose="05000000000000000000" pitchFamily="2" charset="2"/>
              </a:rPr>
              <a:t>的子树中能够通过最多一条反向边追溯到的节点的</a:t>
            </a:r>
            <a:r>
              <a:rPr lang="en-US" altLang="zh-CN" sz="2000" dirty="0">
                <a:sym typeface="Wingdings" panose="05000000000000000000" pitchFamily="2" charset="2"/>
              </a:rPr>
              <a:t>DFS</a:t>
            </a:r>
            <a:r>
              <a:rPr lang="zh-CN" altLang="en-US" sz="2000" dirty="0">
                <a:sym typeface="Wingdings" panose="05000000000000000000" pitchFamily="2" charset="2"/>
              </a:rPr>
              <a:t>最早开始时间</a:t>
            </a:r>
            <a:endParaRPr lang="en-US" altLang="zh-CN" sz="2000" dirty="0">
              <a:sym typeface="Wingdings" panose="05000000000000000000" pitchFamily="2" charset="2"/>
            </a:endParaRPr>
          </a:p>
          <a:p>
            <a:pPr eaLnBrk="1" hangingPunct="1">
              <a:lnSpc>
                <a:spcPct val="150000"/>
              </a:lnSpc>
            </a:pPr>
            <a:endParaRPr lang="en-US" altLang="zh-CN" sz="2000" dirty="0"/>
          </a:p>
          <a:p>
            <a:pPr eaLnBrk="1" hangingPunct="1">
              <a:lnSpc>
                <a:spcPct val="150000"/>
              </a:lnSpc>
            </a:pPr>
            <a:endParaRPr lang="zh-CN" altLang="en-US" sz="2000" dirty="0"/>
          </a:p>
        </p:txBody>
      </p:sp>
      <p:grpSp>
        <p:nvGrpSpPr>
          <p:cNvPr id="32772" name="组合 49"/>
          <p:cNvGrpSpPr/>
          <p:nvPr/>
        </p:nvGrpSpPr>
        <p:grpSpPr bwMode="auto">
          <a:xfrm>
            <a:off x="6258742" y="5059010"/>
            <a:ext cx="4953000" cy="1524000"/>
            <a:chOff x="0" y="0"/>
            <a:chExt cx="4953000" cy="1524000"/>
          </a:xfrm>
        </p:grpSpPr>
        <p:sp>
          <p:nvSpPr>
            <p:cNvPr id="61462" name="Oval 4"/>
            <p:cNvSpPr>
              <a:spLocks noChangeArrowheads="1"/>
            </p:cNvSpPr>
            <p:nvPr/>
          </p:nvSpPr>
          <p:spPr bwMode="auto">
            <a:xfrm>
              <a:off x="0" y="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latin typeface="Century Schoolbook" panose="02040604050505020304" pitchFamily="18" charset="0"/>
                </a:rPr>
                <a:t>1/1</a:t>
              </a:r>
              <a:endParaRPr lang="en-US" altLang="zh-CN">
                <a:latin typeface="Century Schoolbook" panose="02040604050505020304" pitchFamily="18" charset="0"/>
              </a:endParaRPr>
            </a:p>
          </p:txBody>
        </p:sp>
        <p:sp>
          <p:nvSpPr>
            <p:cNvPr id="61463" name="Oval 5"/>
            <p:cNvSpPr>
              <a:spLocks noChangeArrowheads="1"/>
            </p:cNvSpPr>
            <p:nvPr/>
          </p:nvSpPr>
          <p:spPr bwMode="auto">
            <a:xfrm>
              <a:off x="1143000" y="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latin typeface="Century Schoolbook" panose="02040604050505020304" pitchFamily="18" charset="0"/>
                </a:rPr>
                <a:t>2/1</a:t>
              </a:r>
              <a:endParaRPr lang="en-US" altLang="zh-CN">
                <a:latin typeface="Century Schoolbook" panose="02040604050505020304" pitchFamily="18" charset="0"/>
              </a:endParaRPr>
            </a:p>
          </p:txBody>
        </p:sp>
        <p:sp>
          <p:nvSpPr>
            <p:cNvPr id="61464" name="Oval 6"/>
            <p:cNvSpPr>
              <a:spLocks noChangeArrowheads="1"/>
            </p:cNvSpPr>
            <p:nvPr/>
          </p:nvSpPr>
          <p:spPr bwMode="auto">
            <a:xfrm>
              <a:off x="2286000" y="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latin typeface="Century Schoolbook" panose="02040604050505020304" pitchFamily="18" charset="0"/>
                </a:rPr>
                <a:t>3/2</a:t>
              </a:r>
              <a:endParaRPr lang="en-US" altLang="zh-CN">
                <a:latin typeface="Century Schoolbook" panose="02040604050505020304" pitchFamily="18" charset="0"/>
              </a:endParaRPr>
            </a:p>
          </p:txBody>
        </p:sp>
        <p:sp>
          <p:nvSpPr>
            <p:cNvPr id="61465" name="Oval 7"/>
            <p:cNvSpPr>
              <a:spLocks noChangeArrowheads="1"/>
            </p:cNvSpPr>
            <p:nvPr/>
          </p:nvSpPr>
          <p:spPr bwMode="auto">
            <a:xfrm>
              <a:off x="3429000" y="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latin typeface="Century Schoolbook" panose="02040604050505020304" pitchFamily="18" charset="0"/>
                </a:rPr>
                <a:t>4/2</a:t>
              </a:r>
              <a:endParaRPr lang="en-US" altLang="zh-CN">
                <a:latin typeface="Century Schoolbook" panose="02040604050505020304" pitchFamily="18" charset="0"/>
              </a:endParaRPr>
            </a:p>
          </p:txBody>
        </p:sp>
        <p:sp>
          <p:nvSpPr>
            <p:cNvPr id="61466" name="Oval 8"/>
            <p:cNvSpPr>
              <a:spLocks noChangeArrowheads="1"/>
            </p:cNvSpPr>
            <p:nvPr/>
          </p:nvSpPr>
          <p:spPr bwMode="auto">
            <a:xfrm>
              <a:off x="4572000" y="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latin typeface="Century Schoolbook" panose="02040604050505020304" pitchFamily="18" charset="0"/>
                </a:rPr>
                <a:t>5/2</a:t>
              </a:r>
              <a:endParaRPr lang="en-US" altLang="zh-CN">
                <a:latin typeface="Century Schoolbook" panose="02040604050505020304" pitchFamily="18" charset="0"/>
              </a:endParaRPr>
            </a:p>
          </p:txBody>
        </p:sp>
        <p:sp>
          <p:nvSpPr>
            <p:cNvPr id="61467" name="Oval 9"/>
            <p:cNvSpPr>
              <a:spLocks noChangeArrowheads="1"/>
            </p:cNvSpPr>
            <p:nvPr/>
          </p:nvSpPr>
          <p:spPr bwMode="auto">
            <a:xfrm>
              <a:off x="2133600" y="11430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latin typeface="Century Schoolbook" panose="02040604050505020304" pitchFamily="18" charset="0"/>
                </a:rPr>
                <a:t>6/1</a:t>
              </a:r>
              <a:endParaRPr lang="en-US" altLang="zh-CN">
                <a:latin typeface="Century Schoolbook" panose="02040604050505020304" pitchFamily="18" charset="0"/>
              </a:endParaRPr>
            </a:p>
          </p:txBody>
        </p:sp>
        <p:sp>
          <p:nvSpPr>
            <p:cNvPr id="61468" name="Oval 10"/>
            <p:cNvSpPr>
              <a:spLocks noChangeArrowheads="1"/>
            </p:cNvSpPr>
            <p:nvPr/>
          </p:nvSpPr>
          <p:spPr bwMode="auto">
            <a:xfrm>
              <a:off x="3657600" y="11430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latin typeface="Century Schoolbook" panose="02040604050505020304" pitchFamily="18" charset="0"/>
                </a:rPr>
                <a:t>7/7</a:t>
              </a:r>
              <a:endParaRPr lang="en-US" altLang="zh-CN">
                <a:latin typeface="Century Schoolbook" panose="02040604050505020304" pitchFamily="18" charset="0"/>
              </a:endParaRPr>
            </a:p>
          </p:txBody>
        </p:sp>
        <p:cxnSp>
          <p:nvCxnSpPr>
            <p:cNvPr id="61469" name="AutoShape 12"/>
            <p:cNvCxnSpPr>
              <a:cxnSpLocks noChangeShapeType="1"/>
              <a:stCxn id="61462" idx="6"/>
              <a:endCxn id="61463" idx="2"/>
            </p:cNvCxnSpPr>
            <p:nvPr/>
          </p:nvCxnSpPr>
          <p:spPr bwMode="auto">
            <a:xfrm>
              <a:off x="381000" y="190500"/>
              <a:ext cx="762000" cy="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61470" name="AutoShape 13"/>
            <p:cNvCxnSpPr>
              <a:cxnSpLocks noChangeShapeType="1"/>
              <a:stCxn id="61463" idx="6"/>
              <a:endCxn id="61464" idx="2"/>
            </p:cNvCxnSpPr>
            <p:nvPr/>
          </p:nvCxnSpPr>
          <p:spPr bwMode="auto">
            <a:xfrm>
              <a:off x="1524000" y="190500"/>
              <a:ext cx="762000" cy="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61471" name="AutoShape 14"/>
            <p:cNvCxnSpPr>
              <a:cxnSpLocks noChangeShapeType="1"/>
              <a:stCxn id="61464" idx="6"/>
              <a:endCxn id="61465" idx="2"/>
            </p:cNvCxnSpPr>
            <p:nvPr/>
          </p:nvCxnSpPr>
          <p:spPr bwMode="auto">
            <a:xfrm>
              <a:off x="2667000" y="190500"/>
              <a:ext cx="762000" cy="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61472" name="AutoShape 15"/>
            <p:cNvCxnSpPr>
              <a:cxnSpLocks noChangeShapeType="1"/>
              <a:stCxn id="61465" idx="6"/>
              <a:endCxn id="61466" idx="2"/>
            </p:cNvCxnSpPr>
            <p:nvPr/>
          </p:nvCxnSpPr>
          <p:spPr bwMode="auto">
            <a:xfrm>
              <a:off x="3810000" y="190500"/>
              <a:ext cx="762000" cy="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61473" name="AutoShape 16"/>
            <p:cNvCxnSpPr>
              <a:cxnSpLocks noChangeShapeType="1"/>
              <a:stCxn id="61463" idx="4"/>
              <a:endCxn id="61467" idx="1"/>
            </p:cNvCxnSpPr>
            <p:nvPr/>
          </p:nvCxnSpPr>
          <p:spPr bwMode="auto">
            <a:xfrm>
              <a:off x="1333500" y="381000"/>
              <a:ext cx="855663" cy="817563"/>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61474" name="AutoShape 17"/>
            <p:cNvCxnSpPr>
              <a:cxnSpLocks noChangeShapeType="1"/>
              <a:stCxn id="61466" idx="1"/>
              <a:endCxn id="61463" idx="0"/>
            </p:cNvCxnSpPr>
            <p:nvPr/>
          </p:nvCxnSpPr>
          <p:spPr bwMode="auto">
            <a:xfrm rot="5400000" flipH="1">
              <a:off x="2952746" y="-1619250"/>
              <a:ext cx="55563" cy="3294063"/>
            </a:xfrm>
            <a:prstGeom prst="curvedConnector3">
              <a:avLst>
                <a:gd name="adj1" fmla="val 1231426"/>
              </a:avLst>
            </a:prstGeom>
            <a:noFill/>
            <a:ln w="25400">
              <a:solidFill>
                <a:srgbClr val="FF0000"/>
              </a:solidFill>
              <a:round/>
              <a:tailEnd type="arrow" w="med" len="med"/>
            </a:ln>
            <a:extLst>
              <a:ext uri="{909E8E84-426E-40DD-AFC4-6F175D3DCCD1}">
                <a14:hiddenFill xmlns:a14="http://schemas.microsoft.com/office/drawing/2010/main">
                  <a:noFill/>
                </a14:hiddenFill>
              </a:ext>
            </a:extLst>
          </p:spPr>
        </p:cxnSp>
        <p:cxnSp>
          <p:nvCxnSpPr>
            <p:cNvPr id="61475" name="AutoShape 18"/>
            <p:cNvCxnSpPr>
              <a:cxnSpLocks noChangeShapeType="1"/>
              <a:stCxn id="61465" idx="4"/>
              <a:endCxn id="61463" idx="4"/>
            </p:cNvCxnSpPr>
            <p:nvPr/>
          </p:nvCxnSpPr>
          <p:spPr bwMode="auto">
            <a:xfrm rot="5400000">
              <a:off x="2475706" y="-761206"/>
              <a:ext cx="1588" cy="2286000"/>
            </a:xfrm>
            <a:prstGeom prst="curvedConnector3">
              <a:avLst>
                <a:gd name="adj1" fmla="val 14400005"/>
              </a:avLst>
            </a:prstGeom>
            <a:noFill/>
            <a:ln w="25400">
              <a:solidFill>
                <a:srgbClr val="FF0000"/>
              </a:solidFill>
              <a:round/>
              <a:tailEnd type="arrow" w="med" len="med"/>
            </a:ln>
            <a:extLst>
              <a:ext uri="{909E8E84-426E-40DD-AFC4-6F175D3DCCD1}">
                <a14:hiddenFill xmlns:a14="http://schemas.microsoft.com/office/drawing/2010/main">
                  <a:noFill/>
                </a14:hiddenFill>
              </a:ext>
            </a:extLst>
          </p:spPr>
        </p:cxnSp>
        <p:cxnSp>
          <p:nvCxnSpPr>
            <p:cNvPr id="61476" name="AutoShape 19"/>
            <p:cNvCxnSpPr>
              <a:cxnSpLocks noChangeShapeType="1"/>
              <a:stCxn id="61467" idx="6"/>
              <a:endCxn id="61468" idx="2"/>
            </p:cNvCxnSpPr>
            <p:nvPr/>
          </p:nvCxnSpPr>
          <p:spPr bwMode="auto">
            <a:xfrm>
              <a:off x="2514600" y="1333500"/>
              <a:ext cx="1143000" cy="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61477" name="AutoShape 20"/>
            <p:cNvCxnSpPr>
              <a:cxnSpLocks noChangeShapeType="1"/>
              <a:stCxn id="61467" idx="2"/>
              <a:endCxn id="61462" idx="5"/>
            </p:cNvCxnSpPr>
            <p:nvPr/>
          </p:nvCxnSpPr>
          <p:spPr bwMode="auto">
            <a:xfrm flipH="1" flipV="1">
              <a:off x="325438" y="325438"/>
              <a:ext cx="1808162" cy="1008062"/>
            </a:xfrm>
            <a:prstGeom prst="straightConnector1">
              <a:avLst/>
            </a:prstGeom>
            <a:noFill/>
            <a:ln w="25400">
              <a:solidFill>
                <a:srgbClr val="FF0000"/>
              </a:solidFill>
              <a:round/>
              <a:tailEnd type="arrow" w="med" len="med"/>
            </a:ln>
            <a:extLst>
              <a:ext uri="{909E8E84-426E-40DD-AFC4-6F175D3DCCD1}">
                <a14:hiddenFill xmlns:a14="http://schemas.microsoft.com/office/drawing/2010/main">
                  <a:noFill/>
                </a14:hiddenFill>
              </a:ext>
            </a:extLst>
          </p:spPr>
        </p:cxnSp>
      </p:grpSp>
      <p:grpSp>
        <p:nvGrpSpPr>
          <p:cNvPr id="32789" name="组合 48"/>
          <p:cNvGrpSpPr/>
          <p:nvPr/>
        </p:nvGrpSpPr>
        <p:grpSpPr bwMode="auto">
          <a:xfrm>
            <a:off x="1843947" y="4439885"/>
            <a:ext cx="2500313" cy="2143125"/>
            <a:chOff x="0" y="0"/>
            <a:chExt cx="2500330" cy="2143140"/>
          </a:xfrm>
        </p:grpSpPr>
        <p:sp>
          <p:nvSpPr>
            <p:cNvPr id="61446" name="椭圆 19"/>
            <p:cNvSpPr>
              <a:spLocks noChangeArrowheads="1"/>
            </p:cNvSpPr>
            <p:nvPr/>
          </p:nvSpPr>
          <p:spPr bwMode="auto">
            <a:xfrm>
              <a:off x="0" y="857256"/>
              <a:ext cx="357190" cy="357191"/>
            </a:xfrm>
            <a:prstGeom prst="ellipse">
              <a:avLst/>
            </a:prstGeom>
            <a:solidFill>
              <a:schemeClr val="accent1"/>
            </a:solidFill>
            <a:ln w="25400">
              <a:solidFill>
                <a:srgbClr val="00B050"/>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solidFill>
                    <a:srgbClr val="FFFFFF"/>
                  </a:solidFill>
                  <a:latin typeface="Century Schoolbook" panose="02040604050505020304" pitchFamily="18" charset="0"/>
                </a:rPr>
                <a:t>1</a:t>
              </a:r>
              <a:endParaRPr lang="zh-CN" altLang="en-US">
                <a:solidFill>
                  <a:srgbClr val="FFFFFF"/>
                </a:solidFill>
                <a:latin typeface="Century Schoolbook" panose="02040604050505020304" pitchFamily="18" charset="0"/>
              </a:endParaRPr>
            </a:p>
          </p:txBody>
        </p:sp>
        <p:sp>
          <p:nvSpPr>
            <p:cNvPr id="61447" name="椭圆 20"/>
            <p:cNvSpPr>
              <a:spLocks noChangeArrowheads="1"/>
            </p:cNvSpPr>
            <p:nvPr/>
          </p:nvSpPr>
          <p:spPr bwMode="auto">
            <a:xfrm>
              <a:off x="1000132" y="857256"/>
              <a:ext cx="357190" cy="357191"/>
            </a:xfrm>
            <a:prstGeom prst="ellipse">
              <a:avLst/>
            </a:prstGeom>
            <a:solidFill>
              <a:schemeClr val="accent1"/>
            </a:solidFill>
            <a:ln w="25400">
              <a:solidFill>
                <a:srgbClr val="00B050"/>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solidFill>
                    <a:srgbClr val="FFFFFF"/>
                  </a:solidFill>
                  <a:latin typeface="Century Schoolbook" panose="02040604050505020304" pitchFamily="18" charset="0"/>
                </a:rPr>
                <a:t>2</a:t>
              </a:r>
              <a:endParaRPr lang="zh-CN" altLang="en-US">
                <a:solidFill>
                  <a:srgbClr val="FFFFFF"/>
                </a:solidFill>
                <a:latin typeface="Century Schoolbook" panose="02040604050505020304" pitchFamily="18" charset="0"/>
              </a:endParaRPr>
            </a:p>
          </p:txBody>
        </p:sp>
        <p:sp>
          <p:nvSpPr>
            <p:cNvPr id="61448" name="椭圆 21"/>
            <p:cNvSpPr>
              <a:spLocks noChangeArrowheads="1"/>
            </p:cNvSpPr>
            <p:nvPr/>
          </p:nvSpPr>
          <p:spPr bwMode="auto">
            <a:xfrm>
              <a:off x="642942" y="1785951"/>
              <a:ext cx="357189" cy="357189"/>
            </a:xfrm>
            <a:prstGeom prst="ellipse">
              <a:avLst/>
            </a:prstGeom>
            <a:solidFill>
              <a:schemeClr val="accent1"/>
            </a:solidFill>
            <a:ln w="25400">
              <a:solidFill>
                <a:srgbClr val="00B050"/>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solidFill>
                    <a:srgbClr val="FFFFFF"/>
                  </a:solidFill>
                  <a:latin typeface="Century Schoolbook" panose="02040604050505020304" pitchFamily="18" charset="0"/>
                </a:rPr>
                <a:t>3</a:t>
              </a:r>
              <a:endParaRPr lang="zh-CN" altLang="en-US">
                <a:solidFill>
                  <a:srgbClr val="FFFFFF"/>
                </a:solidFill>
                <a:latin typeface="Century Schoolbook" panose="02040604050505020304" pitchFamily="18" charset="0"/>
              </a:endParaRPr>
            </a:p>
          </p:txBody>
        </p:sp>
        <p:sp>
          <p:nvSpPr>
            <p:cNvPr id="61449" name="椭圆 22"/>
            <p:cNvSpPr>
              <a:spLocks noChangeArrowheads="1"/>
            </p:cNvSpPr>
            <p:nvPr/>
          </p:nvSpPr>
          <p:spPr bwMode="auto">
            <a:xfrm>
              <a:off x="1643074" y="1785951"/>
              <a:ext cx="357189" cy="357189"/>
            </a:xfrm>
            <a:prstGeom prst="ellipse">
              <a:avLst/>
            </a:prstGeom>
            <a:solidFill>
              <a:schemeClr val="accent1"/>
            </a:solidFill>
            <a:ln w="25400">
              <a:solidFill>
                <a:srgbClr val="00B050"/>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solidFill>
                    <a:srgbClr val="FFFFFF"/>
                  </a:solidFill>
                  <a:latin typeface="Century Schoolbook" panose="02040604050505020304" pitchFamily="18" charset="0"/>
                </a:rPr>
                <a:t>4</a:t>
              </a:r>
              <a:endParaRPr lang="zh-CN" altLang="en-US">
                <a:solidFill>
                  <a:srgbClr val="FFFFFF"/>
                </a:solidFill>
                <a:latin typeface="Century Schoolbook" panose="02040604050505020304" pitchFamily="18" charset="0"/>
              </a:endParaRPr>
            </a:p>
          </p:txBody>
        </p:sp>
        <p:sp>
          <p:nvSpPr>
            <p:cNvPr id="61450" name="椭圆 23"/>
            <p:cNvSpPr>
              <a:spLocks noChangeArrowheads="1"/>
            </p:cNvSpPr>
            <p:nvPr/>
          </p:nvSpPr>
          <p:spPr bwMode="auto">
            <a:xfrm>
              <a:off x="2143140" y="857256"/>
              <a:ext cx="357190" cy="357191"/>
            </a:xfrm>
            <a:prstGeom prst="ellipse">
              <a:avLst/>
            </a:prstGeom>
            <a:solidFill>
              <a:schemeClr val="accent1"/>
            </a:solidFill>
            <a:ln w="25400">
              <a:solidFill>
                <a:srgbClr val="00B050"/>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solidFill>
                    <a:srgbClr val="FFFFFF"/>
                  </a:solidFill>
                  <a:latin typeface="Century Schoolbook" panose="02040604050505020304" pitchFamily="18" charset="0"/>
                </a:rPr>
                <a:t>5</a:t>
              </a:r>
              <a:endParaRPr lang="zh-CN" altLang="en-US">
                <a:solidFill>
                  <a:srgbClr val="FFFFFF"/>
                </a:solidFill>
                <a:latin typeface="Century Schoolbook" panose="02040604050505020304" pitchFamily="18" charset="0"/>
              </a:endParaRPr>
            </a:p>
          </p:txBody>
        </p:sp>
        <p:sp>
          <p:nvSpPr>
            <p:cNvPr id="61451" name="椭圆 24"/>
            <p:cNvSpPr>
              <a:spLocks noChangeArrowheads="1"/>
            </p:cNvSpPr>
            <p:nvPr/>
          </p:nvSpPr>
          <p:spPr bwMode="auto">
            <a:xfrm>
              <a:off x="571504" y="0"/>
              <a:ext cx="357190" cy="357191"/>
            </a:xfrm>
            <a:prstGeom prst="ellipse">
              <a:avLst/>
            </a:prstGeom>
            <a:solidFill>
              <a:schemeClr val="accent1"/>
            </a:solidFill>
            <a:ln w="25400">
              <a:solidFill>
                <a:srgbClr val="00B050"/>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solidFill>
                    <a:srgbClr val="FFFFFF"/>
                  </a:solidFill>
                  <a:latin typeface="Century Schoolbook" panose="02040604050505020304" pitchFamily="18" charset="0"/>
                </a:rPr>
                <a:t>6</a:t>
              </a:r>
              <a:endParaRPr lang="zh-CN" altLang="en-US">
                <a:solidFill>
                  <a:srgbClr val="FFFFFF"/>
                </a:solidFill>
                <a:latin typeface="Century Schoolbook" panose="02040604050505020304" pitchFamily="18" charset="0"/>
              </a:endParaRPr>
            </a:p>
          </p:txBody>
        </p:sp>
        <p:sp>
          <p:nvSpPr>
            <p:cNvPr id="61452" name="椭圆 25"/>
            <p:cNvSpPr>
              <a:spLocks noChangeArrowheads="1"/>
            </p:cNvSpPr>
            <p:nvPr/>
          </p:nvSpPr>
          <p:spPr bwMode="auto">
            <a:xfrm>
              <a:off x="1500198" y="0"/>
              <a:ext cx="357189" cy="357191"/>
            </a:xfrm>
            <a:prstGeom prst="ellipse">
              <a:avLst/>
            </a:prstGeom>
            <a:solidFill>
              <a:schemeClr val="accent1"/>
            </a:solidFill>
            <a:ln w="25400">
              <a:solidFill>
                <a:srgbClr val="00B050"/>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a:solidFill>
                    <a:srgbClr val="FFFFFF"/>
                  </a:solidFill>
                  <a:latin typeface="Century Schoolbook" panose="02040604050505020304" pitchFamily="18" charset="0"/>
                </a:rPr>
                <a:t>7</a:t>
              </a:r>
              <a:endParaRPr lang="zh-CN" altLang="en-US">
                <a:solidFill>
                  <a:srgbClr val="FFFFFF"/>
                </a:solidFill>
                <a:latin typeface="Century Schoolbook" panose="02040604050505020304" pitchFamily="18" charset="0"/>
              </a:endParaRPr>
            </a:p>
          </p:txBody>
        </p:sp>
        <p:cxnSp>
          <p:nvCxnSpPr>
            <p:cNvPr id="61453" name="直接连接符 27"/>
            <p:cNvCxnSpPr>
              <a:cxnSpLocks noChangeShapeType="1"/>
              <a:stCxn id="61446" idx="6"/>
              <a:endCxn id="61447" idx="2"/>
            </p:cNvCxnSpPr>
            <p:nvPr/>
          </p:nvCxnSpPr>
          <p:spPr bwMode="auto">
            <a:xfrm>
              <a:off x="357190" y="1036645"/>
              <a:ext cx="642941" cy="1587"/>
            </a:xfrm>
            <a:prstGeom prst="line">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61454" name="直接连接符 32"/>
            <p:cNvCxnSpPr>
              <a:cxnSpLocks noChangeShapeType="1"/>
              <a:stCxn id="61447" idx="3"/>
              <a:endCxn id="61448" idx="0"/>
            </p:cNvCxnSpPr>
            <p:nvPr/>
          </p:nvCxnSpPr>
          <p:spPr bwMode="auto">
            <a:xfrm rot="5400000">
              <a:off x="625479" y="1358910"/>
              <a:ext cx="623892" cy="230190"/>
            </a:xfrm>
            <a:prstGeom prst="line">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61455" name="直接连接符 35"/>
            <p:cNvCxnSpPr>
              <a:cxnSpLocks noChangeShapeType="1"/>
              <a:stCxn id="61448" idx="6"/>
              <a:endCxn id="61449" idx="2"/>
            </p:cNvCxnSpPr>
            <p:nvPr/>
          </p:nvCxnSpPr>
          <p:spPr bwMode="auto">
            <a:xfrm>
              <a:off x="1000132" y="1965339"/>
              <a:ext cx="642942" cy="1588"/>
            </a:xfrm>
            <a:prstGeom prst="line">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61456" name="直接连接符 37"/>
            <p:cNvCxnSpPr>
              <a:cxnSpLocks noChangeShapeType="1"/>
              <a:stCxn id="61449" idx="7"/>
              <a:endCxn id="61450" idx="4"/>
            </p:cNvCxnSpPr>
            <p:nvPr/>
          </p:nvCxnSpPr>
          <p:spPr bwMode="auto">
            <a:xfrm rot="5400000" flipH="1" flipV="1">
              <a:off x="1823252" y="1339062"/>
              <a:ext cx="623891" cy="374653"/>
            </a:xfrm>
            <a:prstGeom prst="line">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61457" name="直接连接符 39"/>
            <p:cNvCxnSpPr>
              <a:cxnSpLocks noChangeShapeType="1"/>
              <a:stCxn id="61447" idx="6"/>
              <a:endCxn id="61450" idx="2"/>
            </p:cNvCxnSpPr>
            <p:nvPr/>
          </p:nvCxnSpPr>
          <p:spPr bwMode="auto">
            <a:xfrm>
              <a:off x="1357322" y="1036645"/>
              <a:ext cx="785817" cy="1587"/>
            </a:xfrm>
            <a:prstGeom prst="line">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61458" name="直接连接符 41"/>
            <p:cNvCxnSpPr>
              <a:cxnSpLocks noChangeShapeType="1"/>
              <a:stCxn id="61449" idx="1"/>
              <a:endCxn id="61447" idx="4"/>
            </p:cNvCxnSpPr>
            <p:nvPr/>
          </p:nvCxnSpPr>
          <p:spPr bwMode="auto">
            <a:xfrm rot="16200000" flipV="1">
              <a:off x="1125542" y="1268418"/>
              <a:ext cx="623891" cy="515941"/>
            </a:xfrm>
            <a:prstGeom prst="line">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61459" name="直接连接符 43"/>
            <p:cNvCxnSpPr>
              <a:cxnSpLocks noChangeShapeType="1"/>
              <a:stCxn id="61447" idx="0"/>
              <a:endCxn id="61451" idx="5"/>
            </p:cNvCxnSpPr>
            <p:nvPr/>
          </p:nvCxnSpPr>
          <p:spPr bwMode="auto">
            <a:xfrm rot="16200000" flipV="1">
              <a:off x="751683" y="429417"/>
              <a:ext cx="552454" cy="303215"/>
            </a:xfrm>
            <a:prstGeom prst="line">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61460" name="直接连接符 45"/>
            <p:cNvCxnSpPr>
              <a:cxnSpLocks noChangeShapeType="1"/>
              <a:stCxn id="61451" idx="6"/>
              <a:endCxn id="61452" idx="2"/>
            </p:cNvCxnSpPr>
            <p:nvPr/>
          </p:nvCxnSpPr>
          <p:spPr bwMode="auto">
            <a:xfrm>
              <a:off x="928694" y="179389"/>
              <a:ext cx="571504" cy="1587"/>
            </a:xfrm>
            <a:prstGeom prst="line">
              <a:avLst/>
            </a:prstGeom>
            <a:noFill/>
            <a:ln w="12700">
              <a:solidFill>
                <a:srgbClr val="000000"/>
              </a:solidFill>
              <a:round/>
            </a:ln>
            <a:extLst>
              <a:ext uri="{909E8E84-426E-40DD-AFC4-6F175D3DCCD1}">
                <a14:hiddenFill xmlns:a14="http://schemas.microsoft.com/office/drawing/2010/main">
                  <a:noFill/>
                </a14:hiddenFill>
              </a:ext>
            </a:extLst>
          </p:spPr>
        </p:cxnSp>
        <p:cxnSp>
          <p:nvCxnSpPr>
            <p:cNvPr id="61461" name="直接连接符 47"/>
            <p:cNvCxnSpPr>
              <a:cxnSpLocks noChangeShapeType="1"/>
              <a:stCxn id="61451" idx="3"/>
              <a:endCxn id="61446" idx="0"/>
            </p:cNvCxnSpPr>
            <p:nvPr/>
          </p:nvCxnSpPr>
          <p:spPr bwMode="auto">
            <a:xfrm rot="5400000">
              <a:off x="125410" y="358774"/>
              <a:ext cx="552454" cy="444503"/>
            </a:xfrm>
            <a:prstGeom prst="line">
              <a:avLst/>
            </a:prstGeom>
            <a:noFill/>
            <a:ln w="12700">
              <a:solidFill>
                <a:srgbClr val="000000"/>
              </a:solidFill>
              <a:round/>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789"/>
                                        </p:tgtEl>
                                        <p:attrNameLst>
                                          <p:attrName>style.visibility</p:attrName>
                                        </p:attrNameLst>
                                      </p:cBhvr>
                                      <p:to>
                                        <p:strVal val="visible"/>
                                      </p:to>
                                    </p:set>
                                    <p:anim calcmode="lin" valueType="num">
                                      <p:cBhvr additive="base">
                                        <p:cTn id="7" dur="500" fill="hold"/>
                                        <p:tgtEl>
                                          <p:spTgt spid="32789"/>
                                        </p:tgtEl>
                                        <p:attrNameLst>
                                          <p:attrName>ppt_x</p:attrName>
                                        </p:attrNameLst>
                                      </p:cBhvr>
                                      <p:tavLst>
                                        <p:tav tm="0">
                                          <p:val>
                                            <p:strVal val="#ppt_x"/>
                                          </p:val>
                                        </p:tav>
                                        <p:tav tm="100000">
                                          <p:val>
                                            <p:strVal val="#ppt_x"/>
                                          </p:val>
                                        </p:tav>
                                      </p:tavLst>
                                    </p:anim>
                                    <p:anim calcmode="lin" valueType="num">
                                      <p:cBhvr additive="base">
                                        <p:cTn id="8" dur="500" fill="hold"/>
                                        <p:tgtEl>
                                          <p:spTgt spid="3278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nodeType="clickEffect">
                                  <p:stCondLst>
                                    <p:cond delay="0"/>
                                  </p:stCondLst>
                                  <p:childTnLst>
                                    <p:set>
                                      <p:cBhvr>
                                        <p:cTn id="12" dur="1" fill="hold">
                                          <p:stCondLst>
                                            <p:cond delay="0"/>
                                          </p:stCondLst>
                                        </p:cTn>
                                        <p:tgtEl>
                                          <p:spTgt spid="32772"/>
                                        </p:tgtEl>
                                        <p:attrNameLst>
                                          <p:attrName>style.visibility</p:attrName>
                                        </p:attrNameLst>
                                      </p:cBhvr>
                                      <p:to>
                                        <p:strVal val="visible"/>
                                      </p:to>
                                    </p:set>
                                    <p:animEffect transition="in" filter="box(in)">
                                      <p:cBhvr>
                                        <p:cTn id="13" dur="500"/>
                                        <p:tgtEl>
                                          <p:spTgt spid="32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再一例（完全了解</a:t>
            </a:r>
            <a:r>
              <a:rPr lang="en-US" altLang="zh-CN" dirty="0"/>
              <a:t>low</a:t>
            </a:r>
            <a:r>
              <a:rPr lang="zh-CN" altLang="en-US" dirty="0"/>
              <a:t>值）</a:t>
            </a:r>
            <a:endParaRPr lang="zh-CN" altLang="en-US" dirty="0"/>
          </a:p>
        </p:txBody>
      </p:sp>
      <p:sp>
        <p:nvSpPr>
          <p:cNvPr id="3" name="内容占位符 2"/>
          <p:cNvSpPr>
            <a:spLocks noGrp="1"/>
          </p:cNvSpPr>
          <p:nvPr>
            <p:ph idx="1"/>
          </p:nvPr>
        </p:nvSpPr>
        <p:spPr>
          <a:xfrm>
            <a:off x="702365" y="1311964"/>
            <a:ext cx="6359617" cy="4976293"/>
          </a:xfrm>
        </p:spPr>
        <p:txBody>
          <a:bodyPr>
            <a:normAutofit/>
          </a:bodyPr>
          <a:lstStyle/>
          <a:p>
            <a:r>
              <a:rPr lang="zh-CN" altLang="en-US" sz="2000" dirty="0"/>
              <a:t>从结点</a:t>
            </a:r>
            <a:r>
              <a:rPr lang="en-US" altLang="zh-CN" sz="2000" dirty="0"/>
              <a:t>E</a:t>
            </a:r>
            <a:r>
              <a:rPr lang="zh-CN" altLang="en-US" sz="2000" dirty="0"/>
              <a:t>，我们可以先向下沿树边走到</a:t>
            </a:r>
            <a:r>
              <a:rPr lang="en-US" altLang="zh-CN" sz="2000" dirty="0"/>
              <a:t>G</a:t>
            </a:r>
            <a:r>
              <a:rPr lang="zh-CN" altLang="en-US" sz="2000" dirty="0"/>
              <a:t>，再沿反向边走到</a:t>
            </a:r>
            <a:r>
              <a:rPr lang="en-US" altLang="zh-CN" sz="2000" dirty="0"/>
              <a:t>C</a:t>
            </a:r>
            <a:r>
              <a:rPr lang="zh-CN" altLang="en-US" sz="2000" dirty="0"/>
              <a:t>。</a:t>
            </a:r>
            <a:endParaRPr lang="en-US" altLang="zh-CN" sz="2000" dirty="0"/>
          </a:p>
          <a:p>
            <a:r>
              <a:rPr lang="zh-CN" altLang="en-US" sz="2000" dirty="0"/>
              <a:t>也可以从</a:t>
            </a:r>
            <a:r>
              <a:rPr lang="en-US" altLang="zh-CN" sz="2000" dirty="0"/>
              <a:t>E</a:t>
            </a:r>
            <a:r>
              <a:rPr lang="zh-CN" altLang="en-US" sz="2000" dirty="0"/>
              <a:t>出发，走到</a:t>
            </a:r>
            <a:r>
              <a:rPr lang="en-US" altLang="zh-CN" sz="2000" dirty="0"/>
              <a:t>I</a:t>
            </a:r>
            <a:r>
              <a:rPr lang="zh-CN" altLang="en-US" sz="2000" dirty="0"/>
              <a:t>或者</a:t>
            </a:r>
            <a:r>
              <a:rPr lang="en-US" altLang="zh-CN" sz="2000" dirty="0"/>
              <a:t>J</a:t>
            </a:r>
            <a:r>
              <a:rPr lang="zh-CN" altLang="en-US" sz="2000" dirty="0"/>
              <a:t>，再沿反向边走到</a:t>
            </a:r>
            <a:r>
              <a:rPr lang="en-US" altLang="zh-CN" sz="2000" dirty="0"/>
              <a:t>F</a:t>
            </a:r>
            <a:endParaRPr lang="en-US" altLang="zh-CN" sz="2000" dirty="0"/>
          </a:p>
          <a:p>
            <a:r>
              <a:rPr lang="en-US" altLang="zh-CN" sz="2000" dirty="0"/>
              <a:t>Low</a:t>
            </a:r>
            <a:r>
              <a:rPr lang="zh-CN" altLang="en-US" sz="2000" dirty="0"/>
              <a:t>值告诉我们能够走回的最上层祖先的</a:t>
            </a:r>
            <a:r>
              <a:rPr lang="en-US" altLang="zh-CN" sz="2000" dirty="0"/>
              <a:t>dfn</a:t>
            </a:r>
            <a:r>
              <a:rPr lang="zh-CN" altLang="en-US" sz="2000" dirty="0"/>
              <a:t>编号。首先，结点是自己的祖先。</a:t>
            </a:r>
            <a:endParaRPr lang="en-US" altLang="zh-CN" sz="2000" dirty="0"/>
          </a:p>
          <a:p>
            <a:r>
              <a:rPr lang="zh-CN" altLang="en-US" sz="2000" dirty="0"/>
              <a:t>然后在子树内部探寻是否有某个子结点的路径能够回到祖先。如果有多条路径能够回到不同的祖先，则选择</a:t>
            </a:r>
            <a:r>
              <a:rPr lang="en-US" altLang="zh-CN" sz="2000" dirty="0"/>
              <a:t>dfn</a:t>
            </a:r>
            <a:r>
              <a:rPr lang="zh-CN" altLang="en-US" sz="2000" dirty="0"/>
              <a:t>值最小的祖先</a:t>
            </a:r>
            <a:r>
              <a:rPr lang="en-US" altLang="zh-CN" sz="2000" dirty="0"/>
              <a:t>(</a:t>
            </a:r>
            <a:r>
              <a:rPr lang="zh-CN" altLang="en-US" sz="2000" dirty="0"/>
              <a:t>辈份最高</a:t>
            </a:r>
            <a:r>
              <a:rPr lang="en-US" altLang="zh-CN" sz="2000" dirty="0"/>
              <a:t>)</a:t>
            </a:r>
            <a:r>
              <a:rPr lang="zh-CN" altLang="en-US" sz="2000" dirty="0"/>
              <a:t>。</a:t>
            </a:r>
            <a:endParaRPr lang="en-US" altLang="zh-CN" sz="2000" dirty="0"/>
          </a:p>
          <a:p>
            <a:r>
              <a:rPr lang="zh-CN" altLang="en-US" sz="2000" dirty="0"/>
              <a:t>又例如，结点</a:t>
            </a:r>
            <a:r>
              <a:rPr lang="en-US" altLang="zh-CN" sz="2000" dirty="0"/>
              <a:t>F</a:t>
            </a:r>
            <a:r>
              <a:rPr lang="zh-CN" altLang="en-US" sz="2000" dirty="0"/>
              <a:t>有多棵子树。子结点</a:t>
            </a:r>
            <a:r>
              <a:rPr lang="en-US" altLang="zh-CN" sz="2000" dirty="0"/>
              <a:t>G</a:t>
            </a:r>
            <a:r>
              <a:rPr lang="zh-CN" altLang="en-US" sz="2000" dirty="0"/>
              <a:t>能返回祖先</a:t>
            </a:r>
            <a:r>
              <a:rPr lang="en-US" altLang="zh-CN" sz="2000" dirty="0"/>
              <a:t>E</a:t>
            </a:r>
            <a:r>
              <a:rPr lang="zh-CN" altLang="en-US" sz="2000" dirty="0"/>
              <a:t>和</a:t>
            </a:r>
            <a:r>
              <a:rPr lang="en-US" altLang="zh-CN" sz="2000" dirty="0"/>
              <a:t>C</a:t>
            </a:r>
            <a:r>
              <a:rPr lang="zh-CN" altLang="en-US" sz="2000" dirty="0"/>
              <a:t>，而其它的子树只能返回</a:t>
            </a:r>
            <a:r>
              <a:rPr lang="en-US" altLang="zh-CN" sz="2000" dirty="0"/>
              <a:t>F</a:t>
            </a:r>
            <a:r>
              <a:rPr lang="zh-CN" altLang="en-US" sz="2000" dirty="0"/>
              <a:t>。最上层祖先是</a:t>
            </a:r>
            <a:r>
              <a:rPr lang="en-US" altLang="zh-CN" sz="2000" dirty="0"/>
              <a:t>C</a:t>
            </a:r>
            <a:r>
              <a:rPr lang="zh-CN" altLang="en-US" sz="2000" dirty="0"/>
              <a:t>，因此</a:t>
            </a:r>
            <a:r>
              <a:rPr lang="en-US" altLang="zh-CN" sz="2000" dirty="0"/>
              <a:t>F</a:t>
            </a:r>
            <a:r>
              <a:rPr lang="zh-CN" altLang="en-US" sz="2000" dirty="0"/>
              <a:t>的</a:t>
            </a:r>
            <a:r>
              <a:rPr lang="en-US" altLang="zh-CN" sz="2000" dirty="0"/>
              <a:t>low</a:t>
            </a:r>
            <a:r>
              <a:rPr lang="zh-CN" altLang="en-US" sz="2000" dirty="0"/>
              <a:t>值等于</a:t>
            </a:r>
            <a:r>
              <a:rPr lang="en-US" altLang="zh-CN" sz="2000" dirty="0"/>
              <a:t>dfn[c] = 3</a:t>
            </a:r>
            <a:endParaRPr lang="zh-CN" altLang="en-US" sz="2000" dirty="0"/>
          </a:p>
        </p:txBody>
      </p:sp>
      <p:pic>
        <p:nvPicPr>
          <p:cNvPr id="4" name="图片 3"/>
          <p:cNvPicPr>
            <a:picLocks noChangeAspect="1"/>
          </p:cNvPicPr>
          <p:nvPr/>
        </p:nvPicPr>
        <p:blipFill>
          <a:blip r:embed="rId1"/>
          <a:stretch>
            <a:fillRect/>
          </a:stretch>
        </p:blipFill>
        <p:spPr>
          <a:xfrm>
            <a:off x="7478358" y="1311965"/>
            <a:ext cx="4553767" cy="4865340"/>
          </a:xfrm>
          <a:prstGeom prst="rect">
            <a:avLst/>
          </a:prstGeom>
        </p:spPr>
      </p:pic>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noChangeArrowheads="1"/>
          </p:cNvSpPr>
          <p:nvPr>
            <p:ph type="title" idx="4294967295"/>
          </p:nvPr>
        </p:nvSpPr>
        <p:spPr>
          <a:xfrm>
            <a:off x="928468" y="624110"/>
            <a:ext cx="10576143" cy="740456"/>
          </a:xfrm>
        </p:spPr>
        <p:txBody>
          <a:bodyPr/>
          <a:lstStyle/>
          <a:p>
            <a:pPr eaLnBrk="1" hangingPunct="1"/>
            <a:r>
              <a:rPr lang="zh-CN" altLang="en-US" dirty="0"/>
              <a:t>LOW</a:t>
            </a:r>
            <a:r>
              <a:rPr lang="zh-CN" altLang="en-US" dirty="0" smtClean="0"/>
              <a:t>参数怎么求</a:t>
            </a:r>
            <a:endParaRPr lang="zh-CN" altLang="en-US" dirty="0"/>
          </a:p>
        </p:txBody>
      </p:sp>
      <p:sp>
        <p:nvSpPr>
          <p:cNvPr id="33795" name="内容占位符 2"/>
          <p:cNvSpPr>
            <a:spLocks noGrp="1" noChangeArrowheads="1"/>
          </p:cNvSpPr>
          <p:nvPr>
            <p:ph sz="quarter" idx="4294967295"/>
          </p:nvPr>
        </p:nvSpPr>
        <p:spPr>
          <a:xfrm>
            <a:off x="928468" y="2609850"/>
            <a:ext cx="10920632" cy="3886200"/>
          </a:xfrm>
        </p:spPr>
        <p:txBody>
          <a:bodyPr>
            <a:normAutofit/>
          </a:bodyPr>
          <a:lstStyle/>
          <a:p>
            <a:pPr eaLnBrk="1" hangingPunct="1">
              <a:lnSpc>
                <a:spcPct val="150000"/>
              </a:lnSpc>
            </a:pPr>
            <a:r>
              <a:rPr lang="en-US" altLang="zh-CN" sz="2000" dirty="0"/>
              <a:t>low[u]</a:t>
            </a:r>
            <a:r>
              <a:rPr lang="zh-CN" altLang="en-US" sz="2000" dirty="0"/>
              <a:t>的定义提供了如下的计算步骤：</a:t>
            </a:r>
            <a:endParaRPr lang="zh-CN" altLang="en-US" sz="2000" dirty="0"/>
          </a:p>
          <a:p>
            <a:pPr eaLnBrk="1" hangingPunct="1">
              <a:lnSpc>
                <a:spcPct val="150000"/>
              </a:lnSpc>
            </a:pPr>
            <a:r>
              <a:rPr lang="en-US" altLang="zh-CN" sz="2000" dirty="0"/>
              <a:t>1. </a:t>
            </a:r>
            <a:r>
              <a:rPr lang="zh-CN" altLang="en-US" sz="2000" dirty="0"/>
              <a:t>当</a:t>
            </a:r>
            <a:r>
              <a:rPr lang="en-US" altLang="zh-CN" sz="2000" dirty="0"/>
              <a:t>u</a:t>
            </a:r>
            <a:r>
              <a:rPr lang="zh-CN" altLang="en-US" sz="2000" dirty="0"/>
              <a:t>是</a:t>
            </a:r>
            <a:r>
              <a:rPr lang="en-US" altLang="zh-CN" sz="2000" dirty="0"/>
              <a:t>DFS</a:t>
            </a:r>
            <a:r>
              <a:rPr lang="zh-CN" altLang="en-US" sz="2000" dirty="0"/>
              <a:t>期间首次访问时，自身是祖先，则：</a:t>
            </a:r>
            <a:r>
              <a:rPr lang="en-US" altLang="zh-CN" sz="2000" dirty="0"/>
              <a:t>low[u] = dfn[u]</a:t>
            </a:r>
            <a:endParaRPr lang="zh-CN" altLang="en-US" sz="2000" dirty="0"/>
          </a:p>
          <a:p>
            <a:pPr eaLnBrk="1" hangingPunct="1">
              <a:lnSpc>
                <a:spcPct val="150000"/>
              </a:lnSpc>
            </a:pPr>
            <a:r>
              <a:rPr lang="en-US" altLang="zh-CN" sz="2000" dirty="0"/>
              <a:t>2. </a:t>
            </a:r>
            <a:r>
              <a:rPr lang="zh-CN" altLang="en-US" sz="2000" dirty="0"/>
              <a:t>当与</a:t>
            </a:r>
            <a:r>
              <a:rPr lang="en-US" altLang="zh-CN" sz="2000" dirty="0"/>
              <a:t>u</a:t>
            </a:r>
            <a:r>
              <a:rPr lang="zh-CN" altLang="en-US" sz="2000" dirty="0"/>
              <a:t>关联的一条反向边</a:t>
            </a:r>
            <a:r>
              <a:rPr lang="en-US" altLang="zh-CN" sz="2000" dirty="0"/>
              <a:t>(u,v)</a:t>
            </a:r>
            <a:r>
              <a:rPr lang="zh-CN" altLang="en-US" sz="2000" dirty="0"/>
              <a:t>被检查时，</a:t>
            </a:r>
            <a:r>
              <a:rPr lang="en-US" altLang="zh-CN" sz="2000" dirty="0"/>
              <a:t>v</a:t>
            </a:r>
            <a:r>
              <a:rPr lang="zh-CN" altLang="en-US" sz="2000" dirty="0"/>
              <a:t>是</a:t>
            </a:r>
            <a:r>
              <a:rPr lang="en-US" altLang="zh-CN" sz="2000" dirty="0"/>
              <a:t>u</a:t>
            </a:r>
            <a:r>
              <a:rPr lang="zh-CN" altLang="en-US" sz="2000" dirty="0"/>
              <a:t>的直接祖先：</a:t>
            </a:r>
            <a:r>
              <a:rPr lang="en-US" altLang="zh-CN" sz="2000" dirty="0"/>
              <a:t>low[u] = min{low[u], dfn[v]}</a:t>
            </a:r>
            <a:endParaRPr lang="zh-CN" altLang="en-US" sz="2000" dirty="0"/>
          </a:p>
          <a:p>
            <a:pPr eaLnBrk="1" hangingPunct="1">
              <a:lnSpc>
                <a:spcPct val="150000"/>
              </a:lnSpc>
            </a:pPr>
            <a:r>
              <a:rPr lang="en-US" altLang="zh-CN" sz="2000" dirty="0"/>
              <a:t>3. </a:t>
            </a:r>
            <a:r>
              <a:rPr lang="zh-CN" altLang="en-US" sz="2000" dirty="0"/>
              <a:t>当</a:t>
            </a:r>
            <a:r>
              <a:rPr lang="en-US" altLang="zh-CN" sz="2000" dirty="0"/>
              <a:t>DFS</a:t>
            </a:r>
            <a:r>
              <a:rPr lang="zh-CN" altLang="en-US" sz="2000" dirty="0"/>
              <a:t>在</a:t>
            </a:r>
            <a:r>
              <a:rPr lang="en-US" altLang="zh-CN" sz="2000" dirty="0"/>
              <a:t>u</a:t>
            </a:r>
            <a:r>
              <a:rPr lang="zh-CN" altLang="en-US" sz="2000" dirty="0"/>
              <a:t>的一个儿子</a:t>
            </a:r>
            <a:r>
              <a:rPr lang="en-US" altLang="zh-CN" sz="2000" dirty="0"/>
              <a:t>v</a:t>
            </a:r>
            <a:r>
              <a:rPr lang="zh-CN" altLang="en-US" sz="2000" dirty="0"/>
              <a:t>完全扫描后返回到</a:t>
            </a:r>
            <a:r>
              <a:rPr lang="en-US" altLang="zh-CN" sz="2000" dirty="0"/>
              <a:t>u</a:t>
            </a:r>
            <a:r>
              <a:rPr lang="zh-CN" altLang="en-US" sz="2000" dirty="0"/>
              <a:t>时，儿子的祖先也是自己的祖先：</a:t>
            </a:r>
            <a:r>
              <a:rPr lang="en-US" altLang="zh-CN" sz="2000" dirty="0"/>
              <a:t>low[u] = min{low[u], low[v</a:t>
            </a:r>
            <a:r>
              <a:rPr lang="en-US" altLang="zh-CN" sz="2000" dirty="0" smtClean="0"/>
              <a:t>]}</a:t>
            </a:r>
            <a:r>
              <a:rPr lang="zh-CN" altLang="en-US" sz="2000" dirty="0" smtClean="0"/>
              <a:t>，相当于确定环中除反向边连接的起点、终点外的中间部分点的</a:t>
            </a:r>
            <a:r>
              <a:rPr lang="en-US" altLang="zh-CN" sz="2000" dirty="0" smtClean="0"/>
              <a:t>low</a:t>
            </a:r>
            <a:r>
              <a:rPr lang="zh-CN" altLang="en-US" sz="2000" dirty="0" smtClean="0"/>
              <a:t>值。</a:t>
            </a:r>
            <a:endParaRPr lang="zh-CN" altLang="en-US" sz="2000" dirty="0"/>
          </a:p>
          <a:p>
            <a:pPr eaLnBrk="1" hangingPunct="1">
              <a:lnSpc>
                <a:spcPct val="150000"/>
              </a:lnSpc>
            </a:pPr>
            <a:endParaRPr lang="zh-CN" altLang="en-US" sz="2000" dirty="0"/>
          </a:p>
        </p:txBody>
      </p:sp>
      <p:grpSp>
        <p:nvGrpSpPr>
          <p:cNvPr id="17" name="组合 16"/>
          <p:cNvGrpSpPr/>
          <p:nvPr/>
        </p:nvGrpSpPr>
        <p:grpSpPr>
          <a:xfrm>
            <a:off x="8910955" y="426085"/>
            <a:ext cx="1027430" cy="2399030"/>
            <a:chOff x="14033" y="671"/>
            <a:chExt cx="1618" cy="3778"/>
          </a:xfrm>
        </p:grpSpPr>
        <p:sp>
          <p:nvSpPr>
            <p:cNvPr id="2" name="文本框 1"/>
            <p:cNvSpPr txBox="1"/>
            <p:nvPr/>
          </p:nvSpPr>
          <p:spPr>
            <a:xfrm>
              <a:off x="14033" y="671"/>
              <a:ext cx="967" cy="822"/>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800" b="1">
                  <a:latin typeface="Arial" panose="020B0604020202020204" pitchFamily="34" charset="0"/>
                  <a:ea typeface="微软雅黑" panose="020B0503020204020204" charset="-122"/>
                </a:rPr>
                <a:t>①</a:t>
              </a:r>
              <a:endParaRPr lang="zh-CN" altLang="en-US" sz="2800" b="1">
                <a:latin typeface="Arial" panose="020B0604020202020204" pitchFamily="34" charset="0"/>
                <a:ea typeface="微软雅黑" panose="020B0503020204020204" charset="-122"/>
              </a:endParaRPr>
            </a:p>
          </p:txBody>
        </p:sp>
        <p:sp>
          <p:nvSpPr>
            <p:cNvPr id="3" name="文本框 2"/>
            <p:cNvSpPr txBox="1"/>
            <p:nvPr/>
          </p:nvSpPr>
          <p:spPr>
            <a:xfrm>
              <a:off x="14033" y="2149"/>
              <a:ext cx="967" cy="822"/>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800" b="1">
                  <a:latin typeface="Arial" panose="020B0604020202020204" pitchFamily="34" charset="0"/>
                  <a:ea typeface="微软雅黑" panose="020B0503020204020204" charset="-122"/>
                </a:rPr>
                <a:t>②</a:t>
              </a:r>
              <a:endParaRPr lang="zh-CN" altLang="en-US" sz="2800" b="1">
                <a:latin typeface="Arial" panose="020B0604020202020204" pitchFamily="34" charset="0"/>
                <a:ea typeface="微软雅黑" panose="020B0503020204020204" charset="-122"/>
              </a:endParaRPr>
            </a:p>
          </p:txBody>
        </p:sp>
        <p:sp>
          <p:nvSpPr>
            <p:cNvPr id="4" name="文本框 3"/>
            <p:cNvSpPr txBox="1"/>
            <p:nvPr/>
          </p:nvSpPr>
          <p:spPr>
            <a:xfrm>
              <a:off x="14033" y="3627"/>
              <a:ext cx="967" cy="822"/>
            </a:xfrm>
            <a:prstGeom prst="rect">
              <a:avLst/>
            </a:prstGeom>
          </p:spPr>
          <p:txBody>
            <a:bodyPr wrap="square">
              <a:spAutoFit/>
              <a:extLst>
                <a:ext uri="{4A0BC546-FE56-4ADE-93B0-CB8AF2F6F144}">
                  <wpsdc:textFrameExt xmlns:wpsdc="http://www.wps.cn/officeDocument/2022/drawingmlCustomData" type="text"/>
                </a:ext>
              </a:extLst>
            </a:bodyPr>
            <a:p>
              <a:pPr algn="l"/>
              <a:r>
                <a:rPr lang="zh-CN" altLang="en-US" sz="2800" b="1">
                  <a:latin typeface="Arial" panose="020B0604020202020204" pitchFamily="34" charset="0"/>
                  <a:ea typeface="微软雅黑" panose="020B0503020204020204" charset="-122"/>
                </a:rPr>
                <a:t>③</a:t>
              </a:r>
              <a:endParaRPr lang="zh-CN" altLang="en-US" sz="2800" b="1">
                <a:latin typeface="Arial" panose="020B0604020202020204" pitchFamily="34" charset="0"/>
                <a:ea typeface="微软雅黑" panose="020B0503020204020204" charset="-122"/>
              </a:endParaRPr>
            </a:p>
          </p:txBody>
        </p:sp>
        <p:cxnSp>
          <p:nvCxnSpPr>
            <p:cNvPr id="5" name="直接箭头连接符 4"/>
            <p:cNvCxnSpPr/>
            <p:nvPr/>
          </p:nvCxnSpPr>
          <p:spPr>
            <a:xfrm>
              <a:off x="14475" y="1419"/>
              <a:ext cx="15" cy="97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 name="直接箭头连接符 5"/>
            <p:cNvCxnSpPr/>
            <p:nvPr/>
          </p:nvCxnSpPr>
          <p:spPr>
            <a:xfrm>
              <a:off x="14490" y="2896"/>
              <a:ext cx="15" cy="977"/>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 name="曲线连接符 8"/>
            <p:cNvCxnSpPr>
              <a:stCxn id="4" idx="1"/>
              <a:endCxn id="2" idx="1"/>
            </p:cNvCxnSpPr>
            <p:nvPr/>
          </p:nvCxnSpPr>
          <p:spPr>
            <a:xfrm rot="10800000" flipH="1">
              <a:off x="14033" y="1082"/>
              <a:ext cx="5" cy="2956"/>
            </a:xfrm>
            <a:prstGeom prst="curvedConnector3">
              <a:avLst>
                <a:gd name="adj1" fmla="val -16960000"/>
              </a:avLst>
            </a:prstGeom>
            <a:ln w="12700" cmpd="sng">
              <a:solidFill>
                <a:schemeClr val="accent1">
                  <a:shade val="50000"/>
                </a:schemeClr>
              </a:solidFill>
              <a:prstDash val="dash"/>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14761" y="768"/>
              <a:ext cx="891" cy="725"/>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2400" b="1">
                  <a:solidFill>
                    <a:srgbClr val="FF0000"/>
                  </a:solidFill>
                  <a:latin typeface="Arial" panose="020B0604020202020204" pitchFamily="34" charset="0"/>
                  <a:ea typeface="微软雅黑" panose="020B0503020204020204" charset="-122"/>
                </a:rPr>
                <a:t>1</a:t>
              </a:r>
              <a:endParaRPr lang="en-US" altLang="zh-CN" sz="2400" b="1">
                <a:solidFill>
                  <a:srgbClr val="FF0000"/>
                </a:solidFill>
                <a:latin typeface="Arial" panose="020B0604020202020204" pitchFamily="34" charset="0"/>
                <a:ea typeface="微软雅黑" panose="020B0503020204020204" charset="-122"/>
              </a:endParaRPr>
            </a:p>
          </p:txBody>
        </p:sp>
        <p:sp>
          <p:nvSpPr>
            <p:cNvPr id="12" name="文本框 11"/>
            <p:cNvSpPr txBox="1"/>
            <p:nvPr/>
          </p:nvSpPr>
          <p:spPr>
            <a:xfrm>
              <a:off x="14761" y="2174"/>
              <a:ext cx="891" cy="725"/>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2400" b="1">
                  <a:solidFill>
                    <a:srgbClr val="FF0000"/>
                  </a:solidFill>
                  <a:latin typeface="Arial" panose="020B0604020202020204" pitchFamily="34" charset="0"/>
                  <a:ea typeface="微软雅黑" panose="020B0503020204020204" charset="-122"/>
                </a:rPr>
                <a:t>2</a:t>
              </a:r>
              <a:endParaRPr lang="en-US" altLang="zh-CN" sz="2400" b="1">
                <a:solidFill>
                  <a:srgbClr val="FF0000"/>
                </a:solidFill>
                <a:latin typeface="Arial" panose="020B0604020202020204" pitchFamily="34" charset="0"/>
                <a:ea typeface="微软雅黑" panose="020B0503020204020204" charset="-122"/>
              </a:endParaRPr>
            </a:p>
          </p:txBody>
        </p:sp>
        <p:sp>
          <p:nvSpPr>
            <p:cNvPr id="13" name="文本框 12"/>
            <p:cNvSpPr txBox="1"/>
            <p:nvPr/>
          </p:nvSpPr>
          <p:spPr>
            <a:xfrm>
              <a:off x="14761" y="3717"/>
              <a:ext cx="891" cy="725"/>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2400" b="1">
                  <a:solidFill>
                    <a:srgbClr val="FF0000"/>
                  </a:solidFill>
                  <a:latin typeface="Arial" panose="020B0604020202020204" pitchFamily="34" charset="0"/>
                  <a:ea typeface="微软雅黑" panose="020B0503020204020204" charset="-122"/>
                </a:rPr>
                <a:t>3</a:t>
              </a:r>
              <a:endParaRPr lang="en-US" altLang="zh-CN" sz="2400" b="1">
                <a:solidFill>
                  <a:srgbClr val="FF0000"/>
                </a:solidFill>
                <a:latin typeface="Arial" panose="020B0604020202020204" pitchFamily="34" charset="0"/>
                <a:ea typeface="微软雅黑" panose="020B0503020204020204" charset="-122"/>
              </a:endParaRPr>
            </a:p>
          </p:txBody>
        </p:sp>
      </p:grpSp>
      <p:sp>
        <p:nvSpPr>
          <p:cNvPr id="14" name="文本框 13"/>
          <p:cNvSpPr txBox="1"/>
          <p:nvPr/>
        </p:nvSpPr>
        <p:spPr>
          <a:xfrm>
            <a:off x="10111105" y="487680"/>
            <a:ext cx="565785" cy="460375"/>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2400" b="1">
                <a:solidFill>
                  <a:srgbClr val="0070C0"/>
                </a:solidFill>
                <a:latin typeface="Arial" panose="020B0604020202020204" pitchFamily="34" charset="0"/>
                <a:ea typeface="微软雅黑" panose="020B0503020204020204" charset="-122"/>
              </a:rPr>
              <a:t>1</a:t>
            </a:r>
            <a:endParaRPr lang="en-US" altLang="zh-CN" sz="2400" b="1">
              <a:solidFill>
                <a:srgbClr val="0070C0"/>
              </a:solidFill>
              <a:latin typeface="Arial" panose="020B0604020202020204" pitchFamily="34" charset="0"/>
              <a:ea typeface="微软雅黑" panose="020B0503020204020204" charset="-122"/>
            </a:endParaRPr>
          </a:p>
        </p:txBody>
      </p:sp>
      <p:sp>
        <p:nvSpPr>
          <p:cNvPr id="15" name="文本框 14"/>
          <p:cNvSpPr txBox="1"/>
          <p:nvPr/>
        </p:nvSpPr>
        <p:spPr>
          <a:xfrm>
            <a:off x="10101580" y="1364615"/>
            <a:ext cx="565785" cy="460375"/>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2400" b="1">
                <a:solidFill>
                  <a:srgbClr val="0070C0"/>
                </a:solidFill>
                <a:latin typeface="Arial" panose="020B0604020202020204" pitchFamily="34" charset="0"/>
                <a:ea typeface="微软雅黑" panose="020B0503020204020204" charset="-122"/>
              </a:rPr>
              <a:t>2</a:t>
            </a:r>
            <a:endParaRPr lang="en-US" altLang="zh-CN" sz="2400" b="1">
              <a:solidFill>
                <a:srgbClr val="0070C0"/>
              </a:solidFill>
              <a:latin typeface="Arial" panose="020B0604020202020204" pitchFamily="34" charset="0"/>
              <a:ea typeface="微软雅黑" panose="020B0503020204020204" charset="-122"/>
            </a:endParaRPr>
          </a:p>
        </p:txBody>
      </p:sp>
      <p:sp>
        <p:nvSpPr>
          <p:cNvPr id="16" name="文本框 15"/>
          <p:cNvSpPr txBox="1"/>
          <p:nvPr/>
        </p:nvSpPr>
        <p:spPr>
          <a:xfrm>
            <a:off x="10101580" y="2364740"/>
            <a:ext cx="565785" cy="460375"/>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2400" b="1">
                <a:solidFill>
                  <a:srgbClr val="0070C0"/>
                </a:solidFill>
                <a:latin typeface="Arial" panose="020B0604020202020204" pitchFamily="34" charset="0"/>
                <a:ea typeface="微软雅黑" panose="020B0503020204020204" charset="-122"/>
              </a:rPr>
              <a:t>3</a:t>
            </a:r>
            <a:endParaRPr lang="en-US" altLang="zh-CN" sz="2400" b="1">
              <a:solidFill>
                <a:srgbClr val="0070C0"/>
              </a:solidFill>
              <a:latin typeface="Arial" panose="020B0604020202020204" pitchFamily="34" charset="0"/>
              <a:ea typeface="微软雅黑" panose="020B0503020204020204" charset="-122"/>
            </a:endParaRPr>
          </a:p>
        </p:txBody>
      </p:sp>
      <p:sp>
        <p:nvSpPr>
          <p:cNvPr id="18" name="文本框 17"/>
          <p:cNvSpPr txBox="1"/>
          <p:nvPr/>
        </p:nvSpPr>
        <p:spPr>
          <a:xfrm>
            <a:off x="10092690" y="1370965"/>
            <a:ext cx="565785" cy="460375"/>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2400" b="1">
                <a:solidFill>
                  <a:srgbClr val="0070C0"/>
                </a:solidFill>
                <a:latin typeface="Arial" panose="020B0604020202020204" pitchFamily="34" charset="0"/>
                <a:ea typeface="微软雅黑" panose="020B0503020204020204" charset="-122"/>
              </a:rPr>
              <a:t>1</a:t>
            </a:r>
            <a:endParaRPr lang="en-US" altLang="zh-CN" sz="2400" b="1">
              <a:solidFill>
                <a:srgbClr val="0070C0"/>
              </a:solidFill>
              <a:latin typeface="Arial" panose="020B0604020202020204" pitchFamily="34" charset="0"/>
              <a:ea typeface="微软雅黑" panose="020B0503020204020204" charset="-122"/>
            </a:endParaRPr>
          </a:p>
        </p:txBody>
      </p:sp>
      <p:sp>
        <p:nvSpPr>
          <p:cNvPr id="19" name="文本框 18"/>
          <p:cNvSpPr txBox="1"/>
          <p:nvPr/>
        </p:nvSpPr>
        <p:spPr>
          <a:xfrm>
            <a:off x="10099675" y="2369820"/>
            <a:ext cx="565785" cy="460375"/>
          </a:xfrm>
          <a:prstGeom prst="rect">
            <a:avLst/>
          </a:prstGeom>
        </p:spPr>
        <p:txBody>
          <a:bodyPr wrap="square">
            <a:spAutoFit/>
            <a:extLst>
              <a:ext uri="{4A0BC546-FE56-4ADE-93B0-CB8AF2F6F144}">
                <wpsdc:textFrameExt xmlns:wpsdc="http://www.wps.cn/officeDocument/2022/drawingmlCustomData" type="text"/>
              </a:ext>
            </a:extLst>
          </a:bodyPr>
          <a:p>
            <a:pPr algn="l"/>
            <a:r>
              <a:rPr lang="en-US" altLang="zh-CN" sz="2400" b="1">
                <a:solidFill>
                  <a:srgbClr val="0070C0"/>
                </a:solidFill>
                <a:latin typeface="Arial" panose="020B0604020202020204" pitchFamily="34" charset="0"/>
                <a:ea typeface="微软雅黑" panose="020B0503020204020204" charset="-122"/>
              </a:rPr>
              <a:t>1</a:t>
            </a:r>
            <a:endParaRPr lang="en-US" altLang="zh-CN" sz="2400" b="1">
              <a:solidFill>
                <a:srgbClr val="0070C0"/>
              </a:solidFill>
              <a:latin typeface="Arial" panose="020B0604020202020204" pitchFamily="34" charset="0"/>
              <a:ea typeface="微软雅黑" panose="020B050302020402020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checkerboard(across)">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checkerboard(across)">
                                      <p:cBhvr>
                                        <p:cTn id="12" dur="5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checkerboard(across)">
                                      <p:cBhvr>
                                        <p:cTn id="17" dur="500"/>
                                        <p:tgtEl>
                                          <p:spTgt spid="337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3795">
                                            <p:txEl>
                                              <p:pRg st="3" end="3"/>
                                            </p:txEl>
                                          </p:spTgt>
                                        </p:tgtEl>
                                        <p:attrNameLst>
                                          <p:attrName>style.visibility</p:attrName>
                                        </p:attrNameLst>
                                      </p:cBhvr>
                                      <p:to>
                                        <p:strVal val="visible"/>
                                      </p:to>
                                    </p:set>
                                    <p:animEffect transition="in" filter="checkerboard(across)">
                                      <p:cBhvr>
                                        <p:cTn id="22" dur="500"/>
                                        <p:tgtEl>
                                          <p:spTgt spid="337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xit" presetSubtype="8" fill="hold" grpId="0" nodeType="clickEffect">
                                  <p:stCondLst>
                                    <p:cond delay="0"/>
                                  </p:stCondLst>
                                  <p:childTnLst>
                                    <p:anim calcmode="lin" valueType="num">
                                      <p:cBhvr additive="base">
                                        <p:cTn id="26" dur="500"/>
                                        <p:tgtEl>
                                          <p:spTgt spid="16"/>
                                        </p:tgtEl>
                                        <p:attrNameLst>
                                          <p:attrName>ppt_x</p:attrName>
                                        </p:attrNameLst>
                                      </p:cBhvr>
                                      <p:tavLst>
                                        <p:tav tm="0">
                                          <p:val>
                                            <p:strVal val="ppt_x"/>
                                          </p:val>
                                        </p:tav>
                                        <p:tav tm="100000">
                                          <p:val>
                                            <p:strVal val="0-ppt_w/2"/>
                                          </p:val>
                                        </p:tav>
                                      </p:tavLst>
                                    </p:anim>
                                    <p:anim calcmode="lin" valueType="num">
                                      <p:cBhvr additive="base">
                                        <p:cTn id="27" dur="500"/>
                                        <p:tgtEl>
                                          <p:spTgt spid="16"/>
                                        </p:tgtEl>
                                        <p:attrNameLst>
                                          <p:attrName>ppt_y</p:attrName>
                                        </p:attrNameLst>
                                      </p:cBhvr>
                                      <p:tavLst>
                                        <p:tav tm="0">
                                          <p:val>
                                            <p:strVal val="ppt_y"/>
                                          </p:val>
                                        </p:tav>
                                        <p:tav tm="100000">
                                          <p:val>
                                            <p:strVal val="ppt_y"/>
                                          </p:val>
                                        </p:tav>
                                      </p:tavLst>
                                    </p:anim>
                                    <p:set>
                                      <p:cBhvr>
                                        <p:cTn id="28" dur="1" fill="hold">
                                          <p:stCondLst>
                                            <p:cond delay="499"/>
                                          </p:stCondLst>
                                        </p:cTn>
                                        <p:tgtEl>
                                          <p:spTgt spid="16"/>
                                        </p:tgtEl>
                                        <p:attrNameLst>
                                          <p:attrName>style.visibility</p:attrName>
                                        </p:attrNameLst>
                                      </p:cBhvr>
                                      <p:to>
                                        <p:strVal val="hidden"/>
                                      </p:to>
                                    </p:set>
                                  </p:childTnLst>
                                </p:cTn>
                              </p:par>
                              <p:par>
                                <p:cTn id="29" presetID="2" presetClass="entr" presetSubtype="2"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1+#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8" fill="hold" grpId="0" nodeType="clickEffect">
                                  <p:stCondLst>
                                    <p:cond delay="0"/>
                                  </p:stCondLst>
                                  <p:childTnLst>
                                    <p:anim calcmode="lin" valueType="num">
                                      <p:cBhvr additive="base">
                                        <p:cTn id="36" dur="500"/>
                                        <p:tgtEl>
                                          <p:spTgt spid="15"/>
                                        </p:tgtEl>
                                        <p:attrNameLst>
                                          <p:attrName>ppt_x</p:attrName>
                                        </p:attrNameLst>
                                      </p:cBhvr>
                                      <p:tavLst>
                                        <p:tav tm="0">
                                          <p:val>
                                            <p:strVal val="ppt_x"/>
                                          </p:val>
                                        </p:tav>
                                        <p:tav tm="100000">
                                          <p:val>
                                            <p:strVal val="0-ppt_w/2"/>
                                          </p:val>
                                        </p:tav>
                                      </p:tavLst>
                                    </p:anim>
                                    <p:anim calcmode="lin" valueType="num">
                                      <p:cBhvr additive="base">
                                        <p:cTn id="37" dur="500"/>
                                        <p:tgtEl>
                                          <p:spTgt spid="15"/>
                                        </p:tgtEl>
                                        <p:attrNameLst>
                                          <p:attrName>ppt_y</p:attrName>
                                        </p:attrNameLst>
                                      </p:cBhvr>
                                      <p:tavLst>
                                        <p:tav tm="0">
                                          <p:val>
                                            <p:strVal val="ppt_y"/>
                                          </p:val>
                                        </p:tav>
                                        <p:tav tm="100000">
                                          <p:val>
                                            <p:strVal val="ppt_y"/>
                                          </p:val>
                                        </p:tav>
                                      </p:tavLst>
                                    </p:anim>
                                    <p:set>
                                      <p:cBhvr>
                                        <p:cTn id="38" dur="1" fill="hold">
                                          <p:stCondLst>
                                            <p:cond delay="499"/>
                                          </p:stCondLst>
                                        </p:cTn>
                                        <p:tgtEl>
                                          <p:spTgt spid="15"/>
                                        </p:tgtEl>
                                        <p:attrNameLst>
                                          <p:attrName>style.visibility</p:attrName>
                                        </p:attrNameLst>
                                      </p:cBhvr>
                                      <p:to>
                                        <p:strVal val="hidden"/>
                                      </p:to>
                                    </p:set>
                                  </p:childTnLst>
                                </p:cTn>
                              </p:par>
                              <p:par>
                                <p:cTn id="39" presetID="2" presetClass="entr" presetSubtype="2"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 calcmode="lin" valueType="num">
                                      <p:cBhvr additive="base">
                                        <p:cTn id="41" dur="500" fill="hold"/>
                                        <p:tgtEl>
                                          <p:spTgt spid="18"/>
                                        </p:tgtEl>
                                        <p:attrNameLst>
                                          <p:attrName>ppt_x</p:attrName>
                                        </p:attrNameLst>
                                      </p:cBhvr>
                                      <p:tavLst>
                                        <p:tav tm="0">
                                          <p:val>
                                            <p:strVal val="1+#ppt_w/2"/>
                                          </p:val>
                                        </p:tav>
                                        <p:tav tm="100000">
                                          <p:val>
                                            <p:strVal val="#ppt_x"/>
                                          </p:val>
                                        </p:tav>
                                      </p:tavLst>
                                    </p:anim>
                                    <p:anim calcmode="lin" valueType="num">
                                      <p:cBhvr additive="base">
                                        <p:cTn id="42"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p:bldP spid="14" grpId="1"/>
      <p:bldP spid="15" grpId="0"/>
      <p:bldP spid="15" grpId="1"/>
      <p:bldP spid="18" grpId="0"/>
      <p:bldP spid="18" grpId="1"/>
      <p:bldP spid="16" grpId="0"/>
      <p:bldP spid="16" grpId="1"/>
      <p:bldP spid="19" grpId="0"/>
      <p:bldP spid="19"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noChangeArrowheads="1"/>
          </p:cNvSpPr>
          <p:nvPr>
            <p:ph type="title" idx="4294967295"/>
          </p:nvPr>
        </p:nvSpPr>
        <p:spPr>
          <a:xfrm>
            <a:off x="384566" y="210046"/>
            <a:ext cx="8911687" cy="1280890"/>
          </a:xfrm>
        </p:spPr>
        <p:txBody>
          <a:bodyPr/>
          <a:lstStyle/>
          <a:p>
            <a:pPr eaLnBrk="1" hangingPunct="1"/>
            <a:r>
              <a:rPr lang="zh-CN" altLang="en-US" dirty="0"/>
              <a:t>判断割点</a:t>
            </a:r>
            <a:endParaRPr lang="zh-CN" altLang="en-US" dirty="0"/>
          </a:p>
        </p:txBody>
      </p:sp>
      <p:sp>
        <p:nvSpPr>
          <p:cNvPr id="34819" name="内容占位符 2"/>
          <p:cNvSpPr>
            <a:spLocks noGrp="1" noChangeArrowheads="1"/>
          </p:cNvSpPr>
          <p:nvPr>
            <p:ph sz="quarter" idx="4294967295"/>
          </p:nvPr>
        </p:nvSpPr>
        <p:spPr>
          <a:xfrm>
            <a:off x="2774831" y="513273"/>
            <a:ext cx="8329613" cy="2600864"/>
          </a:xfrm>
        </p:spPr>
        <p:txBody>
          <a:bodyPr/>
          <a:lstStyle/>
          <a:p>
            <a:pPr eaLnBrk="1" hangingPunct="1"/>
            <a:r>
              <a:rPr lang="zh-CN" altLang="en-US" dirty="0"/>
              <a:t>想法：在进行</a:t>
            </a:r>
            <a:r>
              <a:rPr lang="en-US" altLang="zh-CN" dirty="0"/>
              <a:t>DFS</a:t>
            </a:r>
            <a:r>
              <a:rPr lang="zh-CN" altLang="en-US" dirty="0"/>
              <a:t>时识别割点。令</a:t>
            </a:r>
            <a:r>
              <a:rPr lang="en-US" altLang="zh-CN" dirty="0"/>
              <a:t>G=</a:t>
            </a:r>
            <a:r>
              <a:rPr lang="zh-CN" altLang="en-US" dirty="0"/>
              <a:t>（</a:t>
            </a:r>
            <a:r>
              <a:rPr lang="en-US" altLang="zh-CN" dirty="0"/>
              <a:t>V</a:t>
            </a:r>
            <a:r>
              <a:rPr lang="zh-CN" altLang="en-US" dirty="0"/>
              <a:t>，</a:t>
            </a:r>
            <a:r>
              <a:rPr lang="en-US" altLang="zh-CN" dirty="0"/>
              <a:t>E</a:t>
            </a:r>
            <a:r>
              <a:rPr lang="zh-CN" altLang="en-US" dirty="0"/>
              <a:t>）为一个无向连通图，令</a:t>
            </a:r>
            <a:r>
              <a:rPr lang="en-US" altLang="zh-CN" dirty="0"/>
              <a:t>T</a:t>
            </a:r>
            <a:r>
              <a:rPr lang="zh-CN" altLang="en-US" dirty="0"/>
              <a:t>为</a:t>
            </a:r>
            <a:r>
              <a:rPr lang="en-US" altLang="zh-CN" dirty="0"/>
              <a:t>G</a:t>
            </a:r>
            <a:r>
              <a:rPr lang="zh-CN" altLang="en-US" dirty="0"/>
              <a:t>的一个以顶点</a:t>
            </a:r>
            <a:r>
              <a:rPr lang="en-US" altLang="zh-CN" dirty="0"/>
              <a:t>r</a:t>
            </a:r>
            <a:r>
              <a:rPr lang="zh-CN" altLang="en-US" dirty="0"/>
              <a:t>为根的</a:t>
            </a:r>
            <a:r>
              <a:rPr lang="en-US" altLang="zh-CN" dirty="0"/>
              <a:t>DFS</a:t>
            </a:r>
            <a:r>
              <a:rPr lang="zh-CN" altLang="en-US" dirty="0"/>
              <a:t>树。那么我们有：</a:t>
            </a:r>
            <a:endParaRPr lang="zh-CN" altLang="en-US" dirty="0"/>
          </a:p>
          <a:p>
            <a:pPr eaLnBrk="1" hangingPunct="1"/>
            <a:r>
              <a:rPr lang="en-US" altLang="zh-CN" dirty="0"/>
              <a:t>DFS</a:t>
            </a:r>
            <a:r>
              <a:rPr lang="zh-CN" altLang="en-US" dirty="0"/>
              <a:t>中，</a:t>
            </a:r>
            <a:r>
              <a:rPr lang="en-US" altLang="zh-CN" dirty="0"/>
              <a:t>e=ab</a:t>
            </a:r>
            <a:r>
              <a:rPr lang="zh-CN" altLang="en-US" dirty="0"/>
              <a:t>是返祖边</a:t>
            </a:r>
            <a:r>
              <a:rPr lang="en-US" altLang="zh-CN" dirty="0"/>
              <a:t>(dfn[a]</a:t>
            </a:r>
            <a:r>
              <a:rPr lang="zh-CN" altLang="en-US" dirty="0"/>
              <a:t>和</a:t>
            </a:r>
            <a:r>
              <a:rPr lang="en-US" altLang="zh-CN" dirty="0"/>
              <a:t>dfn[b]</a:t>
            </a:r>
            <a:r>
              <a:rPr lang="zh-CN" altLang="en-US" dirty="0"/>
              <a:t>均已经求出</a:t>
            </a:r>
            <a:r>
              <a:rPr lang="en-US" altLang="zh-CN" dirty="0"/>
              <a:t>)</a:t>
            </a:r>
            <a:r>
              <a:rPr lang="zh-CN" altLang="en-US" dirty="0"/>
              <a:t>，那么</a:t>
            </a:r>
            <a:r>
              <a:rPr lang="en-US" altLang="zh-CN" dirty="0"/>
              <a:t>a</a:t>
            </a:r>
            <a:r>
              <a:rPr lang="zh-CN" altLang="en-US" dirty="0"/>
              <a:t>是</a:t>
            </a:r>
            <a:r>
              <a:rPr lang="en-US" altLang="zh-CN" dirty="0"/>
              <a:t>b</a:t>
            </a:r>
            <a:r>
              <a:rPr lang="zh-CN" altLang="en-US" dirty="0"/>
              <a:t>的孙辈，</a:t>
            </a:r>
            <a:r>
              <a:rPr lang="en-US" altLang="zh-CN" dirty="0"/>
              <a:t>b</a:t>
            </a:r>
            <a:r>
              <a:rPr lang="zh-CN" altLang="en-US" dirty="0"/>
              <a:t>是</a:t>
            </a:r>
            <a:r>
              <a:rPr lang="en-US" altLang="zh-CN" dirty="0"/>
              <a:t>a</a:t>
            </a:r>
            <a:r>
              <a:rPr lang="zh-CN" altLang="en-US" dirty="0"/>
              <a:t>的祖先</a:t>
            </a:r>
            <a:r>
              <a:rPr lang="en-US" altLang="zh-CN" dirty="0"/>
              <a:t>(</a:t>
            </a:r>
            <a:r>
              <a:rPr lang="zh-CN" altLang="en-US" dirty="0"/>
              <a:t>这个地方的祖先不含父亲节点</a:t>
            </a:r>
            <a:r>
              <a:rPr lang="en-US" altLang="zh-CN" dirty="0"/>
              <a:t>)</a:t>
            </a:r>
            <a:r>
              <a:rPr lang="zh-CN" altLang="en-US" dirty="0" smtClean="0"/>
              <a:t>。</a:t>
            </a:r>
            <a:endParaRPr lang="en-US" altLang="zh-CN" dirty="0"/>
          </a:p>
          <a:p>
            <a:pPr eaLnBrk="1" hangingPunct="1"/>
            <a:r>
              <a:rPr lang="zh-CN" altLang="en-US" dirty="0"/>
              <a:t>定理</a:t>
            </a:r>
            <a:r>
              <a:rPr lang="en-US" altLang="zh-CN" dirty="0"/>
              <a:t>2</a:t>
            </a:r>
            <a:r>
              <a:rPr lang="zh-CN" altLang="en-US" dirty="0"/>
              <a:t>：</a:t>
            </a:r>
            <a:r>
              <a:rPr lang="en-US" altLang="zh-CN" dirty="0"/>
              <a:t>DFS</a:t>
            </a:r>
            <a:r>
              <a:rPr lang="zh-CN" altLang="en-US" dirty="0"/>
              <a:t>中，</a:t>
            </a:r>
            <a:r>
              <a:rPr lang="en-US" altLang="zh-CN" dirty="0"/>
              <a:t>e=uv</a:t>
            </a:r>
            <a:r>
              <a:rPr lang="zh-CN" altLang="en-US" dirty="0"/>
              <a:t>是树边，且</a:t>
            </a:r>
            <a:r>
              <a:rPr lang="en-US" altLang="zh-CN" dirty="0"/>
              <a:t>dfn[u]&gt;1</a:t>
            </a:r>
            <a:r>
              <a:rPr lang="zh-CN" altLang="en-US" dirty="0"/>
              <a:t>，</a:t>
            </a:r>
            <a:r>
              <a:rPr lang="en-US" altLang="zh-CN" dirty="0"/>
              <a:t>low[v]&gt;=dfn[u]</a:t>
            </a:r>
            <a:r>
              <a:rPr lang="zh-CN" altLang="en-US" dirty="0"/>
              <a:t>，则</a:t>
            </a:r>
            <a:r>
              <a:rPr lang="en-US" altLang="zh-CN" dirty="0"/>
              <a:t>u</a:t>
            </a:r>
            <a:r>
              <a:rPr lang="zh-CN" altLang="en-US" dirty="0"/>
              <a:t>是割点</a:t>
            </a:r>
            <a:r>
              <a:rPr lang="zh-CN" altLang="en-US" dirty="0" smtClean="0"/>
              <a:t>。</a:t>
            </a:r>
            <a:endParaRPr lang="zh-CN" altLang="en-US" dirty="0"/>
          </a:p>
          <a:p>
            <a:pPr eaLnBrk="1" hangingPunct="1"/>
            <a:r>
              <a:rPr lang="zh-CN" altLang="en-US" dirty="0"/>
              <a:t>定理</a:t>
            </a:r>
            <a:r>
              <a:rPr lang="en-US" altLang="zh-CN" dirty="0"/>
              <a:t>3</a:t>
            </a:r>
            <a:r>
              <a:rPr lang="zh-CN" altLang="en-US" dirty="0"/>
              <a:t>：</a:t>
            </a:r>
            <a:r>
              <a:rPr lang="en-US" altLang="zh-CN" dirty="0"/>
              <a:t>DFS</a:t>
            </a:r>
            <a:r>
              <a:rPr lang="zh-CN" altLang="en-US" dirty="0"/>
              <a:t>的根</a:t>
            </a:r>
            <a:r>
              <a:rPr lang="en-US" altLang="zh-CN" dirty="0"/>
              <a:t>r</a:t>
            </a:r>
            <a:r>
              <a:rPr lang="zh-CN" altLang="en-US" dirty="0"/>
              <a:t>是割点的充要条件是：至少有</a:t>
            </a:r>
            <a:r>
              <a:rPr lang="en-US" altLang="zh-CN" dirty="0"/>
              <a:t>2</a:t>
            </a:r>
            <a:r>
              <a:rPr lang="zh-CN" altLang="en-US" dirty="0"/>
              <a:t>条以</a:t>
            </a:r>
            <a:r>
              <a:rPr lang="en-US" altLang="zh-CN" dirty="0"/>
              <a:t>r</a:t>
            </a:r>
            <a:r>
              <a:rPr lang="zh-CN" altLang="en-US" dirty="0"/>
              <a:t>为起点</a:t>
            </a:r>
            <a:r>
              <a:rPr lang="en-US" altLang="zh-CN" dirty="0"/>
              <a:t>(</a:t>
            </a:r>
            <a:r>
              <a:rPr lang="zh-CN" altLang="en-US" dirty="0"/>
              <a:t>从</a:t>
            </a:r>
            <a:r>
              <a:rPr lang="en-US" altLang="zh-CN" dirty="0"/>
              <a:t>r</a:t>
            </a:r>
            <a:r>
              <a:rPr lang="zh-CN" altLang="en-US" dirty="0"/>
              <a:t>出发</a:t>
            </a:r>
            <a:r>
              <a:rPr lang="en-US" altLang="zh-CN" dirty="0"/>
              <a:t>)</a:t>
            </a:r>
            <a:r>
              <a:rPr lang="zh-CN" altLang="en-US" dirty="0"/>
              <a:t>的树边。</a:t>
            </a:r>
            <a:endParaRPr lang="zh-CN" altLang="en-US" dirty="0"/>
          </a:p>
          <a:p>
            <a:pPr eaLnBrk="1" hangingPunct="1"/>
            <a:endParaRPr lang="zh-CN" altLang="en-US" dirty="0"/>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603291" y="2760453"/>
            <a:ext cx="5264000" cy="3948000"/>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box(in)">
                                      <p:cBhvr>
                                        <p:cTn id="7" dur="5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box(in)">
                                      <p:cBhvr>
                                        <p:cTn id="12" dur="5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box(in)">
                                      <p:cBhvr>
                                        <p:cTn id="17" dur="500"/>
                                        <p:tgtEl>
                                          <p:spTgt spid="34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box(in)">
                                      <p:cBhvr>
                                        <p:cTn id="22" dur="500"/>
                                        <p:tgtEl>
                                          <p:spTgt spid="348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noChangeArrowheads="1"/>
          </p:cNvSpPr>
          <p:nvPr>
            <p:ph type="title" idx="4294967295"/>
          </p:nvPr>
        </p:nvSpPr>
        <p:spPr>
          <a:xfrm>
            <a:off x="2024063" y="0"/>
            <a:ext cx="7467600" cy="642938"/>
          </a:xfrm>
        </p:spPr>
        <p:txBody>
          <a:bodyPr/>
          <a:lstStyle/>
          <a:p>
            <a:pPr eaLnBrk="1" hangingPunct="1"/>
            <a:r>
              <a:rPr lang="zh-CN" altLang="en-US"/>
              <a:t>求割点的算法</a:t>
            </a:r>
            <a:endParaRPr lang="zh-CN" altLang="en-US"/>
          </a:p>
        </p:txBody>
      </p:sp>
      <p:sp>
        <p:nvSpPr>
          <p:cNvPr id="35843" name="内容占位符 2"/>
          <p:cNvSpPr>
            <a:spLocks noGrp="1" noChangeArrowheads="1"/>
          </p:cNvSpPr>
          <p:nvPr>
            <p:ph sz="quarter" idx="4294967295"/>
          </p:nvPr>
        </p:nvSpPr>
        <p:spPr>
          <a:xfrm>
            <a:off x="1738630" y="643255"/>
            <a:ext cx="8715375" cy="5934075"/>
          </a:xfrm>
        </p:spPr>
        <p:txBody>
          <a:bodyPr>
            <a:normAutofit fontScale="65000"/>
          </a:bodyPr>
          <a:lstStyle/>
          <a:p>
            <a:pPr eaLnBrk="1" hangingPunct="1">
              <a:buFont typeface="Wingdings" panose="05000000000000000000" pitchFamily="2" charset="2"/>
              <a:buNone/>
            </a:pPr>
            <a:r>
              <a:rPr lang="en-US" altLang="zh-CN" sz="2000" dirty="0">
                <a:latin typeface="Courier New" panose="02070309020205020404" pitchFamily="49" charset="0"/>
              </a:rPr>
              <a:t>void </a:t>
            </a:r>
            <a:r>
              <a:rPr lang="en-US" altLang="zh-CN" sz="2000" dirty="0" err="1">
                <a:latin typeface="Courier New" panose="02070309020205020404" pitchFamily="49" charset="0"/>
              </a:rPr>
              <a:t>dfs</a:t>
            </a:r>
            <a:r>
              <a:rPr lang="en-US" altLang="zh-CN" sz="2000" dirty="0">
                <a:latin typeface="Courier New" panose="02070309020205020404" pitchFamily="49" charset="0"/>
              </a:rPr>
              <a:t>(</a:t>
            </a:r>
            <a:r>
              <a:rPr lang="en-US" altLang="zh-CN" sz="2000" dirty="0" err="1">
                <a:latin typeface="Courier New" panose="02070309020205020404" pitchFamily="49" charset="0"/>
              </a:rPr>
              <a:t>int</a:t>
            </a:r>
            <a:r>
              <a:rPr lang="en-US" altLang="zh-CN" sz="2000" dirty="0">
                <a:latin typeface="Courier New" panose="02070309020205020404" pitchFamily="49" charset="0"/>
              </a:rPr>
              <a:t> u, </a:t>
            </a:r>
            <a:r>
              <a:rPr lang="en-US" altLang="zh-CN" sz="2000" dirty="0" err="1">
                <a:latin typeface="Courier New" panose="02070309020205020404" pitchFamily="49" charset="0"/>
              </a:rPr>
              <a:t>int</a:t>
            </a:r>
            <a:r>
              <a:rPr lang="en-US" altLang="zh-CN" sz="2000" dirty="0">
                <a:latin typeface="Courier New" panose="02070309020205020404" pitchFamily="49" charset="0"/>
              </a:rPr>
              <a:t> </a:t>
            </a:r>
            <a:r>
              <a:rPr lang="en-US" altLang="zh-CN" sz="2000" dirty="0" err="1">
                <a:latin typeface="Courier New" panose="02070309020205020404" pitchFamily="49" charset="0"/>
              </a:rPr>
              <a:t>fa</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	low[u] = dfn[u] = ++</a:t>
            </a:r>
            <a:r>
              <a:rPr lang="en-US" altLang="zh-CN" sz="2000" dirty="0" err="1">
                <a:latin typeface="Courier New" panose="02070309020205020404" pitchFamily="49" charset="0"/>
              </a:rPr>
              <a:t>dcnt</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for(edge *p = </a:t>
            </a:r>
            <a:r>
              <a:rPr lang="en-US" altLang="zh-CN" sz="2000" dirty="0" err="1" smtClean="0">
                <a:latin typeface="Courier New" panose="02070309020205020404" pitchFamily="49" charset="0"/>
              </a:rPr>
              <a:t>adj</a:t>
            </a:r>
            <a:r>
              <a:rPr lang="en-US" altLang="zh-CN" sz="2000" dirty="0" smtClean="0">
                <a:latin typeface="Courier New" panose="02070309020205020404" pitchFamily="49" charset="0"/>
              </a:rPr>
              <a:t>[u]; p ; p = p-&gt;next) {</a:t>
            </a:r>
            <a:endParaRPr lang="en-US" altLang="zh-CN" sz="2000" dirty="0" smtClean="0">
              <a:latin typeface="Courier New" panose="02070309020205020404" pitchFamily="49" charset="0"/>
            </a:endParaRPr>
          </a:p>
          <a:p>
            <a:pPr eaLnBrk="1" hangingPunct="1">
              <a:buFont typeface="Wingdings" panose="05000000000000000000" pitchFamily="2" charset="2"/>
              <a:buNone/>
            </a:pPr>
            <a:r>
              <a:rPr lang="en-US" altLang="zh-CN" sz="2000" dirty="0" smtClean="0">
                <a:latin typeface="Courier New" panose="02070309020205020404" pitchFamily="49" charset="0"/>
              </a:rPr>
              <a:t>		</a:t>
            </a:r>
            <a:r>
              <a:rPr lang="en-US" altLang="zh-CN" sz="2000" dirty="0" smtClean="0">
                <a:latin typeface="Courier New" panose="02070309020205020404" pitchFamily="49" charset="0"/>
              </a:rPr>
              <a:t>  </a:t>
            </a:r>
            <a:r>
              <a:rPr lang="en-US" altLang="zh-CN" sz="2000" dirty="0" err="1" smtClean="0">
                <a:latin typeface="Courier New" panose="02070309020205020404" pitchFamily="49" charset="0"/>
              </a:rPr>
              <a:t>int</a:t>
            </a:r>
            <a:r>
              <a:rPr lang="en-US" altLang="zh-CN" sz="2000" dirty="0" smtClean="0">
                <a:latin typeface="Courier New" panose="02070309020205020404" pitchFamily="49" charset="0"/>
              </a:rPr>
              <a:t> </a:t>
            </a:r>
            <a:r>
              <a:rPr lang="en-US" altLang="zh-CN" sz="2000" dirty="0" smtClean="0">
                <a:latin typeface="Courier New" panose="02070309020205020404" pitchFamily="49" charset="0"/>
              </a:rPr>
              <a:t>v = p-&gt;v;</a:t>
            </a:r>
            <a:endParaRPr lang="en-US" altLang="zh-CN" sz="2000" dirty="0" smtClean="0">
              <a:latin typeface="Courier New" panose="02070309020205020404" pitchFamily="49" charset="0"/>
            </a:endParaRPr>
          </a:p>
          <a:p>
            <a:pPr eaLnBrk="1" hangingPunct="1">
              <a:buFont typeface="Wingdings" panose="05000000000000000000" pitchFamily="2" charset="2"/>
              <a:buNone/>
            </a:pPr>
            <a:r>
              <a:rPr lang="en-US" altLang="zh-CN" sz="2000" dirty="0" smtClean="0">
                <a:latin typeface="Courier New" panose="02070309020205020404" pitchFamily="49" charset="0"/>
              </a:rPr>
              <a:t>		</a:t>
            </a:r>
            <a:r>
              <a:rPr lang="en-US" altLang="zh-CN" sz="2000" dirty="0" smtClean="0">
                <a:latin typeface="Courier New" panose="02070309020205020404" pitchFamily="49" charset="0"/>
              </a:rPr>
              <a:t>  if</a:t>
            </a:r>
            <a:r>
              <a:rPr lang="en-US" altLang="zh-CN" sz="2000" dirty="0" smtClean="0">
                <a:latin typeface="Courier New" panose="02070309020205020404" pitchFamily="49" charset="0"/>
              </a:rPr>
              <a:t>(!dfn[v])	{</a:t>
            </a:r>
            <a:endParaRPr lang="en-US" altLang="zh-CN" sz="2000" dirty="0" smtClean="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a:t>
            </a:r>
            <a:r>
              <a:rPr lang="en-US" altLang="zh-CN" sz="2000" dirty="0" err="1" smtClean="0">
                <a:latin typeface="Courier New" panose="02070309020205020404" pitchFamily="49" charset="0"/>
              </a:rPr>
              <a:t>dfs</a:t>
            </a:r>
            <a:r>
              <a:rPr lang="en-US" altLang="zh-CN" sz="2000" dirty="0" smtClean="0">
                <a:latin typeface="Courier New" panose="02070309020205020404" pitchFamily="49" charset="0"/>
              </a:rPr>
              <a:t>(v</a:t>
            </a:r>
            <a:r>
              <a:rPr lang="en-US" altLang="zh-CN" sz="2000" dirty="0">
                <a:latin typeface="Courier New" panose="02070309020205020404" pitchFamily="49" charset="0"/>
              </a:rPr>
              <a:t>, u);</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low[u</a:t>
            </a:r>
            <a:r>
              <a:rPr lang="en-US" altLang="zh-CN" sz="2000" dirty="0">
                <a:latin typeface="Courier New" panose="02070309020205020404" pitchFamily="49" charset="0"/>
              </a:rPr>
              <a:t>] = min(low[u], low[v]);</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if(low[v</a:t>
            </a:r>
            <a:r>
              <a:rPr lang="en-US" altLang="zh-CN" sz="2000" dirty="0">
                <a:latin typeface="Courier New" panose="02070309020205020404" pitchFamily="49" charset="0"/>
              </a:rPr>
              <a:t>] &gt;= dfn[u])</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if(</a:t>
            </a:r>
            <a:r>
              <a:rPr lang="en-US" altLang="zh-CN" sz="2000" dirty="0" err="1" smtClean="0">
                <a:latin typeface="Courier New" panose="02070309020205020404" pitchFamily="49" charset="0"/>
              </a:rPr>
              <a:t>fa</a:t>
            </a:r>
            <a:r>
              <a:rPr lang="en-US" altLang="zh-CN" sz="2000" dirty="0" smtClean="0">
                <a:latin typeface="Courier New" panose="02070309020205020404" pitchFamily="49" charset="0"/>
              </a:rPr>
              <a:t> </a:t>
            </a:r>
            <a:r>
              <a:rPr lang="en-US" altLang="zh-CN" sz="2000" dirty="0">
                <a:latin typeface="Courier New" panose="02070309020205020404" pitchFamily="49" charset="0"/>
              </a:rPr>
              <a:t>!= </a:t>
            </a:r>
            <a:r>
              <a:rPr lang="en-US" altLang="zh-CN" sz="2000" dirty="0">
                <a:latin typeface="Courier New" panose="02070309020205020404" pitchFamily="49" charset="0"/>
              </a:rPr>
              <a:t>0</a:t>
            </a:r>
            <a:r>
              <a:rPr lang="en-US" altLang="zh-CN" sz="2000" dirty="0" smtClean="0">
                <a:latin typeface="Courier New" panose="02070309020205020404" pitchFamily="49" charset="0"/>
              </a:rPr>
              <a:t>) </a:t>
            </a:r>
            <a:r>
              <a:rPr lang="en-US" altLang="zh-CN" sz="2000" dirty="0" err="1">
                <a:latin typeface="Courier New" panose="02070309020205020404" pitchFamily="49" charset="0"/>
              </a:rPr>
              <a:t>cutp</a:t>
            </a:r>
            <a:r>
              <a:rPr lang="en-US" altLang="zh-CN" sz="2000" dirty="0">
                <a:latin typeface="Courier New" panose="02070309020205020404" pitchFamily="49" charset="0"/>
              </a:rPr>
              <a:t>[u] = true; //u</a:t>
            </a:r>
            <a:r>
              <a:rPr lang="zh-CN" altLang="en-US" sz="2000" dirty="0">
                <a:latin typeface="Courier New" panose="02070309020205020404" pitchFamily="49" charset="0"/>
              </a:rPr>
              <a:t>不是根</a:t>
            </a:r>
            <a:endParaRPr lang="zh-CN" altLang="en-US" sz="2000" dirty="0">
              <a:latin typeface="Courier New" panose="02070309020205020404" pitchFamily="49" charset="0"/>
            </a:endParaRPr>
          </a:p>
          <a:p>
            <a:pPr eaLnBrk="1" hangingPunct="1">
              <a:buFont typeface="Wingdings" panose="05000000000000000000" pitchFamily="2" charset="2"/>
              <a:buNone/>
            </a:pPr>
            <a:r>
              <a:rPr lang="zh-CN" altLang="en-US" sz="2000" dirty="0">
                <a:latin typeface="Courier New" panose="02070309020205020404" pitchFamily="49" charset="0"/>
              </a:rPr>
              <a:t>			   </a:t>
            </a:r>
            <a:r>
              <a:rPr lang="zh-CN" altLang="en-US" sz="2000" dirty="0" smtClean="0">
                <a:latin typeface="Courier New" panose="02070309020205020404" pitchFamily="49" charset="0"/>
              </a:rPr>
              <a:t>  </a:t>
            </a:r>
            <a:r>
              <a:rPr lang="en-US" altLang="zh-CN" sz="2000" dirty="0" smtClean="0">
                <a:latin typeface="Courier New" panose="02070309020205020404" pitchFamily="49" charset="0"/>
              </a:rPr>
              <a:t>else  </a:t>
            </a:r>
            <a:r>
              <a:rPr lang="en-US" altLang="zh-CN" sz="2000" dirty="0" err="1">
                <a:latin typeface="Courier New" panose="02070309020205020404" pitchFamily="49" charset="0"/>
              </a:rPr>
              <a:t>rtson</a:t>
            </a:r>
            <a:r>
              <a:rPr lang="en-US" altLang="zh-CN" sz="2000" dirty="0">
                <a:latin typeface="Courier New" panose="02070309020205020404" pitchFamily="49" charset="0"/>
              </a:rPr>
              <a:t>++;	//u</a:t>
            </a:r>
            <a:r>
              <a:rPr lang="zh-CN" altLang="en-US" sz="2000" dirty="0">
                <a:latin typeface="Courier New" panose="02070309020205020404" pitchFamily="49" charset="0"/>
              </a:rPr>
              <a:t>是根，儿子数</a:t>
            </a:r>
            <a:r>
              <a:rPr lang="en-US" altLang="zh-CN" sz="2000" dirty="0">
                <a:latin typeface="Courier New" panose="02070309020205020404" pitchFamily="49" charset="0"/>
              </a:rPr>
              <a:t>+1</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else </a:t>
            </a:r>
            <a:r>
              <a:rPr lang="en-US" altLang="zh-CN" sz="2000" dirty="0">
                <a:latin typeface="Courier New" panose="02070309020205020404" pitchFamily="49" charset="0"/>
              </a:rPr>
              <a:t>if(v != </a:t>
            </a:r>
            <a:r>
              <a:rPr lang="en-US" altLang="zh-CN" sz="2000" dirty="0" err="1">
                <a:latin typeface="Courier New" panose="02070309020205020404" pitchFamily="49" charset="0"/>
              </a:rPr>
              <a:t>fa</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			  low[u] = min(low[u], dfn[v]);</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	}</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eaLnBrk="1" hangingPunct="1">
              <a:buFont typeface="Wingdings" panose="05000000000000000000" pitchFamily="2" charset="2"/>
              <a:buNone/>
            </a:pPr>
            <a:r>
              <a:rPr lang="en-US" altLang="zh-CN" sz="2000" dirty="0">
                <a:latin typeface="Courier New" panose="02070309020205020404" pitchFamily="49" charset="0"/>
              </a:rPr>
              <a:t>if(rtson &gt; 1) cutp[root] = true;</a:t>
            </a:r>
            <a:endParaRPr lang="en-US" altLang="zh-CN" sz="2000" dirty="0">
              <a:latin typeface="Courier New" panose="02070309020205020404" pitchFamily="49" charset="0"/>
            </a:endParaRPr>
          </a:p>
          <a:p>
            <a:pPr eaLnBrk="1" hangingPunct="1">
              <a:buFont typeface="Wingdings" panose="05000000000000000000" pitchFamily="2" charset="2"/>
              <a:buNone/>
            </a:pPr>
            <a:endParaRPr lang="zh-CN" altLang="en-US" sz="2000" dirty="0">
              <a:latin typeface="Courier New" panose="02070309020205020404" pitchFamily="49" charset="0"/>
              <a:cs typeface="Courier New" panose="02070309020205020404" pitchFamily="49" charset="0"/>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noChangeArrowheads="1"/>
          </p:cNvSpPr>
          <p:nvPr>
            <p:ph type="title" idx="4294967295"/>
          </p:nvPr>
        </p:nvSpPr>
        <p:spPr/>
        <p:txBody>
          <a:bodyPr/>
          <a:lstStyle/>
          <a:p>
            <a:pPr eaLnBrk="1" hangingPunct="1"/>
            <a:r>
              <a:rPr lang="zh-CN" altLang="en-US"/>
              <a:t>割边</a:t>
            </a:r>
            <a:endParaRPr lang="zh-CN" altLang="en-US"/>
          </a:p>
        </p:txBody>
      </p:sp>
      <p:sp>
        <p:nvSpPr>
          <p:cNvPr id="65539" name="内容占位符 2"/>
          <p:cNvSpPr>
            <a:spLocks noGrp="1" noChangeArrowheads="1"/>
          </p:cNvSpPr>
          <p:nvPr>
            <p:ph sz="quarter" idx="4294967295"/>
          </p:nvPr>
        </p:nvSpPr>
        <p:spPr/>
        <p:txBody>
          <a:bodyPr/>
          <a:lstStyle/>
          <a:p>
            <a:pPr eaLnBrk="1" hangingPunct="1"/>
            <a:r>
              <a:rPr lang="en-US" altLang="zh-CN">
                <a:latin typeface="Times New Roman" panose="02020603050405020304" pitchFamily="18" charset="0"/>
              </a:rPr>
              <a:t>G</a:t>
            </a:r>
            <a:r>
              <a:rPr lang="zh-CN" altLang="en-US">
                <a:latin typeface="Times New Roman" panose="02020603050405020304" pitchFamily="18" charset="0"/>
              </a:rPr>
              <a:t>是连通图，</a:t>
            </a:r>
            <a:r>
              <a:rPr lang="en-US" altLang="zh-CN" i="1">
                <a:latin typeface="Times New Roman" panose="02020603050405020304" pitchFamily="18" charset="0"/>
              </a:rPr>
              <a:t>e</a:t>
            </a:r>
            <a:r>
              <a:rPr lang="en-US" altLang="zh-CN">
                <a:latin typeface="Times New Roman" panose="02020603050405020304" pitchFamily="18" charset="0"/>
              </a:rPr>
              <a:t>∈E(G)</a:t>
            </a:r>
            <a:r>
              <a:rPr lang="zh-CN" altLang="en-US">
                <a:latin typeface="Times New Roman" panose="02020603050405020304" pitchFamily="18" charset="0"/>
              </a:rPr>
              <a:t>，</a:t>
            </a:r>
            <a:r>
              <a:rPr lang="en-US" altLang="zh-CN">
                <a:latin typeface="Times New Roman" panose="02020603050405020304" pitchFamily="18" charset="0"/>
              </a:rPr>
              <a:t>G – </a:t>
            </a:r>
            <a:r>
              <a:rPr lang="en-US" altLang="zh-CN" i="1">
                <a:latin typeface="Times New Roman" panose="02020603050405020304" pitchFamily="18" charset="0"/>
              </a:rPr>
              <a:t>e </a:t>
            </a:r>
            <a:r>
              <a:rPr lang="zh-CN" altLang="en-US">
                <a:latin typeface="Times New Roman" panose="02020603050405020304" pitchFamily="18" charset="0"/>
              </a:rPr>
              <a:t>不再连通，则称</a:t>
            </a:r>
            <a:r>
              <a:rPr lang="en-US" altLang="zh-CN" i="1">
                <a:latin typeface="Times New Roman" panose="02020603050405020304" pitchFamily="18" charset="0"/>
              </a:rPr>
              <a:t>e</a:t>
            </a:r>
            <a:r>
              <a:rPr lang="zh-CN" altLang="en-US">
                <a:latin typeface="Times New Roman" panose="02020603050405020304" pitchFamily="18" charset="0"/>
              </a:rPr>
              <a:t>是</a:t>
            </a:r>
            <a:r>
              <a:rPr lang="en-US" altLang="zh-CN">
                <a:latin typeface="Times New Roman" panose="02020603050405020304" pitchFamily="18" charset="0"/>
              </a:rPr>
              <a:t>G</a:t>
            </a:r>
            <a:r>
              <a:rPr lang="zh-CN" altLang="en-US">
                <a:latin typeface="Times New Roman" panose="02020603050405020304" pitchFamily="18" charset="0"/>
              </a:rPr>
              <a:t>的割边，亦称做桥。</a:t>
            </a:r>
            <a:r>
              <a:rPr lang="zh-CN" altLang="en-US"/>
              <a:t> </a:t>
            </a:r>
            <a:endParaRPr lang="zh-CN" altLang="en-US"/>
          </a:p>
          <a:p>
            <a:pPr eaLnBrk="1" hangingPunct="1"/>
            <a:endParaRPr lang="zh-CN" altLang="en-US"/>
          </a:p>
        </p:txBody>
      </p:sp>
      <p:sp>
        <p:nvSpPr>
          <p:cNvPr id="65540" name="Oval 4"/>
          <p:cNvSpPr>
            <a:spLocks noChangeArrowheads="1"/>
          </p:cNvSpPr>
          <p:nvPr/>
        </p:nvSpPr>
        <p:spPr bwMode="auto">
          <a:xfrm>
            <a:off x="3886200" y="31242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65541" name="Oval 5"/>
          <p:cNvSpPr>
            <a:spLocks noChangeArrowheads="1"/>
          </p:cNvSpPr>
          <p:nvPr/>
        </p:nvSpPr>
        <p:spPr bwMode="auto">
          <a:xfrm>
            <a:off x="5029200" y="40386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65542" name="Oval 6"/>
          <p:cNvSpPr>
            <a:spLocks noChangeArrowheads="1"/>
          </p:cNvSpPr>
          <p:nvPr/>
        </p:nvSpPr>
        <p:spPr bwMode="auto">
          <a:xfrm>
            <a:off x="6019800" y="32766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65543" name="Oval 7"/>
          <p:cNvSpPr>
            <a:spLocks noChangeArrowheads="1"/>
          </p:cNvSpPr>
          <p:nvPr/>
        </p:nvSpPr>
        <p:spPr bwMode="auto">
          <a:xfrm>
            <a:off x="3810000" y="45720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65544" name="Oval 8"/>
          <p:cNvSpPr>
            <a:spLocks noChangeArrowheads="1"/>
          </p:cNvSpPr>
          <p:nvPr/>
        </p:nvSpPr>
        <p:spPr bwMode="auto">
          <a:xfrm>
            <a:off x="6400800" y="51054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65545" name="AutoShape 9"/>
          <p:cNvCxnSpPr>
            <a:cxnSpLocks noChangeShapeType="1"/>
            <a:stCxn id="65540" idx="4"/>
            <a:endCxn id="65543" idx="0"/>
          </p:cNvCxnSpPr>
          <p:nvPr/>
        </p:nvCxnSpPr>
        <p:spPr bwMode="auto">
          <a:xfrm flipH="1">
            <a:off x="4000500" y="3505200"/>
            <a:ext cx="76200" cy="1066800"/>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65546" name="AutoShape 10"/>
          <p:cNvCxnSpPr>
            <a:cxnSpLocks noChangeShapeType="1"/>
            <a:stCxn id="65540" idx="5"/>
            <a:endCxn id="65541" idx="1"/>
          </p:cNvCxnSpPr>
          <p:nvPr/>
        </p:nvCxnSpPr>
        <p:spPr bwMode="auto">
          <a:xfrm>
            <a:off x="4211639" y="3449639"/>
            <a:ext cx="873125" cy="644525"/>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65547" name="AutoShape 11"/>
          <p:cNvCxnSpPr>
            <a:cxnSpLocks noChangeShapeType="1"/>
            <a:stCxn id="65540" idx="5"/>
            <a:endCxn id="65541" idx="1"/>
          </p:cNvCxnSpPr>
          <p:nvPr/>
        </p:nvCxnSpPr>
        <p:spPr bwMode="auto">
          <a:xfrm flipH="1" flipV="1">
            <a:off x="6172200" y="3657600"/>
            <a:ext cx="381000" cy="1447800"/>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65548" name="AutoShape 12"/>
          <p:cNvCxnSpPr>
            <a:cxnSpLocks noChangeShapeType="1"/>
            <a:stCxn id="65543" idx="6"/>
            <a:endCxn id="65541" idx="3"/>
          </p:cNvCxnSpPr>
          <p:nvPr/>
        </p:nvCxnSpPr>
        <p:spPr bwMode="auto">
          <a:xfrm flipV="1">
            <a:off x="4191001" y="4364038"/>
            <a:ext cx="893763" cy="398462"/>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65549" name="AutoShape 13"/>
          <p:cNvCxnSpPr>
            <a:cxnSpLocks noChangeShapeType="1"/>
            <a:stCxn id="65551" idx="2"/>
            <a:endCxn id="65542" idx="6"/>
          </p:cNvCxnSpPr>
          <p:nvPr/>
        </p:nvCxnSpPr>
        <p:spPr bwMode="auto">
          <a:xfrm flipH="1">
            <a:off x="6400800" y="3162300"/>
            <a:ext cx="685800" cy="304800"/>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36878" name="AutoShape 15"/>
          <p:cNvCxnSpPr>
            <a:cxnSpLocks noChangeShapeType="1"/>
            <a:stCxn id="65543" idx="6"/>
            <a:endCxn id="65542" idx="6"/>
          </p:cNvCxnSpPr>
          <p:nvPr/>
        </p:nvCxnSpPr>
        <p:spPr bwMode="auto">
          <a:xfrm>
            <a:off x="4191000" y="4762500"/>
            <a:ext cx="2209800" cy="495300"/>
          </a:xfrm>
          <a:prstGeom prst="straightConnector1">
            <a:avLst/>
          </a:prstGeom>
          <a:noFill/>
          <a:ln w="25400">
            <a:solidFill>
              <a:srgbClr val="FF0000"/>
            </a:solidFill>
            <a:round/>
          </a:ln>
          <a:extLst>
            <a:ext uri="{909E8E84-426E-40DD-AFC4-6F175D3DCCD1}">
              <a14:hiddenFill xmlns:a14="http://schemas.microsoft.com/office/drawing/2010/main">
                <a:noFill/>
              </a14:hiddenFill>
            </a:ext>
          </a:extLst>
        </p:spPr>
      </p:cxnSp>
      <p:sp>
        <p:nvSpPr>
          <p:cNvPr id="65551" name="Oval 16"/>
          <p:cNvSpPr>
            <a:spLocks noChangeArrowheads="1"/>
          </p:cNvSpPr>
          <p:nvPr/>
        </p:nvSpPr>
        <p:spPr bwMode="auto">
          <a:xfrm>
            <a:off x="7086600" y="29718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65552" name="AutoShape 17"/>
          <p:cNvCxnSpPr>
            <a:cxnSpLocks noChangeShapeType="1"/>
            <a:stCxn id="65551" idx="4"/>
            <a:endCxn id="65544" idx="7"/>
          </p:cNvCxnSpPr>
          <p:nvPr/>
        </p:nvCxnSpPr>
        <p:spPr bwMode="auto">
          <a:xfrm flipH="1">
            <a:off x="6726238" y="3352801"/>
            <a:ext cx="550862" cy="1808163"/>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36881" name="AutoShape 18"/>
          <p:cNvCxnSpPr>
            <a:cxnSpLocks noChangeShapeType="1"/>
            <a:stCxn id="65544" idx="6"/>
            <a:endCxn id="65554" idx="2"/>
          </p:cNvCxnSpPr>
          <p:nvPr/>
        </p:nvCxnSpPr>
        <p:spPr bwMode="auto">
          <a:xfrm flipV="1">
            <a:off x="6781800" y="4838700"/>
            <a:ext cx="1371600" cy="457200"/>
          </a:xfrm>
          <a:prstGeom prst="straightConnector1">
            <a:avLst/>
          </a:prstGeom>
          <a:noFill/>
          <a:ln w="25400">
            <a:solidFill>
              <a:srgbClr val="FF0000"/>
            </a:solidFill>
            <a:round/>
          </a:ln>
          <a:extLst>
            <a:ext uri="{909E8E84-426E-40DD-AFC4-6F175D3DCCD1}">
              <a14:hiddenFill xmlns:a14="http://schemas.microsoft.com/office/drawing/2010/main">
                <a:noFill/>
              </a14:hiddenFill>
            </a:ext>
          </a:extLst>
        </p:spPr>
      </p:cxnSp>
      <p:sp>
        <p:nvSpPr>
          <p:cNvPr id="65554" name="Oval 19"/>
          <p:cNvSpPr>
            <a:spLocks noChangeArrowheads="1"/>
          </p:cNvSpPr>
          <p:nvPr/>
        </p:nvSpPr>
        <p:spPr bwMode="auto">
          <a:xfrm>
            <a:off x="8153400" y="46482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Clr clrSpc="rgb" dir="cw">
                                      <p:cBhvr override="childStyle">
                                        <p:cTn id="6" dur="100" fill="hold"/>
                                        <p:tgtEl>
                                          <p:spTgt spid="36878"/>
                                        </p:tgtEl>
                                        <p:attrNameLst>
                                          <p:attrName>style.color</p:attrName>
                                        </p:attrNameLst>
                                      </p:cBhvr>
                                      <p:to>
                                        <a:schemeClr val="accent2"/>
                                      </p:to>
                                    </p:animClr>
                                    <p:animClr clrSpc="rgb" dir="cw">
                                      <p:cBhvr>
                                        <p:cTn id="7" dur="100" fill="hold"/>
                                        <p:tgtEl>
                                          <p:spTgt spid="36878"/>
                                        </p:tgtEl>
                                        <p:attrNameLst>
                                          <p:attrName>fillcolor</p:attrName>
                                        </p:attrNameLst>
                                      </p:cBhvr>
                                      <p:to>
                                        <a:schemeClr val="accent2"/>
                                      </p:to>
                                    </p:animClr>
                                    <p:set>
                                      <p:cBhvr>
                                        <p:cTn id="8" dur="100" fill="hold"/>
                                        <p:tgtEl>
                                          <p:spTgt spid="36878"/>
                                        </p:tgtEl>
                                        <p:attrNameLst>
                                          <p:attrName>fill.type</p:attrName>
                                        </p:attrNameLst>
                                      </p:cBhvr>
                                      <p:to>
                                        <p:strVal val="solid"/>
                                      </p:to>
                                    </p:set>
                                    <p:set>
                                      <p:cBhvr>
                                        <p:cTn id="9" dur="100" fill="hold"/>
                                        <p:tgtEl>
                                          <p:spTgt spid="36878"/>
                                        </p:tgtEl>
                                        <p:attrNameLst>
                                          <p:attrName>fill.on</p:attrName>
                                        </p:attrNameLst>
                                      </p:cBhvr>
                                      <p:to>
                                        <p:strVal val="true"/>
                                      </p:to>
                                    </p:set>
                                    <p:animRot by="120000">
                                      <p:cBhvr>
                                        <p:cTn id="10" dur="100" fill="hold">
                                          <p:stCondLst>
                                            <p:cond delay="0"/>
                                          </p:stCondLst>
                                        </p:cTn>
                                        <p:tgtEl>
                                          <p:spTgt spid="36878"/>
                                        </p:tgtEl>
                                        <p:attrNameLst>
                                          <p:attrName>r</p:attrName>
                                        </p:attrNameLst>
                                      </p:cBhvr>
                                    </p:animRot>
                                    <p:animRot by="-239940">
                                      <p:cBhvr>
                                        <p:cTn id="11" dur="200" fill="hold">
                                          <p:stCondLst>
                                            <p:cond delay="200"/>
                                          </p:stCondLst>
                                        </p:cTn>
                                        <p:tgtEl>
                                          <p:spTgt spid="36878"/>
                                        </p:tgtEl>
                                        <p:attrNameLst>
                                          <p:attrName>r</p:attrName>
                                        </p:attrNameLst>
                                      </p:cBhvr>
                                    </p:animRot>
                                    <p:animRot by="240000">
                                      <p:cBhvr>
                                        <p:cTn id="12" dur="200" fill="hold">
                                          <p:stCondLst>
                                            <p:cond delay="400"/>
                                          </p:stCondLst>
                                        </p:cTn>
                                        <p:tgtEl>
                                          <p:spTgt spid="36878"/>
                                        </p:tgtEl>
                                        <p:attrNameLst>
                                          <p:attrName>r</p:attrName>
                                        </p:attrNameLst>
                                      </p:cBhvr>
                                    </p:animRot>
                                    <p:animRot by="-239940">
                                      <p:cBhvr>
                                        <p:cTn id="13" dur="200" fill="hold">
                                          <p:stCondLst>
                                            <p:cond delay="600"/>
                                          </p:stCondLst>
                                        </p:cTn>
                                        <p:tgtEl>
                                          <p:spTgt spid="36878"/>
                                        </p:tgtEl>
                                        <p:attrNameLst>
                                          <p:attrName>r</p:attrName>
                                        </p:attrNameLst>
                                      </p:cBhvr>
                                    </p:animRot>
                                    <p:animRot by="120000">
                                      <p:cBhvr>
                                        <p:cTn id="14" dur="200" fill="hold">
                                          <p:stCondLst>
                                            <p:cond delay="800"/>
                                          </p:stCondLst>
                                        </p:cTn>
                                        <p:tgtEl>
                                          <p:spTgt spid="36878"/>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32" presetClass="emph" presetSubtype="0" fill="hold" nodeType="clickEffect">
                                  <p:stCondLst>
                                    <p:cond delay="0"/>
                                  </p:stCondLst>
                                  <p:childTnLst>
                                    <p:animClr clrSpc="rgb" dir="cw">
                                      <p:cBhvr override="childStyle">
                                        <p:cTn id="18" dur="100" fill="hold"/>
                                        <p:tgtEl>
                                          <p:spTgt spid="36881"/>
                                        </p:tgtEl>
                                        <p:attrNameLst>
                                          <p:attrName>style.color</p:attrName>
                                        </p:attrNameLst>
                                      </p:cBhvr>
                                      <p:to>
                                        <a:schemeClr val="accent2"/>
                                      </p:to>
                                    </p:animClr>
                                    <p:animClr clrSpc="rgb" dir="cw">
                                      <p:cBhvr>
                                        <p:cTn id="19" dur="100" fill="hold"/>
                                        <p:tgtEl>
                                          <p:spTgt spid="36881"/>
                                        </p:tgtEl>
                                        <p:attrNameLst>
                                          <p:attrName>fillcolor</p:attrName>
                                        </p:attrNameLst>
                                      </p:cBhvr>
                                      <p:to>
                                        <a:schemeClr val="accent2"/>
                                      </p:to>
                                    </p:animClr>
                                    <p:set>
                                      <p:cBhvr>
                                        <p:cTn id="20" dur="100" fill="hold"/>
                                        <p:tgtEl>
                                          <p:spTgt spid="36881"/>
                                        </p:tgtEl>
                                        <p:attrNameLst>
                                          <p:attrName>fill.type</p:attrName>
                                        </p:attrNameLst>
                                      </p:cBhvr>
                                      <p:to>
                                        <p:strVal val="solid"/>
                                      </p:to>
                                    </p:set>
                                    <p:set>
                                      <p:cBhvr>
                                        <p:cTn id="21" dur="100" fill="hold"/>
                                        <p:tgtEl>
                                          <p:spTgt spid="36881"/>
                                        </p:tgtEl>
                                        <p:attrNameLst>
                                          <p:attrName>fill.on</p:attrName>
                                        </p:attrNameLst>
                                      </p:cBhvr>
                                      <p:to>
                                        <p:strVal val="true"/>
                                      </p:to>
                                    </p:set>
                                    <p:animRot by="120000">
                                      <p:cBhvr>
                                        <p:cTn id="22" dur="100" fill="hold">
                                          <p:stCondLst>
                                            <p:cond delay="0"/>
                                          </p:stCondLst>
                                        </p:cTn>
                                        <p:tgtEl>
                                          <p:spTgt spid="36881"/>
                                        </p:tgtEl>
                                        <p:attrNameLst>
                                          <p:attrName>r</p:attrName>
                                        </p:attrNameLst>
                                      </p:cBhvr>
                                    </p:animRot>
                                    <p:animRot by="-239940">
                                      <p:cBhvr>
                                        <p:cTn id="23" dur="200" fill="hold">
                                          <p:stCondLst>
                                            <p:cond delay="200"/>
                                          </p:stCondLst>
                                        </p:cTn>
                                        <p:tgtEl>
                                          <p:spTgt spid="36881"/>
                                        </p:tgtEl>
                                        <p:attrNameLst>
                                          <p:attrName>r</p:attrName>
                                        </p:attrNameLst>
                                      </p:cBhvr>
                                    </p:animRot>
                                    <p:animRot by="240000">
                                      <p:cBhvr>
                                        <p:cTn id="24" dur="200" fill="hold">
                                          <p:stCondLst>
                                            <p:cond delay="400"/>
                                          </p:stCondLst>
                                        </p:cTn>
                                        <p:tgtEl>
                                          <p:spTgt spid="36881"/>
                                        </p:tgtEl>
                                        <p:attrNameLst>
                                          <p:attrName>r</p:attrName>
                                        </p:attrNameLst>
                                      </p:cBhvr>
                                    </p:animRot>
                                    <p:animRot by="-239940">
                                      <p:cBhvr>
                                        <p:cTn id="25" dur="200" fill="hold">
                                          <p:stCondLst>
                                            <p:cond delay="600"/>
                                          </p:stCondLst>
                                        </p:cTn>
                                        <p:tgtEl>
                                          <p:spTgt spid="36881"/>
                                        </p:tgtEl>
                                        <p:attrNameLst>
                                          <p:attrName>r</p:attrName>
                                        </p:attrNameLst>
                                      </p:cBhvr>
                                    </p:animRot>
                                    <p:animRot by="120000">
                                      <p:cBhvr>
                                        <p:cTn id="26" dur="200" fill="hold">
                                          <p:stCondLst>
                                            <p:cond delay="800"/>
                                          </p:stCondLst>
                                        </p:cTn>
                                        <p:tgtEl>
                                          <p:spTgt spid="3688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noChangeArrowheads="1"/>
          </p:cNvSpPr>
          <p:nvPr>
            <p:ph type="title" idx="4294967295"/>
          </p:nvPr>
        </p:nvSpPr>
        <p:spPr>
          <a:xfrm>
            <a:off x="401814" y="201416"/>
            <a:ext cx="8911687" cy="1280890"/>
          </a:xfrm>
        </p:spPr>
        <p:txBody>
          <a:bodyPr/>
          <a:lstStyle/>
          <a:p>
            <a:pPr eaLnBrk="1" hangingPunct="1"/>
            <a:r>
              <a:rPr lang="zh-CN" altLang="en-US" dirty="0"/>
              <a:t>求割边的算法</a:t>
            </a:r>
            <a:endParaRPr lang="zh-CN" altLang="en-US" dirty="0"/>
          </a:p>
        </p:txBody>
      </p:sp>
      <p:sp>
        <p:nvSpPr>
          <p:cNvPr id="66563" name="内容占位符 2"/>
          <p:cNvSpPr>
            <a:spLocks noGrp="1" noChangeArrowheads="1"/>
          </p:cNvSpPr>
          <p:nvPr>
            <p:ph sz="quarter" idx="4294967295"/>
          </p:nvPr>
        </p:nvSpPr>
        <p:spPr>
          <a:xfrm>
            <a:off x="1830088" y="1089803"/>
            <a:ext cx="8915400" cy="1825925"/>
          </a:xfrm>
        </p:spPr>
        <p:txBody>
          <a:bodyPr/>
          <a:lstStyle/>
          <a:p>
            <a:pPr eaLnBrk="1" hangingPunct="1">
              <a:lnSpc>
                <a:spcPct val="150000"/>
              </a:lnSpc>
            </a:pPr>
            <a:r>
              <a:rPr lang="zh-CN" altLang="en-US" dirty="0"/>
              <a:t>与割点类似的，我们定义</a:t>
            </a:r>
            <a:r>
              <a:rPr lang="en-US" altLang="zh-CN" dirty="0"/>
              <a:t>low</a:t>
            </a:r>
            <a:r>
              <a:rPr lang="zh-CN" altLang="en-US" dirty="0"/>
              <a:t>和</a:t>
            </a:r>
            <a:r>
              <a:rPr lang="en-US" altLang="zh-CN" dirty="0"/>
              <a:t>dfn</a:t>
            </a:r>
            <a:r>
              <a:rPr lang="zh-CN" altLang="en-US" dirty="0"/>
              <a:t>。树边</a:t>
            </a:r>
            <a:r>
              <a:rPr lang="en-US" altLang="zh-CN" dirty="0"/>
              <a:t>e=</a:t>
            </a:r>
            <a:r>
              <a:rPr lang="en-US" altLang="zh-CN" dirty="0" err="1"/>
              <a:t>u→v</a:t>
            </a:r>
            <a:r>
              <a:rPr lang="en-US" altLang="zh-CN" dirty="0"/>
              <a:t> </a:t>
            </a:r>
            <a:r>
              <a:rPr lang="zh-CN" altLang="en-US" dirty="0"/>
              <a:t>，当且仅当</a:t>
            </a:r>
            <a:r>
              <a:rPr lang="en-US" altLang="zh-CN" dirty="0"/>
              <a:t>low[v] &gt; dfn[u]</a:t>
            </a:r>
            <a:r>
              <a:rPr lang="zh-CN" altLang="en-US" dirty="0"/>
              <a:t>的时候，</a:t>
            </a:r>
            <a:r>
              <a:rPr lang="en-US" altLang="zh-CN" dirty="0"/>
              <a:t>e</a:t>
            </a:r>
            <a:r>
              <a:rPr lang="zh-CN" altLang="en-US" dirty="0"/>
              <a:t>是割边。</a:t>
            </a:r>
            <a:endParaRPr lang="zh-CN" altLang="en-US" dirty="0"/>
          </a:p>
          <a:p>
            <a:pPr eaLnBrk="1" hangingPunct="1">
              <a:lnSpc>
                <a:spcPct val="150000"/>
              </a:lnSpc>
            </a:pPr>
            <a:r>
              <a:rPr lang="zh-CN" altLang="en-US" dirty="0"/>
              <a:t>我们可以根据割点算法的证明类似的证明割边算法的正确性。</a:t>
            </a:r>
            <a:endParaRPr lang="zh-CN" altLang="en-US" dirty="0"/>
          </a:p>
          <a:p>
            <a:pPr eaLnBrk="1" hangingPunct="1">
              <a:lnSpc>
                <a:spcPct val="150000"/>
              </a:lnSpc>
            </a:pPr>
            <a:endParaRPr lang="zh-CN" altLang="en-US" dirty="0"/>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rot="16200000">
            <a:off x="4004992" y="1980794"/>
            <a:ext cx="4042555" cy="5390073"/>
          </a:xfrm>
          <a:prstGeom prst="rect">
            <a:avLst/>
          </a:prstGeom>
          <a:ln w="88900" cap="sq" cmpd="thickThin">
            <a:solidFill>
              <a:srgbClr val="000000"/>
            </a:solidFill>
            <a:prstDash val="solid"/>
            <a:miter lim="800000"/>
            <a:headEnd/>
            <a:tailEnd/>
          </a:ln>
          <a:effectLst>
            <a:innerShdw blurRad="76200">
              <a:srgbClr val="000000"/>
            </a:innerShdw>
          </a:effectLst>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noChangeArrowheads="1"/>
          </p:cNvSpPr>
          <p:nvPr>
            <p:ph type="title" idx="4294967295"/>
          </p:nvPr>
        </p:nvSpPr>
        <p:spPr>
          <a:xfrm>
            <a:off x="2024063" y="1"/>
            <a:ext cx="7467600" cy="511175"/>
          </a:xfrm>
        </p:spPr>
        <p:txBody>
          <a:bodyPr/>
          <a:lstStyle/>
          <a:p>
            <a:pPr eaLnBrk="1" hangingPunct="1"/>
            <a:r>
              <a:rPr lang="zh-CN" altLang="en-US" sz="2700"/>
              <a:t>求割边的算法-实现</a:t>
            </a:r>
            <a:endParaRPr lang="zh-CN" altLang="en-US" sz="2700"/>
          </a:p>
        </p:txBody>
      </p:sp>
      <p:sp>
        <p:nvSpPr>
          <p:cNvPr id="67587" name="内容占位符 2"/>
          <p:cNvSpPr>
            <a:spLocks noGrp="1" noChangeArrowheads="1"/>
          </p:cNvSpPr>
          <p:nvPr>
            <p:ph sz="quarter" idx="4294967295"/>
          </p:nvPr>
        </p:nvSpPr>
        <p:spPr>
          <a:xfrm>
            <a:off x="1881188" y="714375"/>
            <a:ext cx="8786812" cy="5715000"/>
          </a:xfrm>
        </p:spPr>
        <p:txBody>
          <a:bodyPr>
            <a:normAutofit lnSpcReduction="10000"/>
          </a:bodyPr>
          <a:lstStyle/>
          <a:p>
            <a:pPr eaLnBrk="1" hangingPunct="1">
              <a:lnSpc>
                <a:spcPct val="80000"/>
              </a:lnSpc>
              <a:buFont typeface="Wingdings" panose="05000000000000000000" pitchFamily="2" charset="2"/>
              <a:buNone/>
            </a:pPr>
            <a:r>
              <a:rPr lang="en-US" altLang="zh-CN" sz="2000" dirty="0">
                <a:latin typeface="Courier New" panose="02070309020205020404" pitchFamily="49" charset="0"/>
              </a:rPr>
              <a:t>Vector&lt;pair&lt;</a:t>
            </a:r>
            <a:r>
              <a:rPr lang="en-US" altLang="zh-CN" sz="2000" dirty="0" err="1">
                <a:latin typeface="Courier New" panose="02070309020205020404" pitchFamily="49" charset="0"/>
              </a:rPr>
              <a:t>int</a:t>
            </a:r>
            <a:r>
              <a:rPr lang="en-US" altLang="zh-CN" sz="2000" dirty="0">
                <a:latin typeface="Courier New" panose="02070309020205020404" pitchFamily="49" charset="0"/>
              </a:rPr>
              <a:t>, </a:t>
            </a:r>
            <a:r>
              <a:rPr lang="en-US" altLang="zh-CN" sz="2000" dirty="0" err="1">
                <a:latin typeface="Courier New" panose="02070309020205020404" pitchFamily="49" charset="0"/>
              </a:rPr>
              <a:t>int</a:t>
            </a:r>
            <a:r>
              <a:rPr lang="en-US" altLang="zh-CN" sz="2000" dirty="0">
                <a:latin typeface="Courier New" panose="02070309020205020404" pitchFamily="49" charset="0"/>
              </a:rPr>
              <a:t>&gt; &gt; </a:t>
            </a:r>
            <a:r>
              <a:rPr lang="en-US" altLang="zh-CN" sz="2000" dirty="0" smtClean="0">
                <a:latin typeface="Courier New" panose="02070309020205020404" pitchFamily="49" charset="0"/>
              </a:rPr>
              <a:t>cute;  </a:t>
            </a:r>
            <a:r>
              <a:rPr lang="en-US" altLang="zh-CN" sz="2000" dirty="0">
                <a:latin typeface="Courier New" panose="02070309020205020404" pitchFamily="49" charset="0"/>
              </a:rPr>
              <a:t>//</a:t>
            </a:r>
            <a:r>
              <a:rPr lang="zh-CN" altLang="en-US" sz="2000" dirty="0">
                <a:latin typeface="Courier New" panose="02070309020205020404" pitchFamily="49" charset="0"/>
              </a:rPr>
              <a:t>割边存入一个</a:t>
            </a:r>
            <a:r>
              <a:rPr lang="en-US" altLang="zh-CN" sz="2000" dirty="0">
                <a:latin typeface="Courier New" panose="02070309020205020404" pitchFamily="49" charset="0"/>
              </a:rPr>
              <a:t>pair</a:t>
            </a:r>
            <a:r>
              <a:rPr lang="zh-CN" altLang="en-US" sz="2000" dirty="0">
                <a:latin typeface="Courier New" panose="02070309020205020404" pitchFamily="49" charset="0"/>
              </a:rPr>
              <a:t>类型的向量</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void dfs1(</a:t>
            </a:r>
            <a:r>
              <a:rPr lang="en-US" altLang="zh-CN" sz="2000" dirty="0" err="1">
                <a:latin typeface="Courier New" panose="02070309020205020404" pitchFamily="49" charset="0"/>
              </a:rPr>
              <a:t>int</a:t>
            </a:r>
            <a:r>
              <a:rPr lang="en-US" altLang="zh-CN" sz="2000" dirty="0">
                <a:latin typeface="Courier New" panose="02070309020205020404" pitchFamily="49" charset="0"/>
              </a:rPr>
              <a:t> u, </a:t>
            </a:r>
            <a:r>
              <a:rPr lang="en-US" altLang="zh-CN" sz="2000" dirty="0" err="1">
                <a:latin typeface="Courier New" panose="02070309020205020404" pitchFamily="49" charset="0"/>
              </a:rPr>
              <a:t>int</a:t>
            </a:r>
            <a:r>
              <a:rPr lang="en-US" altLang="zh-CN" sz="2000" dirty="0">
                <a:latin typeface="Courier New" panose="02070309020205020404" pitchFamily="49" charset="0"/>
              </a:rPr>
              <a:t> </a:t>
            </a:r>
            <a:r>
              <a:rPr lang="en-US" altLang="zh-CN" sz="2000" dirty="0" err="1">
                <a:latin typeface="Courier New" panose="02070309020205020404" pitchFamily="49" charset="0"/>
              </a:rPr>
              <a:t>fa</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low[u] = dfn[u] = ++</a:t>
            </a:r>
            <a:r>
              <a:rPr lang="en-US" altLang="zh-CN" sz="2000" dirty="0" err="1">
                <a:latin typeface="Courier New" panose="02070309020205020404" pitchFamily="49" charset="0"/>
              </a:rPr>
              <a:t>dcnt</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for(edge *p = </a:t>
            </a:r>
            <a:r>
              <a:rPr lang="en-US" altLang="zh-CN" sz="2000" dirty="0" err="1">
                <a:latin typeface="Courier New" panose="02070309020205020404" pitchFamily="49" charset="0"/>
              </a:rPr>
              <a:t>adj</a:t>
            </a:r>
            <a:r>
              <a:rPr lang="en-US" altLang="zh-CN" sz="2000" dirty="0">
                <a:latin typeface="Courier New" panose="02070309020205020404" pitchFamily="49" charset="0"/>
              </a:rPr>
              <a:t>[u]; p ; p = p-&gt;next) {</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a:t>
            </a:r>
            <a:r>
              <a:rPr lang="en-US" altLang="zh-CN" sz="2000" dirty="0" err="1" smtClean="0">
                <a:latin typeface="Courier New" panose="02070309020205020404" pitchFamily="49" charset="0"/>
              </a:rPr>
              <a:t>int</a:t>
            </a:r>
            <a:r>
              <a:rPr lang="en-US" altLang="zh-CN" sz="2000" dirty="0" smtClean="0">
                <a:latin typeface="Courier New" panose="02070309020205020404" pitchFamily="49" charset="0"/>
              </a:rPr>
              <a:t> </a:t>
            </a:r>
            <a:r>
              <a:rPr lang="en-US" altLang="zh-CN" sz="2000" dirty="0">
                <a:latin typeface="Courier New" panose="02070309020205020404" pitchFamily="49" charset="0"/>
              </a:rPr>
              <a:t>v = p-&gt;v;</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if</a:t>
            </a:r>
            <a:r>
              <a:rPr lang="en-US" altLang="zh-CN" sz="2000" dirty="0">
                <a:latin typeface="Courier New" panose="02070309020205020404" pitchFamily="49" charset="0"/>
              </a:rPr>
              <a:t>(!</a:t>
            </a:r>
            <a:r>
              <a:rPr lang="en-US" altLang="zh-CN" sz="2000" dirty="0" err="1">
                <a:latin typeface="Courier New" panose="02070309020205020404" pitchFamily="49" charset="0"/>
              </a:rPr>
              <a:t>dfn</a:t>
            </a:r>
            <a:r>
              <a:rPr lang="en-US" altLang="zh-CN" sz="2000" dirty="0">
                <a:latin typeface="Courier New" panose="02070309020205020404" pitchFamily="49" charset="0"/>
              </a:rPr>
              <a:t>[v</a:t>
            </a:r>
            <a:r>
              <a:rPr lang="en-US" altLang="zh-CN" sz="2000" dirty="0" smtClean="0">
                <a:latin typeface="Courier New" panose="02070309020205020404" pitchFamily="49" charset="0"/>
              </a:rPr>
              <a:t>]) {</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a:t>
            </a:r>
            <a:r>
              <a:rPr lang="en-US" altLang="zh-CN" sz="2000" dirty="0" err="1" smtClean="0">
                <a:latin typeface="Courier New" panose="02070309020205020404" pitchFamily="49" charset="0"/>
              </a:rPr>
              <a:t>dfs</a:t>
            </a:r>
            <a:r>
              <a:rPr lang="en-US" altLang="zh-CN" sz="2000" dirty="0" smtClean="0">
                <a:latin typeface="Courier New" panose="02070309020205020404" pitchFamily="49" charset="0"/>
              </a:rPr>
              <a:t>(v</a:t>
            </a:r>
            <a:r>
              <a:rPr lang="en-US" altLang="zh-CN" sz="2000" dirty="0">
                <a:latin typeface="Courier New" panose="02070309020205020404" pitchFamily="49" charset="0"/>
              </a:rPr>
              <a:t>, u);</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low[u</a:t>
            </a:r>
            <a:r>
              <a:rPr lang="en-US" altLang="zh-CN" sz="2000" dirty="0">
                <a:latin typeface="Courier New" panose="02070309020205020404" pitchFamily="49" charset="0"/>
              </a:rPr>
              <a:t>] = min(low[u], low[v]);</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if(low[v</a:t>
            </a:r>
            <a:r>
              <a:rPr lang="en-US" altLang="zh-CN" sz="2000" dirty="0">
                <a:latin typeface="Courier New" panose="02070309020205020404" pitchFamily="49" charset="0"/>
              </a:rPr>
              <a:t>] &gt; dfn[u])</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a:t>
            </a:r>
            <a:r>
              <a:rPr lang="en-US" altLang="zh-CN" sz="2000" dirty="0" err="1" smtClean="0">
                <a:latin typeface="Courier New" panose="02070309020205020404" pitchFamily="49" charset="0"/>
              </a:rPr>
              <a:t>cute.push_back</a:t>
            </a:r>
            <a:r>
              <a:rPr lang="en-US" altLang="zh-CN" sz="2000" dirty="0" smtClean="0">
                <a:latin typeface="Courier New" panose="02070309020205020404" pitchFamily="49" charset="0"/>
              </a:rPr>
              <a:t>(</a:t>
            </a:r>
            <a:r>
              <a:rPr lang="en-US" altLang="zh-CN" sz="2000" dirty="0" err="1" smtClean="0">
                <a:latin typeface="Courier New" panose="02070309020205020404" pitchFamily="49" charset="0"/>
              </a:rPr>
              <a:t>make_pair</a:t>
            </a:r>
            <a:r>
              <a:rPr lang="en-US" altLang="zh-CN" sz="2000" dirty="0" smtClean="0">
                <a:latin typeface="Courier New" panose="02070309020205020404" pitchFamily="49" charset="0"/>
              </a:rPr>
              <a:t>(u</a:t>
            </a:r>
            <a:r>
              <a:rPr lang="en-US" altLang="zh-CN" sz="2000" dirty="0">
                <a:latin typeface="Courier New" panose="02070309020205020404" pitchFamily="49" charset="0"/>
              </a:rPr>
              <a:t>, v));</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else </a:t>
            </a:r>
            <a:r>
              <a:rPr lang="en-US" altLang="zh-CN" sz="2000" dirty="0">
                <a:latin typeface="Courier New" panose="02070309020205020404" pitchFamily="49" charset="0"/>
              </a:rPr>
              <a:t>if(v != </a:t>
            </a:r>
            <a:r>
              <a:rPr lang="en-US" altLang="zh-CN" sz="2000" dirty="0" err="1">
                <a:latin typeface="Courier New" panose="02070309020205020404" pitchFamily="49" charset="0"/>
              </a:rPr>
              <a:t>fa</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r>
              <a:rPr lang="en-US" altLang="zh-CN" sz="2000" dirty="0" smtClean="0">
                <a:latin typeface="Courier New" panose="02070309020205020404" pitchFamily="49" charset="0"/>
              </a:rPr>
              <a:t> low[u</a:t>
            </a:r>
            <a:r>
              <a:rPr lang="en-US" altLang="zh-CN" sz="2000" dirty="0">
                <a:latin typeface="Courier New" panose="02070309020205020404" pitchFamily="49" charset="0"/>
              </a:rPr>
              <a:t>] = min(low[u], dfn[v]);</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	}</a:t>
            </a:r>
            <a:endParaRPr lang="en-US" altLang="zh-CN" sz="2000"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eaLnBrk="1" hangingPunct="1">
              <a:buFont typeface="Wingdings" panose="05000000000000000000" pitchFamily="2" charset="2"/>
              <a:buNone/>
            </a:pPr>
            <a:endParaRPr lang="zh-CN" altLang="en-US" sz="2000" dirty="0">
              <a:latin typeface="Courier New" panose="02070309020205020404" pitchFamily="49" charset="0"/>
              <a:cs typeface="Courier New" panose="02070309020205020404" pitchFamily="49" charset="0"/>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noChangeArrowheads="1"/>
          </p:cNvSpPr>
          <p:nvPr>
            <p:ph type="title" idx="4294967295"/>
          </p:nvPr>
        </p:nvSpPr>
        <p:spPr>
          <a:xfrm>
            <a:off x="1981200" y="274639"/>
            <a:ext cx="7467600" cy="725487"/>
          </a:xfrm>
        </p:spPr>
        <p:txBody>
          <a:bodyPr/>
          <a:lstStyle/>
          <a:p>
            <a:pPr eaLnBrk="1" hangingPunct="1"/>
            <a:r>
              <a:rPr lang="zh-CN" altLang="en-US"/>
              <a:t>求割边、割点的算法实现2</a:t>
            </a:r>
            <a:endParaRPr lang="zh-CN" altLang="en-US"/>
          </a:p>
        </p:txBody>
      </p:sp>
      <p:sp>
        <p:nvSpPr>
          <p:cNvPr id="68611" name="内容占位符 2"/>
          <p:cNvSpPr>
            <a:spLocks noGrp="1" noChangeArrowheads="1"/>
          </p:cNvSpPr>
          <p:nvPr>
            <p:ph sz="quarter" idx="4294967295"/>
          </p:nvPr>
        </p:nvSpPr>
        <p:spPr>
          <a:xfrm>
            <a:off x="1738314" y="1000125"/>
            <a:ext cx="8429625" cy="5473700"/>
          </a:xfrm>
        </p:spPr>
        <p:txBody>
          <a:bodyPr/>
          <a:lstStyle/>
          <a:p>
            <a:pPr eaLnBrk="1" hangingPunct="1"/>
            <a:r>
              <a:rPr lang="zh-CN" altLang="en-US" dirty="0"/>
              <a:t>前面的算法一边</a:t>
            </a:r>
            <a:r>
              <a:rPr lang="en-US" altLang="zh-CN" dirty="0"/>
              <a:t>DFS</a:t>
            </a:r>
            <a:r>
              <a:rPr lang="zh-CN" altLang="en-US" dirty="0"/>
              <a:t>，一边就得出割点或者割边的结论，可看成是“在线”算法。</a:t>
            </a:r>
            <a:endParaRPr lang="en-US" altLang="zh-CN" dirty="0"/>
          </a:p>
          <a:p>
            <a:pPr eaLnBrk="1" hangingPunct="1"/>
            <a:r>
              <a:rPr lang="zh-CN" altLang="en-US" dirty="0"/>
              <a:t>也可以先做一遍</a:t>
            </a:r>
            <a:r>
              <a:rPr lang="en-US" altLang="zh-CN" dirty="0"/>
              <a:t>DFS</a:t>
            </a:r>
            <a:r>
              <a:rPr lang="zh-CN" altLang="en-US" dirty="0"/>
              <a:t>，只求出每个顶点的</a:t>
            </a:r>
            <a:r>
              <a:rPr lang="en-US" altLang="zh-CN" dirty="0"/>
              <a:t>dfn</a:t>
            </a:r>
            <a:r>
              <a:rPr lang="zh-CN" altLang="en-US" dirty="0"/>
              <a:t>、</a:t>
            </a:r>
            <a:r>
              <a:rPr lang="en-US" altLang="zh-CN" dirty="0"/>
              <a:t>low</a:t>
            </a:r>
            <a:r>
              <a:rPr lang="zh-CN" altLang="en-US" dirty="0"/>
              <a:t>、</a:t>
            </a:r>
            <a:r>
              <a:rPr lang="en-US" altLang="zh-CN" dirty="0"/>
              <a:t>father</a:t>
            </a:r>
            <a:r>
              <a:rPr lang="zh-CN" altLang="en-US" dirty="0"/>
              <a:t>等信息，然后再枚举一次顶点，对于枚举到的点</a:t>
            </a:r>
            <a:r>
              <a:rPr lang="en-US" altLang="zh-CN" dirty="0"/>
              <a:t>v</a:t>
            </a:r>
            <a:r>
              <a:rPr lang="zh-CN" altLang="en-US" dirty="0"/>
              <a:t>，利用</a:t>
            </a:r>
            <a:r>
              <a:rPr lang="en-US" altLang="zh-CN" dirty="0"/>
              <a:t>father</a:t>
            </a:r>
            <a:r>
              <a:rPr lang="zh-CN" altLang="en-US" dirty="0"/>
              <a:t>数组找到它的父节点</a:t>
            </a:r>
            <a:r>
              <a:rPr lang="en-US" altLang="zh-CN" dirty="0"/>
              <a:t>u</a:t>
            </a:r>
            <a:r>
              <a:rPr lang="zh-CN" altLang="en-US" dirty="0"/>
              <a:t>，再判断割边与割点：</a:t>
            </a:r>
            <a:endParaRPr lang="en-US" altLang="zh-CN" dirty="0"/>
          </a:p>
          <a:p>
            <a:pPr eaLnBrk="1" hangingPunct="1"/>
            <a:r>
              <a:rPr lang="zh-CN" altLang="en-US" dirty="0"/>
              <a:t>割点：</a:t>
            </a:r>
            <a:r>
              <a:rPr lang="en-US" altLang="zh-CN" dirty="0"/>
              <a:t>if( low[v] &gt;= dfn[u])</a:t>
            </a:r>
            <a:endParaRPr lang="en-US" altLang="zh-CN" dirty="0"/>
          </a:p>
          <a:p>
            <a:pPr eaLnBrk="1" hangingPunct="1"/>
            <a:r>
              <a:rPr lang="en-US" altLang="zh-CN" dirty="0"/>
              <a:t>		</a:t>
            </a:r>
            <a:r>
              <a:rPr lang="en-US" altLang="zh-CN" dirty="0" smtClean="0"/>
              <a:t>        </a:t>
            </a:r>
            <a:r>
              <a:rPr lang="en-US" altLang="zh-CN" dirty="0" err="1" smtClean="0"/>
              <a:t>cutp</a:t>
            </a:r>
            <a:r>
              <a:rPr lang="en-US" altLang="zh-CN" dirty="0" smtClean="0"/>
              <a:t>[u</a:t>
            </a:r>
            <a:r>
              <a:rPr lang="en-US" altLang="zh-CN" dirty="0"/>
              <a:t>] = true;</a:t>
            </a:r>
            <a:endParaRPr lang="en-US" altLang="zh-CN" dirty="0"/>
          </a:p>
          <a:p>
            <a:pPr eaLnBrk="1" hangingPunct="1"/>
            <a:r>
              <a:rPr lang="zh-CN" altLang="en-US" dirty="0"/>
              <a:t>割边：</a:t>
            </a:r>
            <a:r>
              <a:rPr lang="en-US" altLang="zh-CN" dirty="0"/>
              <a:t>if(low[v] &gt; dfn[u])</a:t>
            </a:r>
            <a:endParaRPr lang="en-US" altLang="zh-CN" dirty="0"/>
          </a:p>
          <a:p>
            <a:pPr eaLnBrk="1" hangingPunct="1"/>
            <a:r>
              <a:rPr lang="en-US" altLang="zh-CN" dirty="0"/>
              <a:t>                  </a:t>
            </a:r>
            <a:r>
              <a:rPr lang="en-US" altLang="zh-CN" dirty="0" err="1"/>
              <a:t>cute.push_back</a:t>
            </a:r>
            <a:r>
              <a:rPr lang="en-US" altLang="zh-CN" dirty="0"/>
              <a:t>(</a:t>
            </a:r>
            <a:r>
              <a:rPr lang="en-US" altLang="zh-CN" dirty="0" err="1"/>
              <a:t>make_pair</a:t>
            </a:r>
            <a:r>
              <a:rPr lang="en-US" altLang="zh-CN" dirty="0"/>
              <a:t>(u, v));</a:t>
            </a:r>
            <a:endParaRPr lang="en-US" altLang="zh-CN" dirty="0"/>
          </a:p>
          <a:p>
            <a:pPr eaLnBrk="1" hangingPunct="1"/>
            <a:r>
              <a:rPr lang="zh-CN" altLang="en-US" dirty="0"/>
              <a:t>这个方法可看成是“离线”算法，在需要事后再处理其它信息时还是有用的。</a:t>
            </a:r>
            <a:endParaRPr lang="en-US" altLang="zh-CN" dirty="0"/>
          </a:p>
          <a:p>
            <a:pPr eaLnBrk="1" hangingPunct="1"/>
            <a:endParaRPr lang="zh-CN" altLang="en-US" dirty="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noChangeArrowheads="1"/>
          </p:cNvSpPr>
          <p:nvPr>
            <p:ph type="title" idx="4294967295"/>
          </p:nvPr>
        </p:nvSpPr>
        <p:spPr/>
        <p:txBody>
          <a:bodyPr/>
          <a:lstStyle/>
          <a:p>
            <a:pPr eaLnBrk="1" hangingPunct="1"/>
            <a:r>
              <a:rPr lang="zh-CN" altLang="en-US"/>
              <a:t>割点与割边</a:t>
            </a:r>
            <a:endParaRPr lang="zh-CN" altLang="en-US"/>
          </a:p>
        </p:txBody>
      </p:sp>
      <p:sp>
        <p:nvSpPr>
          <p:cNvPr id="69635" name="内容占位符 2"/>
          <p:cNvSpPr>
            <a:spLocks noGrp="1" noChangeArrowheads="1"/>
          </p:cNvSpPr>
          <p:nvPr>
            <p:ph sz="quarter" idx="4294967295"/>
          </p:nvPr>
        </p:nvSpPr>
        <p:spPr/>
        <p:txBody>
          <a:bodyPr/>
          <a:lstStyle/>
          <a:p>
            <a:pPr eaLnBrk="1" hangingPunct="1"/>
            <a:r>
              <a:rPr lang="zh-CN" altLang="en-US" dirty="0"/>
              <a:t>猜想：两个割点之间的边是否是割</a:t>
            </a:r>
            <a:r>
              <a:rPr lang="zh-CN" altLang="en-US" dirty="0" smtClean="0"/>
              <a:t>边？ 割</a:t>
            </a:r>
            <a:r>
              <a:rPr lang="zh-CN" altLang="en-US" dirty="0"/>
              <a:t>边的两个端点是否是割点？</a:t>
            </a:r>
            <a:endParaRPr lang="zh-CN" altLang="en-US" dirty="0"/>
          </a:p>
          <a:p>
            <a:pPr eaLnBrk="1" hangingPunct="1"/>
            <a:r>
              <a:rPr lang="zh-CN" altLang="en-US" dirty="0"/>
              <a:t>都错！</a:t>
            </a:r>
            <a:endParaRPr lang="zh-CN" altLang="en-US" dirty="0"/>
          </a:p>
          <a:p>
            <a:pPr eaLnBrk="1" hangingPunct="1"/>
            <a:endParaRPr lang="zh-CN" altLang="en-US" dirty="0"/>
          </a:p>
        </p:txBody>
      </p:sp>
      <p:sp>
        <p:nvSpPr>
          <p:cNvPr id="40964" name="Oval 19"/>
          <p:cNvSpPr>
            <a:spLocks noChangeArrowheads="1"/>
          </p:cNvSpPr>
          <p:nvPr/>
        </p:nvSpPr>
        <p:spPr bwMode="auto">
          <a:xfrm>
            <a:off x="4343400" y="4343400"/>
            <a:ext cx="381000" cy="381000"/>
          </a:xfrm>
          <a:prstGeom prst="ellipse">
            <a:avLst/>
          </a:prstGeom>
          <a:solidFill>
            <a:srgbClr val="FF0000"/>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40965" name="Oval 20">
            <a:hlinkClick r:id="rId1" action="ppaction://hlinksldjump"/>
          </p:cNvPr>
          <p:cNvSpPr>
            <a:spLocks noChangeArrowheads="1"/>
          </p:cNvSpPr>
          <p:nvPr/>
        </p:nvSpPr>
        <p:spPr bwMode="auto">
          <a:xfrm>
            <a:off x="3124200" y="4343400"/>
            <a:ext cx="381000" cy="381000"/>
          </a:xfrm>
          <a:prstGeom prst="ellipse">
            <a:avLst/>
          </a:prstGeom>
          <a:solidFill>
            <a:srgbClr val="FF0000"/>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40966" name="AutoShape 22"/>
          <p:cNvCxnSpPr>
            <a:cxnSpLocks noChangeShapeType="1"/>
            <a:stCxn id="40964" idx="2"/>
            <a:endCxn id="40965" idx="6"/>
          </p:cNvCxnSpPr>
          <p:nvPr/>
        </p:nvCxnSpPr>
        <p:spPr bwMode="auto">
          <a:xfrm flipH="1">
            <a:off x="3505200" y="4533900"/>
            <a:ext cx="838200" cy="0"/>
          </a:xfrm>
          <a:prstGeom prst="straightConnector1">
            <a:avLst/>
          </a:prstGeom>
          <a:noFill/>
          <a:ln w="25400">
            <a:solidFill>
              <a:srgbClr val="3366FF"/>
            </a:solidFill>
            <a:round/>
          </a:ln>
          <a:extLst>
            <a:ext uri="{909E8E84-426E-40DD-AFC4-6F175D3DCCD1}">
              <a14:hiddenFill xmlns:a14="http://schemas.microsoft.com/office/drawing/2010/main">
                <a:noFill/>
              </a14:hiddenFill>
            </a:ext>
          </a:extLst>
        </p:spPr>
      </p:cxnSp>
      <p:sp>
        <p:nvSpPr>
          <p:cNvPr id="40967" name="Oval 24"/>
          <p:cNvSpPr>
            <a:spLocks noChangeArrowheads="1"/>
          </p:cNvSpPr>
          <p:nvPr/>
        </p:nvSpPr>
        <p:spPr bwMode="auto">
          <a:xfrm>
            <a:off x="2514600" y="36576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40968" name="Oval 25"/>
          <p:cNvSpPr>
            <a:spLocks noChangeArrowheads="1"/>
          </p:cNvSpPr>
          <p:nvPr/>
        </p:nvSpPr>
        <p:spPr bwMode="auto">
          <a:xfrm>
            <a:off x="4953000" y="36576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40969" name="AutoShape 26"/>
          <p:cNvCxnSpPr>
            <a:cxnSpLocks noChangeShapeType="1"/>
            <a:stCxn id="40967" idx="5"/>
            <a:endCxn id="40965" idx="1"/>
          </p:cNvCxnSpPr>
          <p:nvPr/>
        </p:nvCxnSpPr>
        <p:spPr bwMode="auto">
          <a:xfrm>
            <a:off x="2840039" y="3983039"/>
            <a:ext cx="339725" cy="415925"/>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40970" name="AutoShape 27"/>
          <p:cNvCxnSpPr>
            <a:cxnSpLocks noChangeShapeType="1"/>
            <a:stCxn id="40968" idx="3"/>
            <a:endCxn id="40964" idx="7"/>
          </p:cNvCxnSpPr>
          <p:nvPr/>
        </p:nvCxnSpPr>
        <p:spPr bwMode="auto">
          <a:xfrm flipH="1">
            <a:off x="4668839" y="3983039"/>
            <a:ext cx="339725" cy="415925"/>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40971" name="AutoShape 28"/>
          <p:cNvCxnSpPr>
            <a:cxnSpLocks noChangeShapeType="1"/>
            <a:stCxn id="40968" idx="2"/>
            <a:endCxn id="40967" idx="6"/>
          </p:cNvCxnSpPr>
          <p:nvPr/>
        </p:nvCxnSpPr>
        <p:spPr bwMode="auto">
          <a:xfrm flipH="1">
            <a:off x="2895600" y="3848100"/>
            <a:ext cx="2057400" cy="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cxnSp>
        <p:nvCxnSpPr>
          <p:cNvPr id="40972" name="AutoShape 29"/>
          <p:cNvCxnSpPr>
            <a:cxnSpLocks noChangeShapeType="1"/>
            <a:stCxn id="40965" idx="4"/>
            <a:endCxn id="40973" idx="0"/>
          </p:cNvCxnSpPr>
          <p:nvPr/>
        </p:nvCxnSpPr>
        <p:spPr bwMode="auto">
          <a:xfrm>
            <a:off x="3314700" y="4724400"/>
            <a:ext cx="0" cy="4572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40973" name="Oval 30"/>
          <p:cNvSpPr>
            <a:spLocks noChangeArrowheads="1"/>
          </p:cNvSpPr>
          <p:nvPr/>
        </p:nvSpPr>
        <p:spPr bwMode="auto">
          <a:xfrm>
            <a:off x="3124200" y="51816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40974" name="Oval 31"/>
          <p:cNvSpPr>
            <a:spLocks noChangeArrowheads="1"/>
          </p:cNvSpPr>
          <p:nvPr/>
        </p:nvSpPr>
        <p:spPr bwMode="auto">
          <a:xfrm>
            <a:off x="4343400" y="51816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40975" name="AutoShape 32"/>
          <p:cNvCxnSpPr>
            <a:cxnSpLocks noChangeShapeType="1"/>
            <a:stCxn id="40964" idx="4"/>
            <a:endCxn id="40974" idx="0"/>
          </p:cNvCxnSpPr>
          <p:nvPr/>
        </p:nvCxnSpPr>
        <p:spPr bwMode="auto">
          <a:xfrm>
            <a:off x="4533900" y="4724400"/>
            <a:ext cx="0" cy="4572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
        <p:nvSpPr>
          <p:cNvPr id="40976" name="Oval 33"/>
          <p:cNvSpPr>
            <a:spLocks noChangeArrowheads="1"/>
          </p:cNvSpPr>
          <p:nvPr/>
        </p:nvSpPr>
        <p:spPr bwMode="auto">
          <a:xfrm>
            <a:off x="7467600" y="3810000"/>
            <a:ext cx="381000" cy="381000"/>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40977" name="Oval 34"/>
          <p:cNvSpPr>
            <a:spLocks noChangeArrowheads="1"/>
          </p:cNvSpPr>
          <p:nvPr/>
        </p:nvSpPr>
        <p:spPr bwMode="auto">
          <a:xfrm>
            <a:off x="7543800" y="5105400"/>
            <a:ext cx="381000" cy="381000"/>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40978" name="Oval 35"/>
          <p:cNvSpPr>
            <a:spLocks noChangeArrowheads="1"/>
          </p:cNvSpPr>
          <p:nvPr/>
        </p:nvSpPr>
        <p:spPr bwMode="auto">
          <a:xfrm>
            <a:off x="8839200" y="37338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40979" name="AutoShape 36"/>
          <p:cNvCxnSpPr>
            <a:cxnSpLocks noChangeShapeType="1"/>
            <a:stCxn id="40976" idx="4"/>
            <a:endCxn id="40977" idx="0"/>
          </p:cNvCxnSpPr>
          <p:nvPr/>
        </p:nvCxnSpPr>
        <p:spPr bwMode="auto">
          <a:xfrm>
            <a:off x="7658100" y="4191000"/>
            <a:ext cx="76200" cy="914400"/>
          </a:xfrm>
          <a:prstGeom prst="straightConnector1">
            <a:avLst/>
          </a:prstGeom>
          <a:noFill/>
          <a:ln w="25400">
            <a:solidFill>
              <a:srgbClr val="FF0000"/>
            </a:solidFill>
            <a:round/>
          </a:ln>
          <a:extLst>
            <a:ext uri="{909E8E84-426E-40DD-AFC4-6F175D3DCCD1}">
              <a14:hiddenFill xmlns:a14="http://schemas.microsoft.com/office/drawing/2010/main">
                <a:noFill/>
              </a14:hiddenFill>
            </a:ext>
          </a:extLst>
        </p:spPr>
      </p:cxnSp>
      <p:cxnSp>
        <p:nvCxnSpPr>
          <p:cNvPr id="40980" name="AutoShape 37"/>
          <p:cNvCxnSpPr>
            <a:cxnSpLocks noChangeShapeType="1"/>
            <a:stCxn id="40976" idx="6"/>
            <a:endCxn id="40978" idx="2"/>
          </p:cNvCxnSpPr>
          <p:nvPr/>
        </p:nvCxnSpPr>
        <p:spPr bwMode="auto">
          <a:xfrm flipV="1">
            <a:off x="7848600" y="3924300"/>
            <a:ext cx="990600" cy="76200"/>
          </a:xfrm>
          <a:prstGeom prst="straightConnector1">
            <a:avLst/>
          </a:prstGeom>
          <a:noFill/>
          <a:ln w="9525">
            <a:solidFill>
              <a:schemeClr val="tx1"/>
            </a:solidFill>
            <a:round/>
          </a:ln>
          <a:extLst>
            <a:ext uri="{909E8E84-426E-40DD-AFC4-6F175D3DCCD1}">
              <a14:hiddenFill xmlns:a14="http://schemas.microsoft.com/office/drawing/2010/main">
                <a:noFill/>
              </a14:hiddenFill>
            </a:ext>
          </a:ex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 calcmode="lin" valueType="num">
                                      <p:cBhvr additive="base">
                                        <p:cTn id="7" dur="500" fill="hold"/>
                                        <p:tgtEl>
                                          <p:spTgt spid="6963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64"/>
                                        </p:tgtEl>
                                        <p:attrNameLst>
                                          <p:attrName>style.visibility</p:attrName>
                                        </p:attrNameLst>
                                      </p:cBhvr>
                                      <p:to>
                                        <p:strVal val="visible"/>
                                      </p:to>
                                    </p:set>
                                    <p:anim calcmode="lin" valueType="num">
                                      <p:cBhvr additive="base">
                                        <p:cTn id="13" dur="500" fill="hold"/>
                                        <p:tgtEl>
                                          <p:spTgt spid="40964"/>
                                        </p:tgtEl>
                                        <p:attrNameLst>
                                          <p:attrName>ppt_x</p:attrName>
                                        </p:attrNameLst>
                                      </p:cBhvr>
                                      <p:tavLst>
                                        <p:tav tm="0">
                                          <p:val>
                                            <p:strVal val="#ppt_x"/>
                                          </p:val>
                                        </p:tav>
                                        <p:tav tm="100000">
                                          <p:val>
                                            <p:strVal val="#ppt_x"/>
                                          </p:val>
                                        </p:tav>
                                      </p:tavLst>
                                    </p:anim>
                                    <p:anim calcmode="lin" valueType="num">
                                      <p:cBhvr additive="base">
                                        <p:cTn id="14" dur="500" fill="hold"/>
                                        <p:tgtEl>
                                          <p:spTgt spid="4096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0965"/>
                                        </p:tgtEl>
                                        <p:attrNameLst>
                                          <p:attrName>style.visibility</p:attrName>
                                        </p:attrNameLst>
                                      </p:cBhvr>
                                      <p:to>
                                        <p:strVal val="visible"/>
                                      </p:to>
                                    </p:set>
                                    <p:anim calcmode="lin" valueType="num">
                                      <p:cBhvr additive="base">
                                        <p:cTn id="17" dur="500" fill="hold"/>
                                        <p:tgtEl>
                                          <p:spTgt spid="40965"/>
                                        </p:tgtEl>
                                        <p:attrNameLst>
                                          <p:attrName>ppt_x</p:attrName>
                                        </p:attrNameLst>
                                      </p:cBhvr>
                                      <p:tavLst>
                                        <p:tav tm="0">
                                          <p:val>
                                            <p:strVal val="#ppt_x"/>
                                          </p:val>
                                        </p:tav>
                                        <p:tav tm="100000">
                                          <p:val>
                                            <p:strVal val="#ppt_x"/>
                                          </p:val>
                                        </p:tav>
                                      </p:tavLst>
                                    </p:anim>
                                    <p:anim calcmode="lin" valueType="num">
                                      <p:cBhvr additive="base">
                                        <p:cTn id="18" dur="500" fill="hold"/>
                                        <p:tgtEl>
                                          <p:spTgt spid="4096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0966"/>
                                        </p:tgtEl>
                                        <p:attrNameLst>
                                          <p:attrName>style.visibility</p:attrName>
                                        </p:attrNameLst>
                                      </p:cBhvr>
                                      <p:to>
                                        <p:strVal val="visible"/>
                                      </p:to>
                                    </p:set>
                                    <p:anim calcmode="lin" valueType="num">
                                      <p:cBhvr additive="base">
                                        <p:cTn id="21" dur="500" fill="hold"/>
                                        <p:tgtEl>
                                          <p:spTgt spid="40966"/>
                                        </p:tgtEl>
                                        <p:attrNameLst>
                                          <p:attrName>ppt_x</p:attrName>
                                        </p:attrNameLst>
                                      </p:cBhvr>
                                      <p:tavLst>
                                        <p:tav tm="0">
                                          <p:val>
                                            <p:strVal val="#ppt_x"/>
                                          </p:val>
                                        </p:tav>
                                        <p:tav tm="100000">
                                          <p:val>
                                            <p:strVal val="#ppt_x"/>
                                          </p:val>
                                        </p:tav>
                                      </p:tavLst>
                                    </p:anim>
                                    <p:anim calcmode="lin" valueType="num">
                                      <p:cBhvr additive="base">
                                        <p:cTn id="22" dur="500" fill="hold"/>
                                        <p:tgtEl>
                                          <p:spTgt spid="4096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0967"/>
                                        </p:tgtEl>
                                        <p:attrNameLst>
                                          <p:attrName>style.visibility</p:attrName>
                                        </p:attrNameLst>
                                      </p:cBhvr>
                                      <p:to>
                                        <p:strVal val="visible"/>
                                      </p:to>
                                    </p:set>
                                    <p:anim calcmode="lin" valueType="num">
                                      <p:cBhvr additive="base">
                                        <p:cTn id="25" dur="500" fill="hold"/>
                                        <p:tgtEl>
                                          <p:spTgt spid="40967"/>
                                        </p:tgtEl>
                                        <p:attrNameLst>
                                          <p:attrName>ppt_x</p:attrName>
                                        </p:attrNameLst>
                                      </p:cBhvr>
                                      <p:tavLst>
                                        <p:tav tm="0">
                                          <p:val>
                                            <p:strVal val="#ppt_x"/>
                                          </p:val>
                                        </p:tav>
                                        <p:tav tm="100000">
                                          <p:val>
                                            <p:strVal val="#ppt_x"/>
                                          </p:val>
                                        </p:tav>
                                      </p:tavLst>
                                    </p:anim>
                                    <p:anim calcmode="lin" valueType="num">
                                      <p:cBhvr additive="base">
                                        <p:cTn id="26" dur="500" fill="hold"/>
                                        <p:tgtEl>
                                          <p:spTgt spid="4096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0968"/>
                                        </p:tgtEl>
                                        <p:attrNameLst>
                                          <p:attrName>style.visibility</p:attrName>
                                        </p:attrNameLst>
                                      </p:cBhvr>
                                      <p:to>
                                        <p:strVal val="visible"/>
                                      </p:to>
                                    </p:set>
                                    <p:anim calcmode="lin" valueType="num">
                                      <p:cBhvr additive="base">
                                        <p:cTn id="29" dur="500" fill="hold"/>
                                        <p:tgtEl>
                                          <p:spTgt spid="40968"/>
                                        </p:tgtEl>
                                        <p:attrNameLst>
                                          <p:attrName>ppt_x</p:attrName>
                                        </p:attrNameLst>
                                      </p:cBhvr>
                                      <p:tavLst>
                                        <p:tav tm="0">
                                          <p:val>
                                            <p:strVal val="#ppt_x"/>
                                          </p:val>
                                        </p:tav>
                                        <p:tav tm="100000">
                                          <p:val>
                                            <p:strVal val="#ppt_x"/>
                                          </p:val>
                                        </p:tav>
                                      </p:tavLst>
                                    </p:anim>
                                    <p:anim calcmode="lin" valueType="num">
                                      <p:cBhvr additive="base">
                                        <p:cTn id="30" dur="500" fill="hold"/>
                                        <p:tgtEl>
                                          <p:spTgt spid="40968"/>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40969"/>
                                        </p:tgtEl>
                                        <p:attrNameLst>
                                          <p:attrName>style.visibility</p:attrName>
                                        </p:attrNameLst>
                                      </p:cBhvr>
                                      <p:to>
                                        <p:strVal val="visible"/>
                                      </p:to>
                                    </p:set>
                                    <p:anim calcmode="lin" valueType="num">
                                      <p:cBhvr additive="base">
                                        <p:cTn id="33" dur="500" fill="hold"/>
                                        <p:tgtEl>
                                          <p:spTgt spid="40969"/>
                                        </p:tgtEl>
                                        <p:attrNameLst>
                                          <p:attrName>ppt_x</p:attrName>
                                        </p:attrNameLst>
                                      </p:cBhvr>
                                      <p:tavLst>
                                        <p:tav tm="0">
                                          <p:val>
                                            <p:strVal val="#ppt_x"/>
                                          </p:val>
                                        </p:tav>
                                        <p:tav tm="100000">
                                          <p:val>
                                            <p:strVal val="#ppt_x"/>
                                          </p:val>
                                        </p:tav>
                                      </p:tavLst>
                                    </p:anim>
                                    <p:anim calcmode="lin" valueType="num">
                                      <p:cBhvr additive="base">
                                        <p:cTn id="34" dur="500" fill="hold"/>
                                        <p:tgtEl>
                                          <p:spTgt spid="40969"/>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40970"/>
                                        </p:tgtEl>
                                        <p:attrNameLst>
                                          <p:attrName>style.visibility</p:attrName>
                                        </p:attrNameLst>
                                      </p:cBhvr>
                                      <p:to>
                                        <p:strVal val="visible"/>
                                      </p:to>
                                    </p:set>
                                    <p:anim calcmode="lin" valueType="num">
                                      <p:cBhvr additive="base">
                                        <p:cTn id="37" dur="500" fill="hold"/>
                                        <p:tgtEl>
                                          <p:spTgt spid="40970"/>
                                        </p:tgtEl>
                                        <p:attrNameLst>
                                          <p:attrName>ppt_x</p:attrName>
                                        </p:attrNameLst>
                                      </p:cBhvr>
                                      <p:tavLst>
                                        <p:tav tm="0">
                                          <p:val>
                                            <p:strVal val="#ppt_x"/>
                                          </p:val>
                                        </p:tav>
                                        <p:tav tm="100000">
                                          <p:val>
                                            <p:strVal val="#ppt_x"/>
                                          </p:val>
                                        </p:tav>
                                      </p:tavLst>
                                    </p:anim>
                                    <p:anim calcmode="lin" valueType="num">
                                      <p:cBhvr additive="base">
                                        <p:cTn id="38" dur="500" fill="hold"/>
                                        <p:tgtEl>
                                          <p:spTgt spid="40970"/>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0971"/>
                                        </p:tgtEl>
                                        <p:attrNameLst>
                                          <p:attrName>style.visibility</p:attrName>
                                        </p:attrNameLst>
                                      </p:cBhvr>
                                      <p:to>
                                        <p:strVal val="visible"/>
                                      </p:to>
                                    </p:set>
                                    <p:anim calcmode="lin" valueType="num">
                                      <p:cBhvr additive="base">
                                        <p:cTn id="41" dur="500" fill="hold"/>
                                        <p:tgtEl>
                                          <p:spTgt spid="40971"/>
                                        </p:tgtEl>
                                        <p:attrNameLst>
                                          <p:attrName>ppt_x</p:attrName>
                                        </p:attrNameLst>
                                      </p:cBhvr>
                                      <p:tavLst>
                                        <p:tav tm="0">
                                          <p:val>
                                            <p:strVal val="#ppt_x"/>
                                          </p:val>
                                        </p:tav>
                                        <p:tav tm="100000">
                                          <p:val>
                                            <p:strVal val="#ppt_x"/>
                                          </p:val>
                                        </p:tav>
                                      </p:tavLst>
                                    </p:anim>
                                    <p:anim calcmode="lin" valueType="num">
                                      <p:cBhvr additive="base">
                                        <p:cTn id="42" dur="500" fill="hold"/>
                                        <p:tgtEl>
                                          <p:spTgt spid="4097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0972"/>
                                        </p:tgtEl>
                                        <p:attrNameLst>
                                          <p:attrName>style.visibility</p:attrName>
                                        </p:attrNameLst>
                                      </p:cBhvr>
                                      <p:to>
                                        <p:strVal val="visible"/>
                                      </p:to>
                                    </p:set>
                                    <p:anim calcmode="lin" valueType="num">
                                      <p:cBhvr additive="base">
                                        <p:cTn id="45" dur="500" fill="hold"/>
                                        <p:tgtEl>
                                          <p:spTgt spid="40972"/>
                                        </p:tgtEl>
                                        <p:attrNameLst>
                                          <p:attrName>ppt_x</p:attrName>
                                        </p:attrNameLst>
                                      </p:cBhvr>
                                      <p:tavLst>
                                        <p:tav tm="0">
                                          <p:val>
                                            <p:strVal val="#ppt_x"/>
                                          </p:val>
                                        </p:tav>
                                        <p:tav tm="100000">
                                          <p:val>
                                            <p:strVal val="#ppt_x"/>
                                          </p:val>
                                        </p:tav>
                                      </p:tavLst>
                                    </p:anim>
                                    <p:anim calcmode="lin" valueType="num">
                                      <p:cBhvr additive="base">
                                        <p:cTn id="46" dur="500" fill="hold"/>
                                        <p:tgtEl>
                                          <p:spTgt spid="40972"/>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0973"/>
                                        </p:tgtEl>
                                        <p:attrNameLst>
                                          <p:attrName>style.visibility</p:attrName>
                                        </p:attrNameLst>
                                      </p:cBhvr>
                                      <p:to>
                                        <p:strVal val="visible"/>
                                      </p:to>
                                    </p:set>
                                    <p:anim calcmode="lin" valueType="num">
                                      <p:cBhvr additive="base">
                                        <p:cTn id="49" dur="500" fill="hold"/>
                                        <p:tgtEl>
                                          <p:spTgt spid="40973"/>
                                        </p:tgtEl>
                                        <p:attrNameLst>
                                          <p:attrName>ppt_x</p:attrName>
                                        </p:attrNameLst>
                                      </p:cBhvr>
                                      <p:tavLst>
                                        <p:tav tm="0">
                                          <p:val>
                                            <p:strVal val="#ppt_x"/>
                                          </p:val>
                                        </p:tav>
                                        <p:tav tm="100000">
                                          <p:val>
                                            <p:strVal val="#ppt_x"/>
                                          </p:val>
                                        </p:tav>
                                      </p:tavLst>
                                    </p:anim>
                                    <p:anim calcmode="lin" valueType="num">
                                      <p:cBhvr additive="base">
                                        <p:cTn id="50" dur="500" fill="hold"/>
                                        <p:tgtEl>
                                          <p:spTgt spid="40973"/>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40974"/>
                                        </p:tgtEl>
                                        <p:attrNameLst>
                                          <p:attrName>style.visibility</p:attrName>
                                        </p:attrNameLst>
                                      </p:cBhvr>
                                      <p:to>
                                        <p:strVal val="visible"/>
                                      </p:to>
                                    </p:set>
                                    <p:anim calcmode="lin" valueType="num">
                                      <p:cBhvr additive="base">
                                        <p:cTn id="53" dur="500" fill="hold"/>
                                        <p:tgtEl>
                                          <p:spTgt spid="40974"/>
                                        </p:tgtEl>
                                        <p:attrNameLst>
                                          <p:attrName>ppt_x</p:attrName>
                                        </p:attrNameLst>
                                      </p:cBhvr>
                                      <p:tavLst>
                                        <p:tav tm="0">
                                          <p:val>
                                            <p:strVal val="#ppt_x"/>
                                          </p:val>
                                        </p:tav>
                                        <p:tav tm="100000">
                                          <p:val>
                                            <p:strVal val="#ppt_x"/>
                                          </p:val>
                                        </p:tav>
                                      </p:tavLst>
                                    </p:anim>
                                    <p:anim calcmode="lin" valueType="num">
                                      <p:cBhvr additive="base">
                                        <p:cTn id="54" dur="500" fill="hold"/>
                                        <p:tgtEl>
                                          <p:spTgt spid="40974"/>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40975"/>
                                        </p:tgtEl>
                                        <p:attrNameLst>
                                          <p:attrName>style.visibility</p:attrName>
                                        </p:attrNameLst>
                                      </p:cBhvr>
                                      <p:to>
                                        <p:strVal val="visible"/>
                                      </p:to>
                                    </p:set>
                                    <p:anim calcmode="lin" valueType="num">
                                      <p:cBhvr additive="base">
                                        <p:cTn id="57" dur="500" fill="hold"/>
                                        <p:tgtEl>
                                          <p:spTgt spid="40975"/>
                                        </p:tgtEl>
                                        <p:attrNameLst>
                                          <p:attrName>ppt_x</p:attrName>
                                        </p:attrNameLst>
                                      </p:cBhvr>
                                      <p:tavLst>
                                        <p:tav tm="0">
                                          <p:val>
                                            <p:strVal val="#ppt_x"/>
                                          </p:val>
                                        </p:tav>
                                        <p:tav tm="100000">
                                          <p:val>
                                            <p:strVal val="#ppt_x"/>
                                          </p:val>
                                        </p:tav>
                                      </p:tavLst>
                                    </p:anim>
                                    <p:anim calcmode="lin" valueType="num">
                                      <p:cBhvr additive="base">
                                        <p:cTn id="58" dur="500" fill="hold"/>
                                        <p:tgtEl>
                                          <p:spTgt spid="40975"/>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7" presetClass="emph" presetSubtype="0" fill="hold" grpId="1" nodeType="clickEffect">
                                  <p:stCondLst>
                                    <p:cond delay="0"/>
                                  </p:stCondLst>
                                  <p:childTnLst>
                                    <p:animClr clrSpc="rgb" dir="cw">
                                      <p:cBhvr override="childStyle">
                                        <p:cTn id="62" dur="250" autoRev="1" fill="hold"/>
                                        <p:tgtEl>
                                          <p:spTgt spid="40965"/>
                                        </p:tgtEl>
                                        <p:attrNameLst>
                                          <p:attrName>style.color</p:attrName>
                                        </p:attrNameLst>
                                      </p:cBhvr>
                                      <p:to>
                                        <a:schemeClr val="bg1"/>
                                      </p:to>
                                    </p:animClr>
                                    <p:animClr clrSpc="rgb" dir="cw">
                                      <p:cBhvr>
                                        <p:cTn id="63" dur="250" autoRev="1" fill="hold"/>
                                        <p:tgtEl>
                                          <p:spTgt spid="40965"/>
                                        </p:tgtEl>
                                        <p:attrNameLst>
                                          <p:attrName>fillcolor</p:attrName>
                                        </p:attrNameLst>
                                      </p:cBhvr>
                                      <p:to>
                                        <a:schemeClr val="bg1"/>
                                      </p:to>
                                    </p:animClr>
                                    <p:set>
                                      <p:cBhvr>
                                        <p:cTn id="64" dur="250" autoRev="1" fill="hold"/>
                                        <p:tgtEl>
                                          <p:spTgt spid="40965"/>
                                        </p:tgtEl>
                                        <p:attrNameLst>
                                          <p:attrName>fill.type</p:attrName>
                                        </p:attrNameLst>
                                      </p:cBhvr>
                                      <p:to>
                                        <p:strVal val="solid"/>
                                      </p:to>
                                    </p:set>
                                    <p:set>
                                      <p:cBhvr>
                                        <p:cTn id="65" dur="250" autoRev="1" fill="hold"/>
                                        <p:tgtEl>
                                          <p:spTgt spid="40965"/>
                                        </p:tgtEl>
                                        <p:attrNameLst>
                                          <p:attrName>fill.on</p:attrName>
                                        </p:attrNameLst>
                                      </p:cBhvr>
                                      <p:to>
                                        <p:strVal val="true"/>
                                      </p:to>
                                    </p:set>
                                  </p:childTnLst>
                                </p:cTn>
                              </p:par>
                              <p:par>
                                <p:cTn id="66" presetID="27" presetClass="emph" presetSubtype="0" fill="hold" grpId="1" nodeType="withEffect">
                                  <p:stCondLst>
                                    <p:cond delay="0"/>
                                  </p:stCondLst>
                                  <p:childTnLst>
                                    <p:animClr clrSpc="rgb" dir="cw">
                                      <p:cBhvr override="childStyle">
                                        <p:cTn id="67" dur="250" autoRev="1" fill="hold"/>
                                        <p:tgtEl>
                                          <p:spTgt spid="40964"/>
                                        </p:tgtEl>
                                        <p:attrNameLst>
                                          <p:attrName>style.color</p:attrName>
                                        </p:attrNameLst>
                                      </p:cBhvr>
                                      <p:to>
                                        <a:schemeClr val="bg1"/>
                                      </p:to>
                                    </p:animClr>
                                    <p:animClr clrSpc="rgb" dir="cw">
                                      <p:cBhvr>
                                        <p:cTn id="68" dur="250" autoRev="1" fill="hold"/>
                                        <p:tgtEl>
                                          <p:spTgt spid="40964"/>
                                        </p:tgtEl>
                                        <p:attrNameLst>
                                          <p:attrName>fillcolor</p:attrName>
                                        </p:attrNameLst>
                                      </p:cBhvr>
                                      <p:to>
                                        <a:schemeClr val="bg1"/>
                                      </p:to>
                                    </p:animClr>
                                    <p:set>
                                      <p:cBhvr>
                                        <p:cTn id="69" dur="250" autoRev="1" fill="hold"/>
                                        <p:tgtEl>
                                          <p:spTgt spid="40964"/>
                                        </p:tgtEl>
                                        <p:attrNameLst>
                                          <p:attrName>fill.type</p:attrName>
                                        </p:attrNameLst>
                                      </p:cBhvr>
                                      <p:to>
                                        <p:strVal val="solid"/>
                                      </p:to>
                                    </p:set>
                                    <p:set>
                                      <p:cBhvr>
                                        <p:cTn id="70" dur="250" autoRev="1" fill="hold"/>
                                        <p:tgtEl>
                                          <p:spTgt spid="40964"/>
                                        </p:tgtEl>
                                        <p:attrNameLst>
                                          <p:attrName>fill.on</p:attrName>
                                        </p:attrNameLst>
                                      </p:cBhvr>
                                      <p:to>
                                        <p:strVal val="true"/>
                                      </p:to>
                                    </p:set>
                                  </p:childTnLst>
                                </p:cTn>
                              </p:par>
                            </p:childTnLst>
                          </p:cTn>
                        </p:par>
                        <p:par>
                          <p:cTn id="71" fill="hold">
                            <p:stCondLst>
                              <p:cond delay="500"/>
                            </p:stCondLst>
                            <p:childTnLst>
                              <p:par>
                                <p:cTn id="72" presetID="27" presetClass="emph" presetSubtype="0" fill="hold" grpId="2" nodeType="afterEffect">
                                  <p:stCondLst>
                                    <p:cond delay="0"/>
                                  </p:stCondLst>
                                  <p:childTnLst>
                                    <p:animClr clrSpc="rgb" dir="cw">
                                      <p:cBhvr override="childStyle">
                                        <p:cTn id="73" dur="250" autoRev="1" fill="hold"/>
                                        <p:tgtEl>
                                          <p:spTgt spid="40965"/>
                                        </p:tgtEl>
                                        <p:attrNameLst>
                                          <p:attrName>style.color</p:attrName>
                                        </p:attrNameLst>
                                      </p:cBhvr>
                                      <p:to>
                                        <a:schemeClr val="bg1"/>
                                      </p:to>
                                    </p:animClr>
                                    <p:animClr clrSpc="rgb" dir="cw">
                                      <p:cBhvr>
                                        <p:cTn id="74" dur="250" autoRev="1" fill="hold"/>
                                        <p:tgtEl>
                                          <p:spTgt spid="40965"/>
                                        </p:tgtEl>
                                        <p:attrNameLst>
                                          <p:attrName>fillcolor</p:attrName>
                                        </p:attrNameLst>
                                      </p:cBhvr>
                                      <p:to>
                                        <a:schemeClr val="bg1"/>
                                      </p:to>
                                    </p:animClr>
                                    <p:set>
                                      <p:cBhvr>
                                        <p:cTn id="75" dur="250" autoRev="1" fill="hold"/>
                                        <p:tgtEl>
                                          <p:spTgt spid="40965"/>
                                        </p:tgtEl>
                                        <p:attrNameLst>
                                          <p:attrName>fill.type</p:attrName>
                                        </p:attrNameLst>
                                      </p:cBhvr>
                                      <p:to>
                                        <p:strVal val="solid"/>
                                      </p:to>
                                    </p:set>
                                    <p:set>
                                      <p:cBhvr>
                                        <p:cTn id="76" dur="250" autoRev="1" fill="hold"/>
                                        <p:tgtEl>
                                          <p:spTgt spid="40965"/>
                                        </p:tgtEl>
                                        <p:attrNameLst>
                                          <p:attrName>fill.on</p:attrName>
                                        </p:attrNameLst>
                                      </p:cBhvr>
                                      <p:to>
                                        <p:strVal val="true"/>
                                      </p:to>
                                    </p:set>
                                  </p:childTnLst>
                                </p:cTn>
                              </p:par>
                              <p:par>
                                <p:cTn id="77" presetID="27" presetClass="emph" presetSubtype="0" fill="hold" grpId="2" nodeType="withEffect">
                                  <p:stCondLst>
                                    <p:cond delay="0"/>
                                  </p:stCondLst>
                                  <p:childTnLst>
                                    <p:animClr clrSpc="rgb" dir="cw">
                                      <p:cBhvr override="childStyle">
                                        <p:cTn id="78" dur="250" autoRev="1" fill="hold"/>
                                        <p:tgtEl>
                                          <p:spTgt spid="40964"/>
                                        </p:tgtEl>
                                        <p:attrNameLst>
                                          <p:attrName>style.color</p:attrName>
                                        </p:attrNameLst>
                                      </p:cBhvr>
                                      <p:to>
                                        <a:schemeClr val="bg1"/>
                                      </p:to>
                                    </p:animClr>
                                    <p:animClr clrSpc="rgb" dir="cw">
                                      <p:cBhvr>
                                        <p:cTn id="79" dur="250" autoRev="1" fill="hold"/>
                                        <p:tgtEl>
                                          <p:spTgt spid="40964"/>
                                        </p:tgtEl>
                                        <p:attrNameLst>
                                          <p:attrName>fillcolor</p:attrName>
                                        </p:attrNameLst>
                                      </p:cBhvr>
                                      <p:to>
                                        <a:schemeClr val="bg1"/>
                                      </p:to>
                                    </p:animClr>
                                    <p:set>
                                      <p:cBhvr>
                                        <p:cTn id="80" dur="250" autoRev="1" fill="hold"/>
                                        <p:tgtEl>
                                          <p:spTgt spid="40964"/>
                                        </p:tgtEl>
                                        <p:attrNameLst>
                                          <p:attrName>fill.type</p:attrName>
                                        </p:attrNameLst>
                                      </p:cBhvr>
                                      <p:to>
                                        <p:strVal val="solid"/>
                                      </p:to>
                                    </p:set>
                                    <p:set>
                                      <p:cBhvr>
                                        <p:cTn id="81" dur="250" autoRev="1" fill="hold"/>
                                        <p:tgtEl>
                                          <p:spTgt spid="40964"/>
                                        </p:tgtEl>
                                        <p:attrNameLst>
                                          <p:attrName>fill.on</p:attrName>
                                        </p:attrNameLst>
                                      </p:cBhvr>
                                      <p:to>
                                        <p:strVal val="true"/>
                                      </p:to>
                                    </p:set>
                                  </p:childTnLst>
                                </p:cTn>
                              </p:par>
                            </p:childTnLst>
                          </p:cTn>
                        </p:par>
                        <p:par>
                          <p:cTn id="82" fill="hold">
                            <p:stCondLst>
                              <p:cond delay="1000"/>
                            </p:stCondLst>
                            <p:childTnLst>
                              <p:par>
                                <p:cTn id="83" presetID="27" presetClass="emph" presetSubtype="0" fill="hold" grpId="3" nodeType="afterEffect">
                                  <p:stCondLst>
                                    <p:cond delay="0"/>
                                  </p:stCondLst>
                                  <p:childTnLst>
                                    <p:animClr clrSpc="rgb" dir="cw">
                                      <p:cBhvr override="childStyle">
                                        <p:cTn id="84" dur="250" autoRev="1" fill="hold"/>
                                        <p:tgtEl>
                                          <p:spTgt spid="40964"/>
                                        </p:tgtEl>
                                        <p:attrNameLst>
                                          <p:attrName>style.color</p:attrName>
                                        </p:attrNameLst>
                                      </p:cBhvr>
                                      <p:to>
                                        <a:schemeClr val="bg1"/>
                                      </p:to>
                                    </p:animClr>
                                    <p:animClr clrSpc="rgb" dir="cw">
                                      <p:cBhvr>
                                        <p:cTn id="85" dur="250" autoRev="1" fill="hold"/>
                                        <p:tgtEl>
                                          <p:spTgt spid="40964"/>
                                        </p:tgtEl>
                                        <p:attrNameLst>
                                          <p:attrName>fillcolor</p:attrName>
                                        </p:attrNameLst>
                                      </p:cBhvr>
                                      <p:to>
                                        <a:schemeClr val="bg1"/>
                                      </p:to>
                                    </p:animClr>
                                    <p:set>
                                      <p:cBhvr>
                                        <p:cTn id="86" dur="250" autoRev="1" fill="hold"/>
                                        <p:tgtEl>
                                          <p:spTgt spid="40964"/>
                                        </p:tgtEl>
                                        <p:attrNameLst>
                                          <p:attrName>fill.type</p:attrName>
                                        </p:attrNameLst>
                                      </p:cBhvr>
                                      <p:to>
                                        <p:strVal val="solid"/>
                                      </p:to>
                                    </p:set>
                                    <p:set>
                                      <p:cBhvr>
                                        <p:cTn id="87" dur="250" autoRev="1" fill="hold"/>
                                        <p:tgtEl>
                                          <p:spTgt spid="40964"/>
                                        </p:tgtEl>
                                        <p:attrNameLst>
                                          <p:attrName>fill.on</p:attrName>
                                        </p:attrNameLst>
                                      </p:cBhvr>
                                      <p:to>
                                        <p:strVal val="true"/>
                                      </p:to>
                                    </p:set>
                                  </p:childTnLst>
                                </p:cTn>
                              </p:par>
                              <p:par>
                                <p:cTn id="88" presetID="27" presetClass="emph" presetSubtype="0" fill="hold" grpId="3" nodeType="withEffect">
                                  <p:stCondLst>
                                    <p:cond delay="0"/>
                                  </p:stCondLst>
                                  <p:childTnLst>
                                    <p:animClr clrSpc="rgb" dir="cw">
                                      <p:cBhvr override="childStyle">
                                        <p:cTn id="89" dur="250" autoRev="1" fill="hold"/>
                                        <p:tgtEl>
                                          <p:spTgt spid="40965"/>
                                        </p:tgtEl>
                                        <p:attrNameLst>
                                          <p:attrName>style.color</p:attrName>
                                        </p:attrNameLst>
                                      </p:cBhvr>
                                      <p:to>
                                        <a:schemeClr val="bg1"/>
                                      </p:to>
                                    </p:animClr>
                                    <p:animClr clrSpc="rgb" dir="cw">
                                      <p:cBhvr>
                                        <p:cTn id="90" dur="250" autoRev="1" fill="hold"/>
                                        <p:tgtEl>
                                          <p:spTgt spid="40965"/>
                                        </p:tgtEl>
                                        <p:attrNameLst>
                                          <p:attrName>fillcolor</p:attrName>
                                        </p:attrNameLst>
                                      </p:cBhvr>
                                      <p:to>
                                        <a:schemeClr val="bg1"/>
                                      </p:to>
                                    </p:animClr>
                                    <p:set>
                                      <p:cBhvr>
                                        <p:cTn id="91" dur="250" autoRev="1" fill="hold"/>
                                        <p:tgtEl>
                                          <p:spTgt spid="40965"/>
                                        </p:tgtEl>
                                        <p:attrNameLst>
                                          <p:attrName>fill.type</p:attrName>
                                        </p:attrNameLst>
                                      </p:cBhvr>
                                      <p:to>
                                        <p:strVal val="solid"/>
                                      </p:to>
                                    </p:set>
                                    <p:set>
                                      <p:cBhvr>
                                        <p:cTn id="92" dur="250" autoRev="1" fill="hold"/>
                                        <p:tgtEl>
                                          <p:spTgt spid="40965"/>
                                        </p:tgtEl>
                                        <p:attrNameLst>
                                          <p:attrName>fill.on</p:attrName>
                                        </p:attrNameLst>
                                      </p:cBhvr>
                                      <p:to>
                                        <p:strVal val="true"/>
                                      </p:to>
                                    </p:set>
                                  </p:childTnLst>
                                </p:cTn>
                              </p:par>
                            </p:childTnLst>
                          </p:cTn>
                        </p:par>
                      </p:childTnLst>
                    </p:cTn>
                  </p:par>
                  <p:par>
                    <p:cTn id="93" fill="hold">
                      <p:stCondLst>
                        <p:cond delay="indefinite"/>
                      </p:stCondLst>
                      <p:childTnLst>
                        <p:par>
                          <p:cTn id="94" fill="hold">
                            <p:stCondLst>
                              <p:cond delay="0"/>
                            </p:stCondLst>
                            <p:childTnLst>
                              <p:par>
                                <p:cTn id="95" presetID="8" presetClass="emph" presetSubtype="0" fill="hold" nodeType="clickEffect">
                                  <p:stCondLst>
                                    <p:cond delay="0"/>
                                  </p:stCondLst>
                                  <p:childTnLst>
                                    <p:animRot by="21600000">
                                      <p:cBhvr>
                                        <p:cTn id="96" dur="2000" fill="hold"/>
                                        <p:tgtEl>
                                          <p:spTgt spid="40966"/>
                                        </p:tgtEl>
                                        <p:attrNameLst>
                                          <p:attrName>r</p:attrName>
                                        </p:attrNameLst>
                                      </p:cBhvr>
                                    </p:animRot>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40976"/>
                                        </p:tgtEl>
                                        <p:attrNameLst>
                                          <p:attrName>style.visibility</p:attrName>
                                        </p:attrNameLst>
                                      </p:cBhvr>
                                      <p:to>
                                        <p:strVal val="visible"/>
                                      </p:to>
                                    </p:set>
                                    <p:anim calcmode="lin" valueType="num">
                                      <p:cBhvr additive="base">
                                        <p:cTn id="101" dur="500" fill="hold"/>
                                        <p:tgtEl>
                                          <p:spTgt spid="40976"/>
                                        </p:tgtEl>
                                        <p:attrNameLst>
                                          <p:attrName>ppt_x</p:attrName>
                                        </p:attrNameLst>
                                      </p:cBhvr>
                                      <p:tavLst>
                                        <p:tav tm="0">
                                          <p:val>
                                            <p:strVal val="#ppt_x"/>
                                          </p:val>
                                        </p:tav>
                                        <p:tav tm="100000">
                                          <p:val>
                                            <p:strVal val="#ppt_x"/>
                                          </p:val>
                                        </p:tav>
                                      </p:tavLst>
                                    </p:anim>
                                    <p:anim calcmode="lin" valueType="num">
                                      <p:cBhvr additive="base">
                                        <p:cTn id="102" dur="500" fill="hold"/>
                                        <p:tgtEl>
                                          <p:spTgt spid="40976"/>
                                        </p:tgtEl>
                                        <p:attrNameLst>
                                          <p:attrName>ppt_y</p:attrName>
                                        </p:attrNameLst>
                                      </p:cBhvr>
                                      <p:tavLst>
                                        <p:tav tm="0">
                                          <p:val>
                                            <p:strVal val="1+#ppt_h/2"/>
                                          </p:val>
                                        </p:tav>
                                        <p:tav tm="100000">
                                          <p:val>
                                            <p:strVal val="#ppt_y"/>
                                          </p:val>
                                        </p:tav>
                                      </p:tavLst>
                                    </p:anim>
                                  </p:childTnLst>
                                </p:cTn>
                              </p:par>
                              <p:par>
                                <p:cTn id="103" presetID="2" presetClass="entr" presetSubtype="4" fill="hold" grpId="0" nodeType="withEffect">
                                  <p:stCondLst>
                                    <p:cond delay="0"/>
                                  </p:stCondLst>
                                  <p:childTnLst>
                                    <p:set>
                                      <p:cBhvr>
                                        <p:cTn id="104" dur="1" fill="hold">
                                          <p:stCondLst>
                                            <p:cond delay="0"/>
                                          </p:stCondLst>
                                        </p:cTn>
                                        <p:tgtEl>
                                          <p:spTgt spid="40977"/>
                                        </p:tgtEl>
                                        <p:attrNameLst>
                                          <p:attrName>style.visibility</p:attrName>
                                        </p:attrNameLst>
                                      </p:cBhvr>
                                      <p:to>
                                        <p:strVal val="visible"/>
                                      </p:to>
                                    </p:set>
                                    <p:anim calcmode="lin" valueType="num">
                                      <p:cBhvr additive="base">
                                        <p:cTn id="105" dur="500" fill="hold"/>
                                        <p:tgtEl>
                                          <p:spTgt spid="40977"/>
                                        </p:tgtEl>
                                        <p:attrNameLst>
                                          <p:attrName>ppt_x</p:attrName>
                                        </p:attrNameLst>
                                      </p:cBhvr>
                                      <p:tavLst>
                                        <p:tav tm="0">
                                          <p:val>
                                            <p:strVal val="#ppt_x"/>
                                          </p:val>
                                        </p:tav>
                                        <p:tav tm="100000">
                                          <p:val>
                                            <p:strVal val="#ppt_x"/>
                                          </p:val>
                                        </p:tav>
                                      </p:tavLst>
                                    </p:anim>
                                    <p:anim calcmode="lin" valueType="num">
                                      <p:cBhvr additive="base">
                                        <p:cTn id="106" dur="500" fill="hold"/>
                                        <p:tgtEl>
                                          <p:spTgt spid="40977"/>
                                        </p:tgtEl>
                                        <p:attrNameLst>
                                          <p:attrName>ppt_y</p:attrName>
                                        </p:attrNameLst>
                                      </p:cBhvr>
                                      <p:tavLst>
                                        <p:tav tm="0">
                                          <p:val>
                                            <p:strVal val="1+#ppt_h/2"/>
                                          </p:val>
                                        </p:tav>
                                        <p:tav tm="100000">
                                          <p:val>
                                            <p:strVal val="#ppt_y"/>
                                          </p:val>
                                        </p:tav>
                                      </p:tavLst>
                                    </p:anim>
                                  </p:childTnLst>
                                </p:cTn>
                              </p:par>
                              <p:par>
                                <p:cTn id="107" presetID="2" presetClass="entr" presetSubtype="4" fill="hold" grpId="0" nodeType="withEffect">
                                  <p:stCondLst>
                                    <p:cond delay="0"/>
                                  </p:stCondLst>
                                  <p:childTnLst>
                                    <p:set>
                                      <p:cBhvr>
                                        <p:cTn id="108" dur="1" fill="hold">
                                          <p:stCondLst>
                                            <p:cond delay="0"/>
                                          </p:stCondLst>
                                        </p:cTn>
                                        <p:tgtEl>
                                          <p:spTgt spid="40978"/>
                                        </p:tgtEl>
                                        <p:attrNameLst>
                                          <p:attrName>style.visibility</p:attrName>
                                        </p:attrNameLst>
                                      </p:cBhvr>
                                      <p:to>
                                        <p:strVal val="visible"/>
                                      </p:to>
                                    </p:set>
                                    <p:anim calcmode="lin" valueType="num">
                                      <p:cBhvr additive="base">
                                        <p:cTn id="109" dur="500" fill="hold"/>
                                        <p:tgtEl>
                                          <p:spTgt spid="40978"/>
                                        </p:tgtEl>
                                        <p:attrNameLst>
                                          <p:attrName>ppt_x</p:attrName>
                                        </p:attrNameLst>
                                      </p:cBhvr>
                                      <p:tavLst>
                                        <p:tav tm="0">
                                          <p:val>
                                            <p:strVal val="#ppt_x"/>
                                          </p:val>
                                        </p:tav>
                                        <p:tav tm="100000">
                                          <p:val>
                                            <p:strVal val="#ppt_x"/>
                                          </p:val>
                                        </p:tav>
                                      </p:tavLst>
                                    </p:anim>
                                    <p:anim calcmode="lin" valueType="num">
                                      <p:cBhvr additive="base">
                                        <p:cTn id="110" dur="500" fill="hold"/>
                                        <p:tgtEl>
                                          <p:spTgt spid="40978"/>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40979"/>
                                        </p:tgtEl>
                                        <p:attrNameLst>
                                          <p:attrName>style.visibility</p:attrName>
                                        </p:attrNameLst>
                                      </p:cBhvr>
                                      <p:to>
                                        <p:strVal val="visible"/>
                                      </p:to>
                                    </p:set>
                                    <p:anim calcmode="lin" valueType="num">
                                      <p:cBhvr additive="base">
                                        <p:cTn id="113" dur="500" fill="hold"/>
                                        <p:tgtEl>
                                          <p:spTgt spid="40979"/>
                                        </p:tgtEl>
                                        <p:attrNameLst>
                                          <p:attrName>ppt_x</p:attrName>
                                        </p:attrNameLst>
                                      </p:cBhvr>
                                      <p:tavLst>
                                        <p:tav tm="0">
                                          <p:val>
                                            <p:strVal val="#ppt_x"/>
                                          </p:val>
                                        </p:tav>
                                        <p:tav tm="100000">
                                          <p:val>
                                            <p:strVal val="#ppt_x"/>
                                          </p:val>
                                        </p:tav>
                                      </p:tavLst>
                                    </p:anim>
                                    <p:anim calcmode="lin" valueType="num">
                                      <p:cBhvr additive="base">
                                        <p:cTn id="114" dur="500" fill="hold"/>
                                        <p:tgtEl>
                                          <p:spTgt spid="40979"/>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40980"/>
                                        </p:tgtEl>
                                        <p:attrNameLst>
                                          <p:attrName>style.visibility</p:attrName>
                                        </p:attrNameLst>
                                      </p:cBhvr>
                                      <p:to>
                                        <p:strVal val="visible"/>
                                      </p:to>
                                    </p:set>
                                    <p:anim calcmode="lin" valueType="num">
                                      <p:cBhvr additive="base">
                                        <p:cTn id="117" dur="500" fill="hold"/>
                                        <p:tgtEl>
                                          <p:spTgt spid="40980"/>
                                        </p:tgtEl>
                                        <p:attrNameLst>
                                          <p:attrName>ppt_x</p:attrName>
                                        </p:attrNameLst>
                                      </p:cBhvr>
                                      <p:tavLst>
                                        <p:tav tm="0">
                                          <p:val>
                                            <p:strVal val="#ppt_x"/>
                                          </p:val>
                                        </p:tav>
                                        <p:tav tm="100000">
                                          <p:val>
                                            <p:strVal val="#ppt_x"/>
                                          </p:val>
                                        </p:tav>
                                      </p:tavLst>
                                    </p:anim>
                                    <p:anim calcmode="lin" valueType="num">
                                      <p:cBhvr additive="base">
                                        <p:cTn id="118" dur="500" fill="hold"/>
                                        <p:tgtEl>
                                          <p:spTgt spid="40980"/>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32" presetClass="emph" presetSubtype="0" fill="hold" nodeType="clickEffect">
                                  <p:stCondLst>
                                    <p:cond delay="0"/>
                                  </p:stCondLst>
                                  <p:childTnLst>
                                    <p:animClr clrSpc="rgb" dir="cw">
                                      <p:cBhvr override="childStyle">
                                        <p:cTn id="122" dur="100" fill="hold"/>
                                        <p:tgtEl>
                                          <p:spTgt spid="40979"/>
                                        </p:tgtEl>
                                        <p:attrNameLst>
                                          <p:attrName>style.color</p:attrName>
                                        </p:attrNameLst>
                                      </p:cBhvr>
                                      <p:to>
                                        <a:schemeClr val="accent2"/>
                                      </p:to>
                                    </p:animClr>
                                    <p:animClr clrSpc="rgb" dir="cw">
                                      <p:cBhvr>
                                        <p:cTn id="123" dur="100" fill="hold"/>
                                        <p:tgtEl>
                                          <p:spTgt spid="40979"/>
                                        </p:tgtEl>
                                        <p:attrNameLst>
                                          <p:attrName>fillcolor</p:attrName>
                                        </p:attrNameLst>
                                      </p:cBhvr>
                                      <p:to>
                                        <a:schemeClr val="accent2"/>
                                      </p:to>
                                    </p:animClr>
                                    <p:set>
                                      <p:cBhvr>
                                        <p:cTn id="124" dur="100" fill="hold"/>
                                        <p:tgtEl>
                                          <p:spTgt spid="40979"/>
                                        </p:tgtEl>
                                        <p:attrNameLst>
                                          <p:attrName>fill.type</p:attrName>
                                        </p:attrNameLst>
                                      </p:cBhvr>
                                      <p:to>
                                        <p:strVal val="solid"/>
                                      </p:to>
                                    </p:set>
                                    <p:set>
                                      <p:cBhvr>
                                        <p:cTn id="125" dur="100" fill="hold"/>
                                        <p:tgtEl>
                                          <p:spTgt spid="40979"/>
                                        </p:tgtEl>
                                        <p:attrNameLst>
                                          <p:attrName>fill.on</p:attrName>
                                        </p:attrNameLst>
                                      </p:cBhvr>
                                      <p:to>
                                        <p:strVal val="true"/>
                                      </p:to>
                                    </p:set>
                                    <p:animRot by="120000">
                                      <p:cBhvr>
                                        <p:cTn id="126" dur="100" fill="hold">
                                          <p:stCondLst>
                                            <p:cond delay="0"/>
                                          </p:stCondLst>
                                        </p:cTn>
                                        <p:tgtEl>
                                          <p:spTgt spid="40979"/>
                                        </p:tgtEl>
                                        <p:attrNameLst>
                                          <p:attrName>r</p:attrName>
                                        </p:attrNameLst>
                                      </p:cBhvr>
                                    </p:animRot>
                                    <p:animRot by="-239940">
                                      <p:cBhvr>
                                        <p:cTn id="127" dur="200" fill="hold">
                                          <p:stCondLst>
                                            <p:cond delay="200"/>
                                          </p:stCondLst>
                                        </p:cTn>
                                        <p:tgtEl>
                                          <p:spTgt spid="40979"/>
                                        </p:tgtEl>
                                        <p:attrNameLst>
                                          <p:attrName>r</p:attrName>
                                        </p:attrNameLst>
                                      </p:cBhvr>
                                    </p:animRot>
                                    <p:animRot by="240000">
                                      <p:cBhvr>
                                        <p:cTn id="128" dur="200" fill="hold">
                                          <p:stCondLst>
                                            <p:cond delay="400"/>
                                          </p:stCondLst>
                                        </p:cTn>
                                        <p:tgtEl>
                                          <p:spTgt spid="40979"/>
                                        </p:tgtEl>
                                        <p:attrNameLst>
                                          <p:attrName>r</p:attrName>
                                        </p:attrNameLst>
                                      </p:cBhvr>
                                    </p:animRot>
                                    <p:animRot by="-239940">
                                      <p:cBhvr>
                                        <p:cTn id="129" dur="200" fill="hold">
                                          <p:stCondLst>
                                            <p:cond delay="600"/>
                                          </p:stCondLst>
                                        </p:cTn>
                                        <p:tgtEl>
                                          <p:spTgt spid="40979"/>
                                        </p:tgtEl>
                                        <p:attrNameLst>
                                          <p:attrName>r</p:attrName>
                                        </p:attrNameLst>
                                      </p:cBhvr>
                                    </p:animRot>
                                    <p:animRot by="120000">
                                      <p:cBhvr>
                                        <p:cTn id="130" dur="200" fill="hold">
                                          <p:stCondLst>
                                            <p:cond delay="800"/>
                                          </p:stCondLst>
                                        </p:cTn>
                                        <p:tgtEl>
                                          <p:spTgt spid="40979"/>
                                        </p:tgtEl>
                                        <p:attrNameLst>
                                          <p:attrName>r</p:attrName>
                                        </p:attrNameLst>
                                      </p:cBhvr>
                                    </p:animRot>
                                  </p:childTnLst>
                                </p:cTn>
                              </p:par>
                            </p:childTnLst>
                          </p:cTn>
                        </p:par>
                      </p:childTnLst>
                    </p:cTn>
                  </p:par>
                  <p:par>
                    <p:cTn id="131" fill="hold">
                      <p:stCondLst>
                        <p:cond delay="indefinite"/>
                      </p:stCondLst>
                      <p:childTnLst>
                        <p:par>
                          <p:cTn id="132" fill="hold">
                            <p:stCondLst>
                              <p:cond delay="0"/>
                            </p:stCondLst>
                            <p:childTnLst>
                              <p:par>
                                <p:cTn id="133" presetID="27" presetClass="emph" presetSubtype="0" fill="hold" grpId="1" nodeType="clickEffect">
                                  <p:stCondLst>
                                    <p:cond delay="0"/>
                                  </p:stCondLst>
                                  <p:childTnLst>
                                    <p:animClr clrSpc="rgb" dir="cw">
                                      <p:cBhvr override="childStyle">
                                        <p:cTn id="134" dur="250" autoRev="1" fill="hold"/>
                                        <p:tgtEl>
                                          <p:spTgt spid="40976"/>
                                        </p:tgtEl>
                                        <p:attrNameLst>
                                          <p:attrName>style.color</p:attrName>
                                        </p:attrNameLst>
                                      </p:cBhvr>
                                      <p:to>
                                        <a:schemeClr val="bg1"/>
                                      </p:to>
                                    </p:animClr>
                                    <p:animClr clrSpc="rgb" dir="cw">
                                      <p:cBhvr>
                                        <p:cTn id="135" dur="250" autoRev="1" fill="hold"/>
                                        <p:tgtEl>
                                          <p:spTgt spid="40976"/>
                                        </p:tgtEl>
                                        <p:attrNameLst>
                                          <p:attrName>fillcolor</p:attrName>
                                        </p:attrNameLst>
                                      </p:cBhvr>
                                      <p:to>
                                        <a:schemeClr val="bg1"/>
                                      </p:to>
                                    </p:animClr>
                                    <p:set>
                                      <p:cBhvr>
                                        <p:cTn id="136" dur="250" autoRev="1" fill="hold"/>
                                        <p:tgtEl>
                                          <p:spTgt spid="40976"/>
                                        </p:tgtEl>
                                        <p:attrNameLst>
                                          <p:attrName>fill.type</p:attrName>
                                        </p:attrNameLst>
                                      </p:cBhvr>
                                      <p:to>
                                        <p:strVal val="solid"/>
                                      </p:to>
                                    </p:set>
                                    <p:set>
                                      <p:cBhvr>
                                        <p:cTn id="137" dur="250" autoRev="1" fill="hold"/>
                                        <p:tgtEl>
                                          <p:spTgt spid="40976"/>
                                        </p:tgtEl>
                                        <p:attrNameLst>
                                          <p:attrName>fill.on</p:attrName>
                                        </p:attrNameLst>
                                      </p:cBhvr>
                                      <p:to>
                                        <p:strVal val="true"/>
                                      </p:to>
                                    </p:set>
                                  </p:childTnLst>
                                </p:cTn>
                              </p:par>
                              <p:par>
                                <p:cTn id="138" presetID="27" presetClass="emph" presetSubtype="0" fill="hold" grpId="1" nodeType="withEffect">
                                  <p:stCondLst>
                                    <p:cond delay="0"/>
                                  </p:stCondLst>
                                  <p:childTnLst>
                                    <p:animClr clrSpc="rgb" dir="cw">
                                      <p:cBhvr override="childStyle">
                                        <p:cTn id="139" dur="250" autoRev="1" fill="hold"/>
                                        <p:tgtEl>
                                          <p:spTgt spid="40977"/>
                                        </p:tgtEl>
                                        <p:attrNameLst>
                                          <p:attrName>style.color</p:attrName>
                                        </p:attrNameLst>
                                      </p:cBhvr>
                                      <p:to>
                                        <a:schemeClr val="bg1"/>
                                      </p:to>
                                    </p:animClr>
                                    <p:animClr clrSpc="rgb" dir="cw">
                                      <p:cBhvr>
                                        <p:cTn id="140" dur="250" autoRev="1" fill="hold"/>
                                        <p:tgtEl>
                                          <p:spTgt spid="40977"/>
                                        </p:tgtEl>
                                        <p:attrNameLst>
                                          <p:attrName>fillcolor</p:attrName>
                                        </p:attrNameLst>
                                      </p:cBhvr>
                                      <p:to>
                                        <a:schemeClr val="bg1"/>
                                      </p:to>
                                    </p:animClr>
                                    <p:set>
                                      <p:cBhvr>
                                        <p:cTn id="141" dur="250" autoRev="1" fill="hold"/>
                                        <p:tgtEl>
                                          <p:spTgt spid="40977"/>
                                        </p:tgtEl>
                                        <p:attrNameLst>
                                          <p:attrName>fill.type</p:attrName>
                                        </p:attrNameLst>
                                      </p:cBhvr>
                                      <p:to>
                                        <p:strVal val="solid"/>
                                      </p:to>
                                    </p:set>
                                    <p:set>
                                      <p:cBhvr>
                                        <p:cTn id="142" dur="250" autoRev="1" fill="hold"/>
                                        <p:tgtEl>
                                          <p:spTgt spid="40977"/>
                                        </p:tgtEl>
                                        <p:attrNameLst>
                                          <p:attrName>fill.on</p:attrName>
                                        </p:attrNameLst>
                                      </p:cBhvr>
                                      <p:to>
                                        <p:strVal val="true"/>
                                      </p:to>
                                    </p:set>
                                  </p:childTnLst>
                                </p:cTn>
                              </p:par>
                            </p:childTnLst>
                          </p:cTn>
                        </p:par>
                        <p:par>
                          <p:cTn id="143" fill="hold">
                            <p:stCondLst>
                              <p:cond delay="500"/>
                            </p:stCondLst>
                            <p:childTnLst>
                              <p:par>
                                <p:cTn id="144" presetID="27" presetClass="emph" presetSubtype="0" fill="hold" grpId="2" nodeType="afterEffect">
                                  <p:stCondLst>
                                    <p:cond delay="0"/>
                                  </p:stCondLst>
                                  <p:childTnLst>
                                    <p:animClr clrSpc="rgb" dir="cw">
                                      <p:cBhvr override="childStyle">
                                        <p:cTn id="145" dur="250" autoRev="1" fill="hold"/>
                                        <p:tgtEl>
                                          <p:spTgt spid="40976"/>
                                        </p:tgtEl>
                                        <p:attrNameLst>
                                          <p:attrName>style.color</p:attrName>
                                        </p:attrNameLst>
                                      </p:cBhvr>
                                      <p:to>
                                        <a:schemeClr val="bg1"/>
                                      </p:to>
                                    </p:animClr>
                                    <p:animClr clrSpc="rgb" dir="cw">
                                      <p:cBhvr>
                                        <p:cTn id="146" dur="250" autoRev="1" fill="hold"/>
                                        <p:tgtEl>
                                          <p:spTgt spid="40976"/>
                                        </p:tgtEl>
                                        <p:attrNameLst>
                                          <p:attrName>fillcolor</p:attrName>
                                        </p:attrNameLst>
                                      </p:cBhvr>
                                      <p:to>
                                        <a:schemeClr val="bg1"/>
                                      </p:to>
                                    </p:animClr>
                                    <p:set>
                                      <p:cBhvr>
                                        <p:cTn id="147" dur="250" autoRev="1" fill="hold"/>
                                        <p:tgtEl>
                                          <p:spTgt spid="40976"/>
                                        </p:tgtEl>
                                        <p:attrNameLst>
                                          <p:attrName>fill.type</p:attrName>
                                        </p:attrNameLst>
                                      </p:cBhvr>
                                      <p:to>
                                        <p:strVal val="solid"/>
                                      </p:to>
                                    </p:set>
                                    <p:set>
                                      <p:cBhvr>
                                        <p:cTn id="148" dur="250" autoRev="1" fill="hold"/>
                                        <p:tgtEl>
                                          <p:spTgt spid="40976"/>
                                        </p:tgtEl>
                                        <p:attrNameLst>
                                          <p:attrName>fill.on</p:attrName>
                                        </p:attrNameLst>
                                      </p:cBhvr>
                                      <p:to>
                                        <p:strVal val="true"/>
                                      </p:to>
                                    </p:set>
                                  </p:childTnLst>
                                </p:cTn>
                              </p:par>
                              <p:par>
                                <p:cTn id="149" presetID="27" presetClass="emph" presetSubtype="0" fill="hold" grpId="2" nodeType="withEffect">
                                  <p:stCondLst>
                                    <p:cond delay="0"/>
                                  </p:stCondLst>
                                  <p:childTnLst>
                                    <p:animClr clrSpc="rgb" dir="cw">
                                      <p:cBhvr override="childStyle">
                                        <p:cTn id="150" dur="250" autoRev="1" fill="hold"/>
                                        <p:tgtEl>
                                          <p:spTgt spid="40977"/>
                                        </p:tgtEl>
                                        <p:attrNameLst>
                                          <p:attrName>style.color</p:attrName>
                                        </p:attrNameLst>
                                      </p:cBhvr>
                                      <p:to>
                                        <a:schemeClr val="bg1"/>
                                      </p:to>
                                    </p:animClr>
                                    <p:animClr clrSpc="rgb" dir="cw">
                                      <p:cBhvr>
                                        <p:cTn id="151" dur="250" autoRev="1" fill="hold"/>
                                        <p:tgtEl>
                                          <p:spTgt spid="40977"/>
                                        </p:tgtEl>
                                        <p:attrNameLst>
                                          <p:attrName>fillcolor</p:attrName>
                                        </p:attrNameLst>
                                      </p:cBhvr>
                                      <p:to>
                                        <a:schemeClr val="bg1"/>
                                      </p:to>
                                    </p:animClr>
                                    <p:set>
                                      <p:cBhvr>
                                        <p:cTn id="152" dur="250" autoRev="1" fill="hold"/>
                                        <p:tgtEl>
                                          <p:spTgt spid="40977"/>
                                        </p:tgtEl>
                                        <p:attrNameLst>
                                          <p:attrName>fill.type</p:attrName>
                                        </p:attrNameLst>
                                      </p:cBhvr>
                                      <p:to>
                                        <p:strVal val="solid"/>
                                      </p:to>
                                    </p:set>
                                    <p:set>
                                      <p:cBhvr>
                                        <p:cTn id="153" dur="250" autoRev="1" fill="hold"/>
                                        <p:tgtEl>
                                          <p:spTgt spid="40977"/>
                                        </p:tgtEl>
                                        <p:attrNameLst>
                                          <p:attrName>fill.on</p:attrName>
                                        </p:attrNameLst>
                                      </p:cBhvr>
                                      <p:to>
                                        <p:strVal val="true"/>
                                      </p:to>
                                    </p:set>
                                  </p:childTnLst>
                                </p:cTn>
                              </p:par>
                            </p:childTnLst>
                          </p:cTn>
                        </p:par>
                        <p:par>
                          <p:cTn id="154" fill="hold">
                            <p:stCondLst>
                              <p:cond delay="1000"/>
                            </p:stCondLst>
                            <p:childTnLst>
                              <p:par>
                                <p:cTn id="155" presetID="27" presetClass="emph" presetSubtype="0" fill="hold" grpId="3" nodeType="afterEffect">
                                  <p:stCondLst>
                                    <p:cond delay="0"/>
                                  </p:stCondLst>
                                  <p:childTnLst>
                                    <p:animClr clrSpc="rgb" dir="cw">
                                      <p:cBhvr override="childStyle">
                                        <p:cTn id="156" dur="250" autoRev="1" fill="hold"/>
                                        <p:tgtEl>
                                          <p:spTgt spid="40976"/>
                                        </p:tgtEl>
                                        <p:attrNameLst>
                                          <p:attrName>style.color</p:attrName>
                                        </p:attrNameLst>
                                      </p:cBhvr>
                                      <p:to>
                                        <a:schemeClr val="bg1"/>
                                      </p:to>
                                    </p:animClr>
                                    <p:animClr clrSpc="rgb" dir="cw">
                                      <p:cBhvr>
                                        <p:cTn id="157" dur="250" autoRev="1" fill="hold"/>
                                        <p:tgtEl>
                                          <p:spTgt spid="40976"/>
                                        </p:tgtEl>
                                        <p:attrNameLst>
                                          <p:attrName>fillcolor</p:attrName>
                                        </p:attrNameLst>
                                      </p:cBhvr>
                                      <p:to>
                                        <a:schemeClr val="bg1"/>
                                      </p:to>
                                    </p:animClr>
                                    <p:set>
                                      <p:cBhvr>
                                        <p:cTn id="158" dur="250" autoRev="1" fill="hold"/>
                                        <p:tgtEl>
                                          <p:spTgt spid="40976"/>
                                        </p:tgtEl>
                                        <p:attrNameLst>
                                          <p:attrName>fill.type</p:attrName>
                                        </p:attrNameLst>
                                      </p:cBhvr>
                                      <p:to>
                                        <p:strVal val="solid"/>
                                      </p:to>
                                    </p:set>
                                    <p:set>
                                      <p:cBhvr>
                                        <p:cTn id="159" dur="250" autoRev="1" fill="hold"/>
                                        <p:tgtEl>
                                          <p:spTgt spid="40976"/>
                                        </p:tgtEl>
                                        <p:attrNameLst>
                                          <p:attrName>fill.on</p:attrName>
                                        </p:attrNameLst>
                                      </p:cBhvr>
                                      <p:to>
                                        <p:strVal val="true"/>
                                      </p:to>
                                    </p:set>
                                  </p:childTnLst>
                                </p:cTn>
                              </p:par>
                              <p:par>
                                <p:cTn id="160" presetID="27" presetClass="emph" presetSubtype="0" fill="hold" grpId="3" nodeType="withEffect">
                                  <p:stCondLst>
                                    <p:cond delay="0"/>
                                  </p:stCondLst>
                                  <p:childTnLst>
                                    <p:animClr clrSpc="rgb" dir="cw">
                                      <p:cBhvr override="childStyle">
                                        <p:cTn id="161" dur="250" autoRev="1" fill="hold"/>
                                        <p:tgtEl>
                                          <p:spTgt spid="40977"/>
                                        </p:tgtEl>
                                        <p:attrNameLst>
                                          <p:attrName>style.color</p:attrName>
                                        </p:attrNameLst>
                                      </p:cBhvr>
                                      <p:to>
                                        <a:schemeClr val="bg1"/>
                                      </p:to>
                                    </p:animClr>
                                    <p:animClr clrSpc="rgb" dir="cw">
                                      <p:cBhvr>
                                        <p:cTn id="162" dur="250" autoRev="1" fill="hold"/>
                                        <p:tgtEl>
                                          <p:spTgt spid="40977"/>
                                        </p:tgtEl>
                                        <p:attrNameLst>
                                          <p:attrName>fillcolor</p:attrName>
                                        </p:attrNameLst>
                                      </p:cBhvr>
                                      <p:to>
                                        <a:schemeClr val="bg1"/>
                                      </p:to>
                                    </p:animClr>
                                    <p:set>
                                      <p:cBhvr>
                                        <p:cTn id="163" dur="250" autoRev="1" fill="hold"/>
                                        <p:tgtEl>
                                          <p:spTgt spid="40977"/>
                                        </p:tgtEl>
                                        <p:attrNameLst>
                                          <p:attrName>fill.type</p:attrName>
                                        </p:attrNameLst>
                                      </p:cBhvr>
                                      <p:to>
                                        <p:strVal val="solid"/>
                                      </p:to>
                                    </p:set>
                                    <p:set>
                                      <p:cBhvr>
                                        <p:cTn id="164" dur="250" autoRev="1" fill="hold"/>
                                        <p:tgtEl>
                                          <p:spTgt spid="4097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animBg="1"/>
      <p:bldP spid="40964" grpId="1" animBg="1"/>
      <p:bldP spid="40964" grpId="2" animBg="1"/>
      <p:bldP spid="40964" grpId="3" animBg="1"/>
      <p:bldP spid="40965" grpId="0" animBg="1"/>
      <p:bldP spid="40965" grpId="1" animBg="1"/>
      <p:bldP spid="40965" grpId="2" animBg="1"/>
      <p:bldP spid="40965" grpId="3" animBg="1"/>
      <p:bldP spid="40967" grpId="0" animBg="1"/>
      <p:bldP spid="40968" grpId="0" animBg="1"/>
      <p:bldP spid="40973" grpId="0" animBg="1"/>
      <p:bldP spid="40974" grpId="0" animBg="1"/>
      <p:bldP spid="40976" grpId="0" animBg="1"/>
      <p:bldP spid="40976" grpId="1" animBg="1"/>
      <p:bldP spid="40976" grpId="2" animBg="1"/>
      <p:bldP spid="40976" grpId="3" animBg="1"/>
      <p:bldP spid="40977" grpId="0" animBg="1"/>
      <p:bldP spid="40977" grpId="1" animBg="1"/>
      <p:bldP spid="40977" grpId="2" animBg="1"/>
      <p:bldP spid="40977" grpId="3" animBg="1"/>
      <p:bldP spid="4097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noChangeArrowheads="1"/>
          </p:cNvSpPr>
          <p:nvPr>
            <p:ph type="title" idx="4294967295"/>
          </p:nvPr>
        </p:nvSpPr>
        <p:spPr/>
        <p:txBody>
          <a:bodyPr/>
          <a:lstStyle/>
          <a:p>
            <a:r>
              <a:rPr lang="zh-CN" altLang="en-US" sz="2800"/>
              <a:t>CQOI 1668  </a:t>
            </a:r>
            <a:r>
              <a:rPr lang="en-US" altLang="zh-CN" sz="2800"/>
              <a:t>&amp; HIHOCODER 1183</a:t>
            </a:r>
            <a:r>
              <a:rPr lang="zh-CN" altLang="en-US" sz="2800"/>
              <a:t>割点和割边</a:t>
            </a:r>
            <a:endParaRPr lang="zh-CN" altLang="en-US" sz="2800"/>
          </a:p>
        </p:txBody>
      </p:sp>
      <p:sp>
        <p:nvSpPr>
          <p:cNvPr id="70659" name="内容占位符 2"/>
          <p:cNvSpPr>
            <a:spLocks noGrp="1" noChangeArrowheads="1"/>
          </p:cNvSpPr>
          <p:nvPr>
            <p:ph sz="quarter" idx="4294967295"/>
          </p:nvPr>
        </p:nvSpPr>
        <p:spPr>
          <a:xfrm>
            <a:off x="2468443" y="1521124"/>
            <a:ext cx="8915400" cy="3886200"/>
          </a:xfrm>
        </p:spPr>
        <p:txBody>
          <a:bodyPr/>
          <a:lstStyle/>
          <a:p>
            <a:r>
              <a:rPr lang="zh-CN" altLang="en-US" dirty="0"/>
              <a:t>给出一个无向连通图</a:t>
            </a:r>
            <a:r>
              <a:rPr lang="en-US" altLang="zh-CN" dirty="0"/>
              <a:t>, </a:t>
            </a:r>
            <a:r>
              <a:rPr lang="zh-CN" altLang="en-US" dirty="0"/>
              <a:t>求出所有割点与割边的数量。</a:t>
            </a:r>
            <a:endParaRPr lang="zh-CN" altLang="en-US" dirty="0"/>
          </a:p>
        </p:txBody>
      </p:sp>
      <p:graphicFrame>
        <p:nvGraphicFramePr>
          <p:cNvPr id="41988" name="表格 41987"/>
          <p:cNvGraphicFramePr/>
          <p:nvPr/>
        </p:nvGraphicFramePr>
        <p:xfrm>
          <a:off x="2826021" y="2166099"/>
          <a:ext cx="6096000" cy="4303713"/>
        </p:xfrm>
        <a:graphic>
          <a:graphicData uri="http://schemas.openxmlformats.org/drawingml/2006/table">
            <a:tbl>
              <a:tblPr/>
              <a:tblGrid>
                <a:gridCol w="3048000"/>
                <a:gridCol w="3048000"/>
              </a:tblGrid>
              <a:tr h="371475">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800" b="1" dirty="0">
                          <a:solidFill>
                            <a:srgbClr val="FFFFFF"/>
                          </a:solidFill>
                          <a:latin typeface="Century Schoolbook" panose="02040604050505020304" pitchFamily="18" charset="0"/>
                        </a:rPr>
                        <a:t>Sample Input</a:t>
                      </a:r>
                      <a:endParaRPr lang="en-US" altLang="x-none" sz="1800" b="1" dirty="0">
                        <a:solidFill>
                          <a:srgbClr val="FFFFFF"/>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800" b="1" dirty="0">
                          <a:solidFill>
                            <a:srgbClr val="FFFFFF"/>
                          </a:solidFill>
                          <a:latin typeface="Century Schoolbook" panose="02040604050505020304" pitchFamily="18" charset="0"/>
                        </a:rPr>
                        <a:t>Sample Output</a:t>
                      </a:r>
                      <a:endParaRPr lang="en-US" altLang="x-none" sz="1800" b="1" dirty="0">
                        <a:solidFill>
                          <a:srgbClr val="FFFFFF"/>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932238">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11 13</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1 2</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1 4</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1 5</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1 6</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2 11</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2 3</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4 3</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4 9</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5 8</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5 7</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6 7</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7 10</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11 3</a:t>
                      </a:r>
                      <a:endParaRPr lang="en-US" altLang="x-none" sz="1800" dirty="0">
                        <a:solidFill>
                          <a:srgbClr val="000000"/>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4</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800" dirty="0">
                          <a:solidFill>
                            <a:srgbClr val="000000"/>
                          </a:solidFill>
                          <a:latin typeface="Century Schoolbook" panose="02040604050505020304" pitchFamily="18" charset="0"/>
                        </a:rPr>
                        <a:t>3</a:t>
                      </a:r>
                      <a:endParaRPr lang="en-US" altLang="x-none" sz="18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800" dirty="0">
                        <a:solidFill>
                          <a:srgbClr val="000000"/>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r>
            </a:tbl>
          </a:graphicData>
        </a:graphic>
      </p:graphicFrame>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noChangeArrowheads="1"/>
          </p:cNvSpPr>
          <p:nvPr>
            <p:ph type="title" idx="4294967295"/>
          </p:nvPr>
        </p:nvSpPr>
        <p:spPr/>
        <p:txBody>
          <a:bodyPr/>
          <a:lstStyle/>
          <a:p>
            <a:r>
              <a:rPr lang="zh-CN" altLang="en-US"/>
              <a:t>POJ 1523 SPF</a:t>
            </a:r>
            <a:endParaRPr lang="zh-CN" altLang="en-US"/>
          </a:p>
        </p:txBody>
      </p:sp>
      <p:sp>
        <p:nvSpPr>
          <p:cNvPr id="71683" name="内容占位符 2"/>
          <p:cNvSpPr>
            <a:spLocks noGrp="1" noChangeArrowheads="1"/>
          </p:cNvSpPr>
          <p:nvPr>
            <p:ph sz="quarter" idx="4294967295"/>
          </p:nvPr>
        </p:nvSpPr>
        <p:spPr>
          <a:xfrm>
            <a:off x="1907041" y="1485900"/>
            <a:ext cx="8915400" cy="3886200"/>
          </a:xfrm>
        </p:spPr>
        <p:txBody>
          <a:bodyPr/>
          <a:lstStyle/>
          <a:p>
            <a:r>
              <a:rPr lang="zh-CN" altLang="en-US" sz="1600" dirty="0"/>
              <a:t>给出一个无向图，要求求出图中的割点和去掉该割点后图的连通分量个数</a:t>
            </a:r>
            <a:endParaRPr lang="zh-CN" altLang="en-US" sz="1600" dirty="0"/>
          </a:p>
        </p:txBody>
      </p:sp>
      <p:graphicFrame>
        <p:nvGraphicFramePr>
          <p:cNvPr id="43012" name="表格 43011"/>
          <p:cNvGraphicFramePr/>
          <p:nvPr>
            <p:custDataLst>
              <p:tags r:id="rId1"/>
            </p:custDataLst>
          </p:nvPr>
        </p:nvGraphicFramePr>
        <p:xfrm>
          <a:off x="2897642" y="1986647"/>
          <a:ext cx="6096000" cy="4871353"/>
        </p:xfrm>
        <a:graphic>
          <a:graphicData uri="http://schemas.openxmlformats.org/drawingml/2006/table">
            <a:tbl>
              <a:tblPr/>
              <a:tblGrid>
                <a:gridCol w="3048000"/>
                <a:gridCol w="3048000"/>
              </a:tblGrid>
              <a:tr h="359362">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100" b="1" dirty="0">
                          <a:solidFill>
                            <a:srgbClr val="FFFFFF"/>
                          </a:solidFill>
                          <a:latin typeface="Century Schoolbook" panose="02040604050505020304" pitchFamily="18" charset="0"/>
                        </a:rPr>
                        <a:t>Sample Input</a:t>
                      </a:r>
                      <a:endParaRPr lang="en-US" altLang="x-none" sz="1100" b="1" dirty="0">
                        <a:solidFill>
                          <a:srgbClr val="FFFFFF"/>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100" b="1" dirty="0">
                          <a:solidFill>
                            <a:srgbClr val="FFFFFF"/>
                          </a:solidFill>
                          <a:latin typeface="Century Schoolbook" panose="02040604050505020304" pitchFamily="18" charset="0"/>
                        </a:rPr>
                        <a:t>Sample Output</a:t>
                      </a:r>
                      <a:endParaRPr lang="en-US" altLang="x-none" sz="1100" b="1" dirty="0">
                        <a:solidFill>
                          <a:srgbClr val="FFFFFF"/>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4511991">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1 2</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5 4</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3 1</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3 2</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3 4</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3 5</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0</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1 2</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2 3</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3 4</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4 5</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5 1</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0</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1 2</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2 3</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3 4</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4 6</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6 3</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2 5</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5 1</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0</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0</a:t>
                      </a:r>
                      <a:endParaRPr lang="en-US" altLang="x-none" sz="1100" dirty="0">
                        <a:solidFill>
                          <a:srgbClr val="000000"/>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Network #1</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  SPF node 3 leaves 2 subnets</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Network #2</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  No SPF nodes</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Network #3</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  SPF node 2 leaves 2 subnets</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100" dirty="0">
                          <a:solidFill>
                            <a:srgbClr val="000000"/>
                          </a:solidFill>
                          <a:latin typeface="Century Schoolbook" panose="02040604050505020304" pitchFamily="18" charset="0"/>
                        </a:rPr>
                        <a:t>  SPF node 3 leaves 2 subnets</a:t>
                      </a: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1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zh-CN" altLang="en-US" sz="1100" dirty="0">
                          <a:solidFill>
                            <a:srgbClr val="000000"/>
                          </a:solidFill>
                          <a:latin typeface="Century Schoolbook" panose="02040604050505020304" pitchFamily="18" charset="0"/>
                        </a:rPr>
                        <a:t>结点数</a:t>
                      </a:r>
                      <a:r>
                        <a:rPr lang="en-US" altLang="x-none" sz="1100" dirty="0">
                          <a:solidFill>
                            <a:srgbClr val="000000"/>
                          </a:solidFill>
                          <a:latin typeface="Century Schoolbook" panose="02040604050505020304" pitchFamily="18" charset="0"/>
                        </a:rPr>
                        <a:t>N</a:t>
                      </a:r>
                      <a:r>
                        <a:rPr lang="zh-CN" altLang="en-US" sz="1100" dirty="0">
                          <a:solidFill>
                            <a:srgbClr val="000000"/>
                          </a:solidFill>
                          <a:latin typeface="Century Schoolbook" panose="02040604050505020304" pitchFamily="18" charset="0"/>
                        </a:rPr>
                        <a:t>不超过</a:t>
                      </a:r>
                      <a:r>
                        <a:rPr lang="en-US" altLang="x-none" sz="1100" dirty="0">
                          <a:solidFill>
                            <a:srgbClr val="000000"/>
                          </a:solidFill>
                          <a:latin typeface="Century Schoolbook" panose="02040604050505020304" pitchFamily="18" charset="0"/>
                        </a:rPr>
                        <a:t>1000</a:t>
                      </a:r>
                      <a:endParaRPr lang="en-US" altLang="x-none" sz="1100" dirty="0">
                        <a:solidFill>
                          <a:srgbClr val="000000"/>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r>
            </a:tbl>
          </a:graphicData>
        </a:graphic>
      </p:graphicFrame>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noChangeArrowheads="1"/>
          </p:cNvSpPr>
          <p:nvPr>
            <p:ph type="title" idx="4294967295"/>
          </p:nvPr>
        </p:nvSpPr>
        <p:spPr>
          <a:xfrm>
            <a:off x="1100554" y="632736"/>
            <a:ext cx="8911687" cy="1280890"/>
          </a:xfrm>
        </p:spPr>
        <p:txBody>
          <a:bodyPr/>
          <a:lstStyle/>
          <a:p>
            <a:r>
              <a:rPr lang="zh-CN" altLang="en-US" dirty="0"/>
              <a:t>分析</a:t>
            </a:r>
            <a:endParaRPr lang="zh-CN" altLang="en-US" dirty="0"/>
          </a:p>
        </p:txBody>
      </p:sp>
      <p:sp>
        <p:nvSpPr>
          <p:cNvPr id="72707" name="内容占位符 2"/>
          <p:cNvSpPr>
            <a:spLocks noGrp="1" noChangeArrowheads="1"/>
          </p:cNvSpPr>
          <p:nvPr>
            <p:ph sz="quarter" idx="4294967295"/>
          </p:nvPr>
        </p:nvSpPr>
        <p:spPr>
          <a:xfrm>
            <a:off x="1864593" y="1805797"/>
            <a:ext cx="8915400" cy="3886200"/>
          </a:xfrm>
        </p:spPr>
        <p:txBody>
          <a:bodyPr/>
          <a:lstStyle/>
          <a:p>
            <a:r>
              <a:rPr lang="zh-CN" altLang="en-US" sz="2000" dirty="0"/>
              <a:t>求无向图割点的基本题。</a:t>
            </a:r>
            <a:endParaRPr lang="en-US" altLang="zh-CN" sz="2000" dirty="0"/>
          </a:p>
          <a:p>
            <a:r>
              <a:rPr lang="zh-CN" altLang="en-US" sz="2000" dirty="0"/>
              <a:t>构建一棵</a:t>
            </a:r>
            <a:r>
              <a:rPr lang="en-US" altLang="zh-CN" sz="2000" dirty="0" err="1"/>
              <a:t>dfs</a:t>
            </a:r>
            <a:r>
              <a:rPr lang="zh-CN" altLang="en-US" sz="2000" dirty="0"/>
              <a:t>树，</a:t>
            </a:r>
            <a:r>
              <a:rPr lang="en-US" altLang="zh-CN" sz="2000" dirty="0"/>
              <a:t>dfn[</a:t>
            </a:r>
            <a:r>
              <a:rPr lang="en-US" altLang="zh-CN" sz="2000" dirty="0" err="1"/>
              <a:t>i</a:t>
            </a:r>
            <a:r>
              <a:rPr lang="en-US" altLang="zh-CN" sz="2000" dirty="0"/>
              <a:t>]</a:t>
            </a:r>
            <a:r>
              <a:rPr lang="zh-CN" altLang="en-US" sz="2000" dirty="0"/>
              <a:t>为深度优先数，表示</a:t>
            </a:r>
            <a:r>
              <a:rPr lang="en-US" altLang="zh-CN" sz="2000" dirty="0" err="1"/>
              <a:t>dfs</a:t>
            </a:r>
            <a:r>
              <a:rPr lang="zh-CN" altLang="en-US" sz="2000" dirty="0"/>
              <a:t>时访问</a:t>
            </a:r>
            <a:r>
              <a:rPr lang="en-US" altLang="zh-CN" sz="2000" dirty="0" err="1"/>
              <a:t>i</a:t>
            </a:r>
            <a:r>
              <a:rPr lang="zh-CN" altLang="en-US" sz="2000" dirty="0"/>
              <a:t>节点的序号，</a:t>
            </a:r>
            <a:r>
              <a:rPr lang="en-US" altLang="zh-CN" sz="2000" dirty="0"/>
              <a:t>low[</a:t>
            </a:r>
            <a:r>
              <a:rPr lang="en-US" altLang="zh-CN" sz="2000" dirty="0" err="1"/>
              <a:t>i</a:t>
            </a:r>
            <a:r>
              <a:rPr lang="en-US" altLang="zh-CN" sz="2000" dirty="0"/>
              <a:t>]</a:t>
            </a:r>
            <a:r>
              <a:rPr lang="zh-CN" altLang="en-US" sz="2000" dirty="0"/>
              <a:t>表示从</a:t>
            </a:r>
            <a:r>
              <a:rPr lang="en-US" altLang="zh-CN" sz="2000" dirty="0" err="1"/>
              <a:t>i</a:t>
            </a:r>
            <a:r>
              <a:rPr lang="zh-CN" altLang="en-US" sz="2000" dirty="0"/>
              <a:t>节点出发能访问到的最小的深度优先数。</a:t>
            </a:r>
            <a:endParaRPr lang="en-US" altLang="zh-CN" sz="2000" dirty="0"/>
          </a:p>
          <a:p>
            <a:r>
              <a:rPr lang="zh-CN" altLang="en-US" sz="2000" dirty="0"/>
              <a:t>当且仅当节点</a:t>
            </a:r>
            <a:r>
              <a:rPr lang="en-US" altLang="zh-CN" sz="2000" dirty="0"/>
              <a:t>u</a:t>
            </a:r>
            <a:r>
              <a:rPr lang="zh-CN" altLang="en-US" sz="2000" dirty="0"/>
              <a:t>满足如下两个条件之一时，</a:t>
            </a:r>
            <a:r>
              <a:rPr lang="en-US" altLang="zh-CN" sz="2000" dirty="0"/>
              <a:t>u</a:t>
            </a:r>
            <a:r>
              <a:rPr lang="zh-CN" altLang="en-US" sz="2000" dirty="0"/>
              <a:t>为割点：</a:t>
            </a:r>
            <a:br>
              <a:rPr lang="en-US" altLang="zh-CN" sz="2000" dirty="0"/>
            </a:br>
            <a:r>
              <a:rPr lang="en-US" altLang="zh-CN" sz="2000" dirty="0"/>
              <a:t>1.u</a:t>
            </a:r>
            <a:r>
              <a:rPr lang="zh-CN" altLang="en-US" sz="2000" dirty="0"/>
              <a:t>为</a:t>
            </a:r>
            <a:r>
              <a:rPr lang="en-US" altLang="zh-CN" sz="2000" dirty="0" err="1"/>
              <a:t>dfs</a:t>
            </a:r>
            <a:r>
              <a:rPr lang="zh-CN" altLang="en-US" sz="2000" dirty="0"/>
              <a:t>树的根，且</a:t>
            </a:r>
            <a:r>
              <a:rPr lang="en-US" altLang="zh-CN" sz="2000" dirty="0"/>
              <a:t>u</a:t>
            </a:r>
            <a:r>
              <a:rPr lang="zh-CN" altLang="en-US" sz="2000" dirty="0"/>
              <a:t>至少有两个子节点。</a:t>
            </a:r>
            <a:br>
              <a:rPr lang="en-US" altLang="zh-CN" sz="2000" dirty="0"/>
            </a:br>
            <a:r>
              <a:rPr lang="en-US" altLang="zh-CN" sz="2000" dirty="0"/>
              <a:t>2.u</a:t>
            </a:r>
            <a:r>
              <a:rPr lang="zh-CN" altLang="en-US" sz="2000" dirty="0"/>
              <a:t>不是</a:t>
            </a:r>
            <a:r>
              <a:rPr lang="en-US" altLang="zh-CN" sz="2000" dirty="0" err="1"/>
              <a:t>dfs</a:t>
            </a:r>
            <a:r>
              <a:rPr lang="zh-CN" altLang="en-US" sz="2000" dirty="0"/>
              <a:t>树的根，至少存在一个节点</a:t>
            </a:r>
            <a:r>
              <a:rPr lang="en-US" altLang="zh-CN" sz="2000" dirty="0"/>
              <a:t>v</a:t>
            </a:r>
            <a:r>
              <a:rPr lang="zh-CN" altLang="en-US" sz="2000" dirty="0"/>
              <a:t>是</a:t>
            </a:r>
            <a:r>
              <a:rPr lang="en-US" altLang="zh-CN" sz="2000" dirty="0"/>
              <a:t>u</a:t>
            </a:r>
            <a:r>
              <a:rPr lang="zh-CN" altLang="en-US" sz="2000" dirty="0"/>
              <a:t>的子节点，且</a:t>
            </a:r>
            <a:r>
              <a:rPr lang="en-US" altLang="zh-CN" sz="2000" dirty="0"/>
              <a:t>low[v]&gt;=dfn[u]</a:t>
            </a:r>
            <a:r>
              <a:rPr lang="zh-CN" altLang="en-US" sz="2000" dirty="0"/>
              <a:t>。</a:t>
            </a:r>
            <a:endParaRPr lang="en-US" altLang="zh-CN" sz="2000" dirty="0"/>
          </a:p>
          <a:p>
            <a:endParaRPr lang="en-US" altLang="zh-CN" sz="2000" dirty="0"/>
          </a:p>
          <a:p>
            <a:r>
              <a:rPr lang="zh-CN" altLang="en-US" sz="2000" dirty="0"/>
              <a:t>若</a:t>
            </a:r>
            <a:r>
              <a:rPr lang="en-US" altLang="zh-CN" sz="2000" dirty="0"/>
              <a:t>u</a:t>
            </a:r>
            <a:r>
              <a:rPr lang="zh-CN" altLang="en-US" sz="2000" dirty="0"/>
              <a:t>为割点，记</a:t>
            </a:r>
            <a:r>
              <a:rPr lang="en-US" altLang="zh-CN" sz="2000" dirty="0"/>
              <a:t>son[u]</a:t>
            </a:r>
            <a:r>
              <a:rPr lang="zh-CN" altLang="en-US" sz="2000" dirty="0"/>
              <a:t>为</a:t>
            </a:r>
            <a:r>
              <a:rPr lang="en-US" altLang="zh-CN" sz="2000" dirty="0"/>
              <a:t>u</a:t>
            </a:r>
            <a:r>
              <a:rPr lang="zh-CN" altLang="en-US" sz="2000" dirty="0"/>
              <a:t>的子节点数，则去掉</a:t>
            </a:r>
            <a:r>
              <a:rPr lang="en-US" altLang="zh-CN" sz="2000" dirty="0"/>
              <a:t>u</a:t>
            </a:r>
            <a:r>
              <a:rPr lang="zh-CN" altLang="en-US" sz="2000" dirty="0"/>
              <a:t>后，图被分成</a:t>
            </a:r>
            <a:r>
              <a:rPr lang="en-US" altLang="zh-CN" sz="2000" dirty="0"/>
              <a:t>son[u]+1</a:t>
            </a:r>
            <a:r>
              <a:rPr lang="zh-CN" altLang="en-US" sz="2000" dirty="0"/>
              <a:t>个部分（每个子节点的部分和</a:t>
            </a:r>
            <a:r>
              <a:rPr lang="en-US" altLang="zh-CN" sz="2000" dirty="0"/>
              <a:t>u</a:t>
            </a:r>
            <a:r>
              <a:rPr lang="zh-CN" altLang="en-US" sz="2000" dirty="0"/>
              <a:t>的祖先的部分），若</a:t>
            </a:r>
            <a:r>
              <a:rPr lang="en-US" altLang="zh-CN" sz="2000" dirty="0"/>
              <a:t>u</a:t>
            </a:r>
            <a:r>
              <a:rPr lang="zh-CN" altLang="en-US" sz="2000" dirty="0"/>
              <a:t>为</a:t>
            </a:r>
            <a:r>
              <a:rPr lang="en-US" altLang="zh-CN" sz="2000" dirty="0" err="1"/>
              <a:t>dfs</a:t>
            </a:r>
            <a:r>
              <a:rPr lang="zh-CN" altLang="en-US" sz="2000" dirty="0"/>
              <a:t>树的根，则分成</a:t>
            </a:r>
            <a:r>
              <a:rPr lang="en-US" altLang="zh-CN" sz="2000" dirty="0"/>
              <a:t>son[u]</a:t>
            </a:r>
            <a:r>
              <a:rPr lang="zh-CN" altLang="en-US" sz="2000" dirty="0"/>
              <a:t>个部分（根节点没有祖先）。</a:t>
            </a:r>
            <a:endParaRPr lang="zh-CN" altLang="en-US" sz="2000" dirty="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txBox="1">
            <a:spLocks noGrp="1" noChangeArrowheads="1"/>
          </p:cNvSpPr>
          <p:nvPr/>
        </p:nvSpPr>
        <p:spPr bwMode="auto">
          <a:xfrm>
            <a:off x="8077201"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fld id="{CF3829C3-4C8D-42A6-9EE3-4586D28E9EEF}" type="slidenum">
              <a:rPr lang="en-US" altLang="zh-CN" sz="1400" b="1">
                <a:solidFill>
                  <a:srgbClr val="FFFFFF"/>
                </a:solidFill>
                <a:latin typeface="Century Schoolbook" panose="02040604050505020304" pitchFamily="18" charset="0"/>
              </a:rPr>
            </a:fld>
            <a:endParaRPr lang="en-US" altLang="zh-CN" sz="1400" b="1">
              <a:solidFill>
                <a:srgbClr val="FFFFFF"/>
              </a:solidFill>
              <a:latin typeface="Century Schoolbook" panose="02040604050505020304" pitchFamily="18" charset="0"/>
            </a:endParaRPr>
          </a:p>
        </p:txBody>
      </p:sp>
      <p:sp>
        <p:nvSpPr>
          <p:cNvPr id="73731" name="Rectangle 2"/>
          <p:cNvSpPr>
            <a:spLocks noGrp="1" noRot="1" noChangeArrowheads="1"/>
          </p:cNvSpPr>
          <p:nvPr>
            <p:ph type="title" idx="4294967295"/>
          </p:nvPr>
        </p:nvSpPr>
        <p:spPr/>
        <p:txBody>
          <a:bodyPr/>
          <a:lstStyle/>
          <a:p>
            <a:pPr eaLnBrk="1" hangingPunct="1"/>
            <a:r>
              <a:rPr lang="zh-CN" altLang="en-US"/>
              <a:t>CQOI1452 嗅探器</a:t>
            </a:r>
            <a:endParaRPr lang="zh-CN" altLang="en-US"/>
          </a:p>
        </p:txBody>
      </p:sp>
      <p:sp>
        <p:nvSpPr>
          <p:cNvPr id="73732" name="Rectangle 3"/>
          <p:cNvSpPr>
            <a:spLocks noGrp="1" noRot="1" noChangeArrowheads="1"/>
          </p:cNvSpPr>
          <p:nvPr>
            <p:ph type="body" idx="4294967295"/>
          </p:nvPr>
        </p:nvSpPr>
        <p:spPr>
          <a:xfrm>
            <a:off x="1450976" y="1547003"/>
            <a:ext cx="8915400" cy="3886200"/>
          </a:xfrm>
        </p:spPr>
        <p:txBody>
          <a:bodyPr/>
          <a:lstStyle/>
          <a:p>
            <a:pPr eaLnBrk="1" hangingPunct="1"/>
            <a:r>
              <a:rPr lang="zh-CN" altLang="en-US"/>
              <a:t>在无向图中寻找出所有的满足下面条件的点：割掉这个点之后，能够使得一开始给定的两个点</a:t>
            </a:r>
            <a:r>
              <a:rPr lang="en-US" altLang="zh-CN"/>
              <a:t>a</a:t>
            </a:r>
            <a:r>
              <a:rPr lang="zh-CN" altLang="en-US"/>
              <a:t>和</a:t>
            </a:r>
            <a:r>
              <a:rPr lang="en-US" altLang="zh-CN"/>
              <a:t>b</a:t>
            </a:r>
            <a:r>
              <a:rPr lang="zh-CN" altLang="en-US"/>
              <a:t>不连通，割掉的点不能是</a:t>
            </a:r>
            <a:r>
              <a:rPr lang="en-US" altLang="zh-CN"/>
              <a:t>a</a:t>
            </a:r>
            <a:r>
              <a:rPr lang="zh-CN" altLang="en-US"/>
              <a:t>或者</a:t>
            </a:r>
            <a:r>
              <a:rPr lang="en-US" altLang="zh-CN"/>
              <a:t>b</a:t>
            </a:r>
            <a:r>
              <a:rPr lang="zh-CN" altLang="en-US"/>
              <a:t>。</a:t>
            </a:r>
            <a:r>
              <a:rPr lang="en-US" altLang="zh-CN"/>
              <a:t>(ZJOI2004)</a:t>
            </a:r>
            <a:endParaRPr lang="en-US" altLang="zh-CN"/>
          </a:p>
        </p:txBody>
      </p:sp>
      <p:grpSp>
        <p:nvGrpSpPr>
          <p:cNvPr id="73733" name="组合 1"/>
          <p:cNvGrpSpPr/>
          <p:nvPr/>
        </p:nvGrpSpPr>
        <p:grpSpPr bwMode="auto">
          <a:xfrm>
            <a:off x="1082196" y="2449901"/>
            <a:ext cx="3595688" cy="1219200"/>
            <a:chOff x="0" y="0"/>
            <a:chExt cx="5334000" cy="2286000"/>
          </a:xfrm>
        </p:grpSpPr>
        <p:sp>
          <p:nvSpPr>
            <p:cNvPr id="73745" name="Oval 4"/>
            <p:cNvSpPr>
              <a:spLocks noChangeArrowheads="1"/>
            </p:cNvSpPr>
            <p:nvPr/>
          </p:nvSpPr>
          <p:spPr bwMode="auto">
            <a:xfrm>
              <a:off x="0" y="10668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a</a:t>
              </a:r>
              <a:endParaRPr lang="en-US" altLang="zh-CN" b="1">
                <a:latin typeface="Century Schoolbook" panose="02040604050505020304" pitchFamily="18" charset="0"/>
              </a:endParaRPr>
            </a:p>
          </p:txBody>
        </p:sp>
        <p:sp>
          <p:nvSpPr>
            <p:cNvPr id="73746" name="Oval 5"/>
            <p:cNvSpPr>
              <a:spLocks noChangeArrowheads="1"/>
            </p:cNvSpPr>
            <p:nvPr/>
          </p:nvSpPr>
          <p:spPr bwMode="auto">
            <a:xfrm>
              <a:off x="609600" y="19050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73747" name="Oval 6"/>
            <p:cNvSpPr>
              <a:spLocks noChangeArrowheads="1"/>
            </p:cNvSpPr>
            <p:nvPr/>
          </p:nvSpPr>
          <p:spPr bwMode="auto">
            <a:xfrm>
              <a:off x="1219200" y="1066800"/>
              <a:ext cx="381000" cy="381000"/>
            </a:xfrm>
            <a:prstGeom prst="ellipse">
              <a:avLst/>
            </a:prstGeom>
            <a:solidFill>
              <a:srgbClr val="FF0000"/>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73748" name="Oval 7"/>
            <p:cNvSpPr>
              <a:spLocks noChangeArrowheads="1"/>
            </p:cNvSpPr>
            <p:nvPr/>
          </p:nvSpPr>
          <p:spPr bwMode="auto">
            <a:xfrm>
              <a:off x="2514600" y="19050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73749" name="Oval 8"/>
            <p:cNvSpPr>
              <a:spLocks noChangeArrowheads="1"/>
            </p:cNvSpPr>
            <p:nvPr/>
          </p:nvSpPr>
          <p:spPr bwMode="auto">
            <a:xfrm>
              <a:off x="4953000" y="10668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b</a:t>
              </a:r>
              <a:endParaRPr lang="en-US" altLang="zh-CN" b="1">
                <a:latin typeface="Century Schoolbook" panose="02040604050505020304" pitchFamily="18" charset="0"/>
              </a:endParaRPr>
            </a:p>
          </p:txBody>
        </p:sp>
        <p:sp>
          <p:nvSpPr>
            <p:cNvPr id="73750" name="Oval 9"/>
            <p:cNvSpPr>
              <a:spLocks noChangeArrowheads="1"/>
            </p:cNvSpPr>
            <p:nvPr/>
          </p:nvSpPr>
          <p:spPr bwMode="auto">
            <a:xfrm>
              <a:off x="3200400" y="0"/>
              <a:ext cx="381000" cy="381000"/>
            </a:xfrm>
            <a:prstGeom prst="ellipse">
              <a:avLst/>
            </a:prstGeom>
            <a:solidFill>
              <a:srgbClr val="00B0F0"/>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73751" name="Oval 10"/>
            <p:cNvSpPr>
              <a:spLocks noChangeArrowheads="1"/>
            </p:cNvSpPr>
            <p:nvPr/>
          </p:nvSpPr>
          <p:spPr bwMode="auto">
            <a:xfrm>
              <a:off x="2286000" y="1066800"/>
              <a:ext cx="381000" cy="3810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73752" name="AutoShape 12"/>
            <p:cNvCxnSpPr>
              <a:cxnSpLocks noChangeShapeType="1"/>
              <a:stCxn id="73745" idx="5"/>
              <a:endCxn id="73746" idx="1"/>
            </p:cNvCxnSpPr>
            <p:nvPr/>
          </p:nvCxnSpPr>
          <p:spPr bwMode="auto">
            <a:xfrm>
              <a:off x="325438" y="1392238"/>
              <a:ext cx="339725" cy="568325"/>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73753" name="AutoShape 13"/>
            <p:cNvCxnSpPr>
              <a:cxnSpLocks noChangeShapeType="1"/>
              <a:stCxn id="73745" idx="6"/>
              <a:endCxn id="73747" idx="2"/>
            </p:cNvCxnSpPr>
            <p:nvPr/>
          </p:nvCxnSpPr>
          <p:spPr bwMode="auto">
            <a:xfrm>
              <a:off x="381000" y="1257300"/>
              <a:ext cx="838200" cy="0"/>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73754" name="AutoShape 14"/>
            <p:cNvCxnSpPr>
              <a:cxnSpLocks noChangeShapeType="1"/>
              <a:stCxn id="73746" idx="7"/>
              <a:endCxn id="73747" idx="3"/>
            </p:cNvCxnSpPr>
            <p:nvPr/>
          </p:nvCxnSpPr>
          <p:spPr bwMode="auto">
            <a:xfrm flipV="1">
              <a:off x="935038" y="1392238"/>
              <a:ext cx="339725" cy="568325"/>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73755" name="AutoShape 16"/>
            <p:cNvCxnSpPr>
              <a:cxnSpLocks noChangeShapeType="1"/>
              <a:stCxn id="73747" idx="7"/>
              <a:endCxn id="73750" idx="2"/>
            </p:cNvCxnSpPr>
            <p:nvPr/>
          </p:nvCxnSpPr>
          <p:spPr bwMode="auto">
            <a:xfrm flipV="1">
              <a:off x="1544638" y="190500"/>
              <a:ext cx="1655762" cy="931863"/>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73756" name="AutoShape 19"/>
            <p:cNvCxnSpPr>
              <a:cxnSpLocks noChangeShapeType="1"/>
              <a:stCxn id="73748" idx="0"/>
              <a:endCxn id="73750" idx="4"/>
            </p:cNvCxnSpPr>
            <p:nvPr/>
          </p:nvCxnSpPr>
          <p:spPr bwMode="auto">
            <a:xfrm flipV="1">
              <a:off x="2705100" y="381000"/>
              <a:ext cx="685800" cy="1524000"/>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73757" name="AutoShape 20"/>
            <p:cNvCxnSpPr>
              <a:cxnSpLocks noChangeShapeType="1"/>
              <a:stCxn id="73751" idx="7"/>
              <a:endCxn id="73750" idx="3"/>
            </p:cNvCxnSpPr>
            <p:nvPr/>
          </p:nvCxnSpPr>
          <p:spPr bwMode="auto">
            <a:xfrm flipV="1">
              <a:off x="2611438" y="325438"/>
              <a:ext cx="644525" cy="796925"/>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73758" name="AutoShape 21"/>
            <p:cNvCxnSpPr>
              <a:cxnSpLocks noChangeShapeType="1"/>
              <a:stCxn id="73749" idx="2"/>
              <a:endCxn id="73750" idx="5"/>
            </p:cNvCxnSpPr>
            <p:nvPr/>
          </p:nvCxnSpPr>
          <p:spPr bwMode="auto">
            <a:xfrm flipH="1" flipV="1">
              <a:off x="3525838" y="325438"/>
              <a:ext cx="1427162" cy="931862"/>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73759" name="AutoShape 22"/>
            <p:cNvCxnSpPr>
              <a:cxnSpLocks noChangeShapeType="1"/>
              <a:stCxn id="73748" idx="6"/>
              <a:endCxn id="73749" idx="3"/>
            </p:cNvCxnSpPr>
            <p:nvPr/>
          </p:nvCxnSpPr>
          <p:spPr bwMode="auto">
            <a:xfrm flipV="1">
              <a:off x="2895600" y="1392238"/>
              <a:ext cx="2112963" cy="703262"/>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cxnSp>
          <p:nvCxnSpPr>
            <p:cNvPr id="73760" name="AutoShape 23"/>
            <p:cNvCxnSpPr>
              <a:cxnSpLocks noChangeShapeType="1"/>
              <a:stCxn id="73748" idx="1"/>
              <a:endCxn id="73747" idx="5"/>
            </p:cNvCxnSpPr>
            <p:nvPr/>
          </p:nvCxnSpPr>
          <p:spPr bwMode="auto">
            <a:xfrm flipH="1" flipV="1">
              <a:off x="1544638" y="1392238"/>
              <a:ext cx="1025525" cy="568325"/>
            </a:xfrm>
            <a:prstGeom prst="straightConnector1">
              <a:avLst/>
            </a:prstGeom>
            <a:noFill/>
            <a:ln w="25400">
              <a:solidFill>
                <a:schemeClr val="tx1"/>
              </a:solidFill>
              <a:round/>
            </a:ln>
            <a:extLst>
              <a:ext uri="{909E8E84-426E-40DD-AFC4-6F175D3DCCD1}">
                <a14:hiddenFill xmlns:a14="http://schemas.microsoft.com/office/drawing/2010/main">
                  <a:noFill/>
                </a14:hiddenFill>
              </a:ext>
            </a:extLst>
          </p:spPr>
        </p:cxnSp>
      </p:grpSp>
      <p:graphicFrame>
        <p:nvGraphicFramePr>
          <p:cNvPr id="45078" name="表格 45077"/>
          <p:cNvGraphicFramePr/>
          <p:nvPr/>
        </p:nvGraphicFramePr>
        <p:xfrm>
          <a:off x="3368026" y="4136723"/>
          <a:ext cx="6096000" cy="2108502"/>
        </p:xfrm>
        <a:graphic>
          <a:graphicData uri="http://schemas.openxmlformats.org/drawingml/2006/table">
            <a:tbl>
              <a:tblPr/>
              <a:tblGrid>
                <a:gridCol w="3048000"/>
                <a:gridCol w="3048000"/>
              </a:tblGrid>
              <a:tr h="371208">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b="1" dirty="0">
                          <a:solidFill>
                            <a:srgbClr val="FFFFFF"/>
                          </a:solidFill>
                          <a:latin typeface="Century Schoolbook" panose="02040604050505020304" pitchFamily="18" charset="0"/>
                        </a:rPr>
                        <a:t>Sample Input</a:t>
                      </a:r>
                      <a:endParaRPr lang="en-US" altLang="x-none" sz="1200" b="1" dirty="0">
                        <a:solidFill>
                          <a:srgbClr val="FFFFFF"/>
                        </a:solidFill>
                        <a:latin typeface="Century Schoolbook" panose="02040604050505020304" pitchFamily="18" charset="0"/>
                      </a:endParaRPr>
                    </a:p>
                  </a:txBody>
                  <a:tcPr marT="45687" marB="4568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b="1" dirty="0">
                          <a:solidFill>
                            <a:srgbClr val="FFFFFF"/>
                          </a:solidFill>
                          <a:latin typeface="Century Schoolbook" panose="02040604050505020304" pitchFamily="18" charset="0"/>
                        </a:rPr>
                        <a:t>Sample Output</a:t>
                      </a:r>
                      <a:endParaRPr lang="en-US" altLang="x-none" sz="1200" b="1" dirty="0">
                        <a:solidFill>
                          <a:srgbClr val="FFFFFF"/>
                        </a:solidFill>
                        <a:latin typeface="Century Schoolbook" panose="02040604050505020304" pitchFamily="18" charset="0"/>
                      </a:endParaRPr>
                    </a:p>
                  </a:txBody>
                  <a:tcPr marT="45687" marB="4568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1736992">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5</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2 1</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2 5</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1 4</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5 3</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2 3</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5 1</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0 0</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4 2</a:t>
                      </a:r>
                      <a:endParaRPr lang="en-US" altLang="x-none" sz="1200" dirty="0">
                        <a:solidFill>
                          <a:srgbClr val="000000"/>
                        </a:solidFill>
                        <a:latin typeface="Century Schoolbook" panose="02040604050505020304" pitchFamily="18" charset="0"/>
                      </a:endParaRPr>
                    </a:p>
                  </a:txBody>
                  <a:tcPr marT="45687" marB="4568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1</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zh-CN" altLang="en-US" sz="1200" dirty="0">
                          <a:solidFill>
                            <a:srgbClr val="000000"/>
                          </a:solidFill>
                          <a:latin typeface="Century Schoolbook" panose="02040604050505020304" pitchFamily="18" charset="0"/>
                        </a:rPr>
                        <a:t>结点个数</a:t>
                      </a:r>
                      <a:r>
                        <a:rPr lang="en-US" altLang="x-none" sz="1200" dirty="0">
                          <a:solidFill>
                            <a:srgbClr val="000000"/>
                          </a:solidFill>
                          <a:latin typeface="Century Schoolbook" panose="02040604050505020304" pitchFamily="18" charset="0"/>
                        </a:rPr>
                        <a:t>N≤100</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zh-CN" altLang="en-US" sz="1200" dirty="0">
                          <a:solidFill>
                            <a:srgbClr val="000000"/>
                          </a:solidFill>
                          <a:latin typeface="Century Schoolbook" panose="02040604050505020304" pitchFamily="18" charset="0"/>
                        </a:rPr>
                        <a:t>边数</a:t>
                      </a:r>
                      <a:r>
                        <a:rPr lang="en-US" altLang="x-none" sz="1200" dirty="0">
                          <a:solidFill>
                            <a:srgbClr val="000000"/>
                          </a:solidFill>
                          <a:latin typeface="Century Schoolbook" panose="02040604050505020304" pitchFamily="18" charset="0"/>
                        </a:rPr>
                        <a:t>M≤N*(N-1)/2</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200" dirty="0">
                        <a:solidFill>
                          <a:srgbClr val="000000"/>
                        </a:solidFill>
                        <a:latin typeface="Century Schoolbook" panose="02040604050505020304" pitchFamily="18" charset="0"/>
                      </a:endParaRPr>
                    </a:p>
                  </a:txBody>
                  <a:tcPr marT="45687" marB="4568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r>
            </a:tbl>
          </a:graphicData>
        </a:graphic>
      </p:graphicFrame>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txBox="1">
            <a:spLocks noGrp="1" noChangeArrowheads="1"/>
          </p:cNvSpPr>
          <p:nvPr/>
        </p:nvSpPr>
        <p:spPr bwMode="auto">
          <a:xfrm>
            <a:off x="8077201"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fld id="{E61F3633-7539-4003-A98C-F67BF631D66A}" type="slidenum">
              <a:rPr lang="en-US" altLang="zh-CN" sz="1400" b="1">
                <a:solidFill>
                  <a:srgbClr val="FFFFFF"/>
                </a:solidFill>
                <a:latin typeface="Century Schoolbook" panose="02040604050505020304" pitchFamily="18" charset="0"/>
              </a:rPr>
            </a:fld>
            <a:endParaRPr lang="en-US" altLang="zh-CN" sz="1400" b="1">
              <a:solidFill>
                <a:srgbClr val="FFFFFF"/>
              </a:solidFill>
              <a:latin typeface="Century Schoolbook" panose="02040604050505020304" pitchFamily="18" charset="0"/>
            </a:endParaRPr>
          </a:p>
        </p:txBody>
      </p:sp>
      <p:sp>
        <p:nvSpPr>
          <p:cNvPr id="74755" name="Rectangle 2"/>
          <p:cNvSpPr>
            <a:spLocks noGrp="1" noRot="1" noChangeArrowheads="1"/>
          </p:cNvSpPr>
          <p:nvPr>
            <p:ph type="title" idx="4294967295"/>
          </p:nvPr>
        </p:nvSpPr>
        <p:spPr/>
        <p:txBody>
          <a:bodyPr/>
          <a:lstStyle/>
          <a:p>
            <a:pPr eaLnBrk="1" hangingPunct="1"/>
            <a:r>
              <a:rPr lang="zh-CN" altLang="en-US"/>
              <a:t>分析</a:t>
            </a:r>
            <a:endParaRPr lang="zh-CN" altLang="en-US"/>
          </a:p>
        </p:txBody>
      </p:sp>
      <p:sp>
        <p:nvSpPr>
          <p:cNvPr id="46084" name="Rectangle 3"/>
          <p:cNvSpPr>
            <a:spLocks noGrp="1" noRot="1" noChangeArrowheads="1"/>
          </p:cNvSpPr>
          <p:nvPr>
            <p:ph type="body" idx="4294967295"/>
          </p:nvPr>
        </p:nvSpPr>
        <p:spPr/>
        <p:txBody>
          <a:bodyPr/>
          <a:lstStyle/>
          <a:p>
            <a:pPr eaLnBrk="1" hangingPunct="1"/>
            <a:r>
              <a:rPr lang="zh-CN" altLang="en-US"/>
              <a:t>朴素算法：</a:t>
            </a:r>
            <a:endParaRPr lang="zh-CN" altLang="en-US"/>
          </a:p>
          <a:p>
            <a:pPr eaLnBrk="1" hangingPunct="1"/>
            <a:r>
              <a:rPr lang="zh-CN" altLang="en-US"/>
              <a:t>枚举每个点，删除它，然后判断</a:t>
            </a:r>
            <a:r>
              <a:rPr lang="en-US" altLang="zh-CN"/>
              <a:t>a</a:t>
            </a:r>
            <a:r>
              <a:rPr lang="zh-CN" altLang="en-US"/>
              <a:t>和</a:t>
            </a:r>
            <a:r>
              <a:rPr lang="en-US" altLang="zh-CN"/>
              <a:t>b</a:t>
            </a:r>
            <a:r>
              <a:rPr lang="zh-CN" altLang="en-US"/>
              <a:t>是否连通，时间复杂度</a:t>
            </a:r>
            <a:r>
              <a:rPr lang="en-US" altLang="zh-CN"/>
              <a:t>O(NM)</a:t>
            </a:r>
            <a:endParaRPr lang="en-US" altLang="zh-CN"/>
          </a:p>
          <a:p>
            <a:pPr eaLnBrk="1" hangingPunct="1"/>
            <a:r>
              <a:rPr lang="zh-CN" altLang="en-US"/>
              <a:t>如果数据范围扩大，该算法就失败了！</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6084">
                                            <p:txEl>
                                              <p:pRg st="0" end="0"/>
                                            </p:txEl>
                                          </p:spTgt>
                                        </p:tgtEl>
                                        <p:attrNameLst>
                                          <p:attrName>style.visibility</p:attrName>
                                        </p:attrNameLst>
                                      </p:cBhvr>
                                      <p:to>
                                        <p:strVal val="visible"/>
                                      </p:to>
                                    </p:set>
                                    <p:animEffect transition="in" filter="box(in)">
                                      <p:cBhvr>
                                        <p:cTn id="7" dur="500"/>
                                        <p:tgtEl>
                                          <p:spTgt spid="460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6084">
                                            <p:txEl>
                                              <p:pRg st="1" end="1"/>
                                            </p:txEl>
                                          </p:spTgt>
                                        </p:tgtEl>
                                        <p:attrNameLst>
                                          <p:attrName>style.visibility</p:attrName>
                                        </p:attrNameLst>
                                      </p:cBhvr>
                                      <p:to>
                                        <p:strVal val="visible"/>
                                      </p:to>
                                    </p:set>
                                    <p:animEffect transition="in" filter="box(in)">
                                      <p:cBhvr>
                                        <p:cTn id="12" dur="500"/>
                                        <p:tgtEl>
                                          <p:spTgt spid="460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6084">
                                            <p:txEl>
                                              <p:pRg st="2" end="2"/>
                                            </p:txEl>
                                          </p:spTgt>
                                        </p:tgtEl>
                                        <p:attrNameLst>
                                          <p:attrName>style.visibility</p:attrName>
                                        </p:attrNameLst>
                                      </p:cBhvr>
                                      <p:to>
                                        <p:strVal val="visible"/>
                                      </p:to>
                                    </p:set>
                                    <p:animEffect transition="in" filter="box(in)">
                                      <p:cBhvr>
                                        <p:cTn id="17" dur="500"/>
                                        <p:tgtEl>
                                          <p:spTgt spid="4608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p:cNvSpPr txBox="1">
            <a:spLocks noGrp="1" noChangeArrowheads="1"/>
          </p:cNvSpPr>
          <p:nvPr/>
        </p:nvSpPr>
        <p:spPr bwMode="auto">
          <a:xfrm>
            <a:off x="8077201"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fld id="{C807AA50-A2FF-439B-8090-E31A33891E0E}" type="slidenum">
              <a:rPr lang="en-US" altLang="zh-CN" sz="1400" b="1">
                <a:solidFill>
                  <a:srgbClr val="FFFFFF"/>
                </a:solidFill>
                <a:latin typeface="Century Schoolbook" panose="02040604050505020304" pitchFamily="18" charset="0"/>
              </a:rPr>
            </a:fld>
            <a:endParaRPr lang="en-US" altLang="zh-CN" sz="1400" b="1">
              <a:solidFill>
                <a:srgbClr val="FFFFFF"/>
              </a:solidFill>
              <a:latin typeface="Century Schoolbook" panose="02040604050505020304" pitchFamily="18" charset="0"/>
            </a:endParaRPr>
          </a:p>
        </p:txBody>
      </p:sp>
      <p:sp>
        <p:nvSpPr>
          <p:cNvPr id="75779" name="Rectangle 2"/>
          <p:cNvSpPr>
            <a:spLocks noGrp="1" noRot="1" noChangeArrowheads="1"/>
          </p:cNvSpPr>
          <p:nvPr>
            <p:ph type="title" idx="4294967295"/>
          </p:nvPr>
        </p:nvSpPr>
        <p:spPr>
          <a:xfrm>
            <a:off x="972404" y="624110"/>
            <a:ext cx="8911687" cy="1280890"/>
          </a:xfrm>
        </p:spPr>
        <p:txBody>
          <a:bodyPr/>
          <a:lstStyle/>
          <a:p>
            <a:pPr eaLnBrk="1" hangingPunct="1"/>
            <a:r>
              <a:rPr lang="zh-CN" altLang="en-US"/>
              <a:t>分析</a:t>
            </a:r>
            <a:endParaRPr lang="zh-CN" altLang="en-US"/>
          </a:p>
        </p:txBody>
      </p:sp>
      <p:sp>
        <p:nvSpPr>
          <p:cNvPr id="47108" name="Rectangle 3"/>
          <p:cNvSpPr>
            <a:spLocks noGrp="1" noRot="1" noChangeArrowheads="1"/>
          </p:cNvSpPr>
          <p:nvPr>
            <p:ph type="body" idx="4294967295"/>
          </p:nvPr>
        </p:nvSpPr>
        <p:spPr>
          <a:xfrm>
            <a:off x="2078672" y="1905000"/>
            <a:ext cx="8915400" cy="3886200"/>
          </a:xfrm>
        </p:spPr>
        <p:txBody>
          <a:bodyPr/>
          <a:lstStyle/>
          <a:p>
            <a:pPr eaLnBrk="1" hangingPunct="1">
              <a:lnSpc>
                <a:spcPct val="90000"/>
              </a:lnSpc>
            </a:pPr>
            <a:r>
              <a:rPr lang="zh-CN" altLang="en-US" dirty="0"/>
              <a:t>题目要求的点一定是图中的割点，但是图中的割点不一定题目要求的点。如上图中的蓝色点，它虽然是图中的割点，但是割掉它之后却不能使</a:t>
            </a:r>
            <a:r>
              <a:rPr lang="en-US" altLang="zh-CN" dirty="0"/>
              <a:t>a</a:t>
            </a:r>
            <a:r>
              <a:rPr lang="zh-CN" altLang="en-US" dirty="0"/>
              <a:t>和</a:t>
            </a:r>
            <a:r>
              <a:rPr lang="en-US" altLang="zh-CN" dirty="0"/>
              <a:t>b</a:t>
            </a:r>
            <a:r>
              <a:rPr lang="zh-CN" altLang="en-US" dirty="0"/>
              <a:t>不连通</a:t>
            </a:r>
            <a:endParaRPr lang="zh-CN" altLang="en-US" dirty="0"/>
          </a:p>
          <a:p>
            <a:pPr eaLnBrk="1" hangingPunct="1">
              <a:lnSpc>
                <a:spcPct val="90000"/>
              </a:lnSpc>
            </a:pPr>
            <a:r>
              <a:rPr lang="zh-CN" altLang="en-US" dirty="0"/>
              <a:t>由于</a:t>
            </a:r>
            <a:r>
              <a:rPr lang="en-US" altLang="zh-CN" dirty="0"/>
              <a:t>a</a:t>
            </a:r>
            <a:r>
              <a:rPr lang="zh-CN" altLang="en-US" dirty="0"/>
              <a:t>点肯定不是我们所求的点，所以可以从</a:t>
            </a:r>
            <a:r>
              <a:rPr lang="en-US" altLang="zh-CN" dirty="0"/>
              <a:t>a</a:t>
            </a:r>
            <a:r>
              <a:rPr lang="zh-CN" altLang="en-US" dirty="0"/>
              <a:t>开始</a:t>
            </a:r>
            <a:r>
              <a:rPr lang="en-US" altLang="zh-CN" dirty="0"/>
              <a:t>DFS</a:t>
            </a:r>
            <a:r>
              <a:rPr lang="zh-CN" altLang="en-US" dirty="0"/>
              <a:t>遍历整张图。</a:t>
            </a:r>
            <a:endParaRPr lang="zh-CN" altLang="en-US" dirty="0"/>
          </a:p>
          <a:p>
            <a:pPr eaLnBrk="1" hangingPunct="1">
              <a:lnSpc>
                <a:spcPct val="90000"/>
              </a:lnSpc>
            </a:pPr>
            <a:r>
              <a:rPr lang="zh-CN" altLang="en-US" dirty="0"/>
              <a:t>当判定某个点</a:t>
            </a:r>
            <a:r>
              <a:rPr lang="en-US" altLang="zh-CN" dirty="0"/>
              <a:t>u</a:t>
            </a:r>
            <a:r>
              <a:rPr lang="zh-CN" altLang="en-US" dirty="0"/>
              <a:t>是割点时，检查它的当前儿子</a:t>
            </a:r>
            <a:r>
              <a:rPr lang="en-US" altLang="zh-CN" dirty="0"/>
              <a:t>v</a:t>
            </a:r>
            <a:r>
              <a:rPr lang="zh-CN" altLang="en-US" dirty="0"/>
              <a:t>为根的子树是否包含</a:t>
            </a:r>
            <a:r>
              <a:rPr lang="en-US" altLang="zh-CN" dirty="0"/>
              <a:t>b</a:t>
            </a:r>
            <a:r>
              <a:rPr lang="zh-CN" altLang="en-US" dirty="0"/>
              <a:t>。如果包含，则</a:t>
            </a:r>
            <a:r>
              <a:rPr lang="en-US" altLang="zh-CN" dirty="0"/>
              <a:t>u</a:t>
            </a:r>
            <a:r>
              <a:rPr lang="zh-CN" altLang="en-US" dirty="0"/>
              <a:t>是满足题意的割点，否则不是。</a:t>
            </a:r>
            <a:endParaRPr lang="en-US" altLang="zh-CN" dirty="0"/>
          </a:p>
          <a:p>
            <a:pPr eaLnBrk="1" hangingPunct="1">
              <a:lnSpc>
                <a:spcPct val="90000"/>
              </a:lnSpc>
            </a:pPr>
            <a:r>
              <a:rPr lang="zh-CN" altLang="en-US" dirty="0"/>
              <a:t>怎样方便地判断</a:t>
            </a:r>
            <a:r>
              <a:rPr lang="en-US" altLang="zh-CN" dirty="0"/>
              <a:t>v</a:t>
            </a:r>
            <a:r>
              <a:rPr lang="zh-CN" altLang="en-US" dirty="0"/>
              <a:t>为根的子树是否包含</a:t>
            </a:r>
            <a:r>
              <a:rPr lang="en-US" altLang="zh-CN" dirty="0"/>
              <a:t>b</a:t>
            </a:r>
            <a:r>
              <a:rPr lang="zh-CN" altLang="en-US" dirty="0"/>
              <a:t>呢</a:t>
            </a:r>
            <a:r>
              <a:rPr lang="zh-CN" altLang="en-US" dirty="0" smtClean="0"/>
              <a:t>？</a:t>
            </a:r>
            <a:endParaRPr lang="en-US" altLang="zh-CN" dirty="0" smtClean="0"/>
          </a:p>
          <a:p>
            <a:pPr eaLnBrk="1" hangingPunct="1">
              <a:lnSpc>
                <a:spcPct val="90000"/>
              </a:lnSpc>
            </a:pPr>
            <a:r>
              <a:rPr lang="zh-CN" altLang="en-US" dirty="0" smtClean="0"/>
              <a:t>网上有：</a:t>
            </a:r>
            <a:r>
              <a:rPr lang="en-US" altLang="zh-CN" dirty="0" smtClean="0"/>
              <a:t>low[b] &gt;= dfn[u]</a:t>
            </a:r>
            <a:r>
              <a:rPr lang="zh-CN" altLang="en-US" dirty="0" smtClean="0"/>
              <a:t>？</a:t>
            </a:r>
            <a:endParaRPr lang="en-US" altLang="zh-CN" dirty="0" smtClean="0"/>
          </a:p>
          <a:p>
            <a:pPr eaLnBrk="1" hangingPunct="1">
              <a:lnSpc>
                <a:spcPct val="90000"/>
              </a:lnSpc>
            </a:pPr>
            <a:r>
              <a:rPr lang="zh-CN" altLang="en-US" dirty="0" smtClean="0"/>
              <a:t>事实上</a:t>
            </a:r>
            <a:r>
              <a:rPr lang="zh-CN" dirty="0" smtClean="0"/>
              <a:t>是：</a:t>
            </a:r>
            <a:r>
              <a:rPr lang="en-US" altLang="zh-CN" dirty="0" smtClean="0"/>
              <a:t> dfn</a:t>
            </a:r>
            <a:r>
              <a:rPr lang="en-US" altLang="zh-CN" dirty="0" smtClean="0">
                <a:sym typeface="+mn-ea"/>
              </a:rPr>
              <a:t>[b] &gt;= dfn[v]</a:t>
            </a:r>
            <a:endParaRPr lang="en-US" altLang="zh-CN" dirty="0"/>
          </a:p>
          <a:p>
            <a:pPr eaLnBrk="1" hangingPunct="1">
              <a:lnSpc>
                <a:spcPct val="90000"/>
              </a:lnSpc>
            </a:pP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08">
                                            <p:txEl>
                                              <p:pRg st="0" end="0"/>
                                            </p:txEl>
                                          </p:spTgt>
                                        </p:tgtEl>
                                        <p:attrNameLst>
                                          <p:attrName>style.visibility</p:attrName>
                                        </p:attrNameLst>
                                      </p:cBhvr>
                                      <p:to>
                                        <p:strVal val="visible"/>
                                      </p:to>
                                    </p:set>
                                    <p:anim calcmode="lin" valueType="num">
                                      <p:cBhvr additive="base">
                                        <p:cTn id="7" dur="500" fill="hold"/>
                                        <p:tgtEl>
                                          <p:spTgt spid="4710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710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7108">
                                            <p:txEl>
                                              <p:pRg st="1" end="1"/>
                                            </p:txEl>
                                          </p:spTgt>
                                        </p:tgtEl>
                                        <p:attrNameLst>
                                          <p:attrName>style.visibility</p:attrName>
                                        </p:attrNameLst>
                                      </p:cBhvr>
                                      <p:to>
                                        <p:strVal val="visible"/>
                                      </p:to>
                                    </p:set>
                                    <p:anim calcmode="lin" valueType="num">
                                      <p:cBhvr additive="base">
                                        <p:cTn id="13" dur="500" fill="hold"/>
                                        <p:tgtEl>
                                          <p:spTgt spid="4710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710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7108">
                                            <p:txEl>
                                              <p:pRg st="2" end="2"/>
                                            </p:txEl>
                                          </p:spTgt>
                                        </p:tgtEl>
                                        <p:attrNameLst>
                                          <p:attrName>style.visibility</p:attrName>
                                        </p:attrNameLst>
                                      </p:cBhvr>
                                      <p:to>
                                        <p:strVal val="visible"/>
                                      </p:to>
                                    </p:set>
                                    <p:anim calcmode="lin" valueType="num">
                                      <p:cBhvr additive="base">
                                        <p:cTn id="19" dur="500" fill="hold"/>
                                        <p:tgtEl>
                                          <p:spTgt spid="4710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710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7108">
                                            <p:txEl>
                                              <p:pRg st="3" end="3"/>
                                            </p:txEl>
                                          </p:spTgt>
                                        </p:tgtEl>
                                        <p:attrNameLst>
                                          <p:attrName>style.visibility</p:attrName>
                                        </p:attrNameLst>
                                      </p:cBhvr>
                                      <p:to>
                                        <p:strVal val="visible"/>
                                      </p:to>
                                    </p:set>
                                    <p:anim calcmode="lin" valueType="num">
                                      <p:cBhvr additive="base">
                                        <p:cTn id="25" dur="500" fill="hold"/>
                                        <p:tgtEl>
                                          <p:spTgt spid="4710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710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7108">
                                            <p:txEl>
                                              <p:pRg st="4" end="4"/>
                                            </p:txEl>
                                          </p:spTgt>
                                        </p:tgtEl>
                                        <p:attrNameLst>
                                          <p:attrName>style.visibility</p:attrName>
                                        </p:attrNameLst>
                                      </p:cBhvr>
                                      <p:to>
                                        <p:strVal val="visible"/>
                                      </p:to>
                                    </p:set>
                                    <p:anim calcmode="lin" valueType="num">
                                      <p:cBhvr additive="base">
                                        <p:cTn id="31" dur="500" fill="hold"/>
                                        <p:tgtEl>
                                          <p:spTgt spid="4710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710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7108">
                                            <p:txEl>
                                              <p:pRg st="5" end="5"/>
                                            </p:txEl>
                                          </p:spTgt>
                                        </p:tgtEl>
                                        <p:attrNameLst>
                                          <p:attrName>style.visibility</p:attrName>
                                        </p:attrNameLst>
                                      </p:cBhvr>
                                      <p:to>
                                        <p:strVal val="visible"/>
                                      </p:to>
                                    </p:set>
                                    <p:anim calcmode="lin" valueType="num">
                                      <p:cBhvr additive="base">
                                        <p:cTn id="37" dur="500" fill="hold"/>
                                        <p:tgtEl>
                                          <p:spTgt spid="4710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710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p:cNvSpPr txBox="1">
            <a:spLocks noGrp="1" noChangeArrowheads="1"/>
          </p:cNvSpPr>
          <p:nvPr/>
        </p:nvSpPr>
        <p:spPr bwMode="auto">
          <a:xfrm>
            <a:off x="8077201"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fld id="{0875FA17-B22E-4010-AE2E-0F569F487DBD}" type="slidenum">
              <a:rPr lang="en-US" altLang="zh-CN" sz="1400" b="1">
                <a:solidFill>
                  <a:srgbClr val="FFFFFF"/>
                </a:solidFill>
                <a:latin typeface="Century Schoolbook" panose="02040604050505020304" pitchFamily="18" charset="0"/>
              </a:rPr>
            </a:fld>
            <a:endParaRPr lang="en-US" altLang="zh-CN" sz="1400" b="1">
              <a:solidFill>
                <a:srgbClr val="FFFFFF"/>
              </a:solidFill>
              <a:latin typeface="Century Schoolbook" panose="02040604050505020304" pitchFamily="18" charset="0"/>
            </a:endParaRPr>
          </a:p>
        </p:txBody>
      </p:sp>
      <p:sp>
        <p:nvSpPr>
          <p:cNvPr id="76803" name="Rectangle 2"/>
          <p:cNvSpPr>
            <a:spLocks noGrp="1" noRot="1" noChangeArrowheads="1"/>
          </p:cNvSpPr>
          <p:nvPr>
            <p:ph type="title" idx="4294967295"/>
          </p:nvPr>
        </p:nvSpPr>
        <p:spPr/>
        <p:txBody>
          <a:bodyPr/>
          <a:lstStyle/>
          <a:p>
            <a:pPr eaLnBrk="1" hangingPunct="1"/>
            <a:r>
              <a:rPr lang="zh-CN" altLang="en-US"/>
              <a:t>分析</a:t>
            </a:r>
            <a:endParaRPr lang="zh-CN" altLang="en-US"/>
          </a:p>
        </p:txBody>
      </p:sp>
      <p:sp>
        <p:nvSpPr>
          <p:cNvPr id="76804" name="Rectangle 3"/>
          <p:cNvSpPr>
            <a:spLocks noGrp="1" noRot="1" noChangeArrowheads="1"/>
          </p:cNvSpPr>
          <p:nvPr>
            <p:ph type="body" idx="4294967295"/>
          </p:nvPr>
        </p:nvSpPr>
        <p:spPr/>
        <p:txBody>
          <a:bodyPr/>
          <a:lstStyle/>
          <a:p>
            <a:pPr eaLnBrk="1" hangingPunct="1"/>
            <a:r>
              <a:rPr lang="zh-CN" altLang="en-US"/>
              <a:t>时间复杂度是</a:t>
            </a:r>
            <a:r>
              <a:rPr lang="en-US" altLang="zh-CN"/>
              <a:t>O(M)</a:t>
            </a:r>
            <a:r>
              <a:rPr lang="zh-CN" altLang="en-US"/>
              <a:t>的</a:t>
            </a:r>
            <a:endParaRPr lang="zh-CN" altLang="en-US"/>
          </a:p>
          <a:p>
            <a:pPr eaLnBrk="1" hangingPunct="1"/>
            <a:r>
              <a:rPr lang="zh-CN" altLang="en-US"/>
              <a:t>如图，蓝色的点表示问题的答案，黄色的点虽然是图的割点，但却不是问题要求的答案</a:t>
            </a:r>
            <a:endParaRPr lang="zh-CN" altLang="en-US"/>
          </a:p>
        </p:txBody>
      </p:sp>
      <p:sp>
        <p:nvSpPr>
          <p:cNvPr id="76805" name="Oval 4"/>
          <p:cNvSpPr>
            <a:spLocks noChangeArrowheads="1"/>
          </p:cNvSpPr>
          <p:nvPr/>
        </p:nvSpPr>
        <p:spPr bwMode="auto">
          <a:xfrm>
            <a:off x="5257800" y="32766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a</a:t>
            </a:r>
            <a:endParaRPr lang="en-US" altLang="zh-CN" b="1">
              <a:latin typeface="Century Schoolbook" panose="02040604050505020304" pitchFamily="18" charset="0"/>
            </a:endParaRPr>
          </a:p>
        </p:txBody>
      </p:sp>
      <p:sp>
        <p:nvSpPr>
          <p:cNvPr id="76806" name="Oval 5"/>
          <p:cNvSpPr>
            <a:spLocks noChangeArrowheads="1"/>
          </p:cNvSpPr>
          <p:nvPr/>
        </p:nvSpPr>
        <p:spPr bwMode="auto">
          <a:xfrm>
            <a:off x="4876800" y="3962400"/>
            <a:ext cx="304800" cy="304800"/>
          </a:xfrm>
          <a:prstGeom prst="ellipse">
            <a:avLst/>
          </a:prstGeom>
          <a:solidFill>
            <a:srgbClr val="00B0F0"/>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76807" name="Oval 6"/>
          <p:cNvSpPr>
            <a:spLocks noChangeArrowheads="1"/>
          </p:cNvSpPr>
          <p:nvPr/>
        </p:nvSpPr>
        <p:spPr bwMode="auto">
          <a:xfrm>
            <a:off x="5791200" y="39624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76808" name="Oval 7"/>
          <p:cNvSpPr>
            <a:spLocks noChangeArrowheads="1"/>
          </p:cNvSpPr>
          <p:nvPr/>
        </p:nvSpPr>
        <p:spPr bwMode="auto">
          <a:xfrm>
            <a:off x="4343400" y="49530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sp>
        <p:nvSpPr>
          <p:cNvPr id="76809" name="Oval 8"/>
          <p:cNvSpPr>
            <a:spLocks noChangeArrowheads="1"/>
          </p:cNvSpPr>
          <p:nvPr/>
        </p:nvSpPr>
        <p:spPr bwMode="auto">
          <a:xfrm>
            <a:off x="5105400" y="47244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b</a:t>
            </a:r>
            <a:endParaRPr lang="en-US" altLang="zh-CN" b="1">
              <a:latin typeface="Century Schoolbook" panose="02040604050505020304" pitchFamily="18" charset="0"/>
            </a:endParaRPr>
          </a:p>
        </p:txBody>
      </p:sp>
      <p:cxnSp>
        <p:nvCxnSpPr>
          <p:cNvPr id="76810" name="AutoShape 9"/>
          <p:cNvCxnSpPr>
            <a:cxnSpLocks noChangeShapeType="1"/>
            <a:stCxn id="76805" idx="3"/>
            <a:endCxn id="76806" idx="0"/>
          </p:cNvCxnSpPr>
          <p:nvPr/>
        </p:nvCxnSpPr>
        <p:spPr bwMode="auto">
          <a:xfrm flipH="1">
            <a:off x="5029200" y="3536950"/>
            <a:ext cx="273050" cy="42545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76811" name="AutoShape 10"/>
          <p:cNvCxnSpPr>
            <a:cxnSpLocks noChangeShapeType="1"/>
            <a:stCxn id="76806" idx="3"/>
            <a:endCxn id="76808" idx="0"/>
          </p:cNvCxnSpPr>
          <p:nvPr/>
        </p:nvCxnSpPr>
        <p:spPr bwMode="auto">
          <a:xfrm flipH="1">
            <a:off x="4495800" y="4222750"/>
            <a:ext cx="425450" cy="73025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76812" name="AutoShape 11"/>
          <p:cNvCxnSpPr>
            <a:cxnSpLocks noChangeShapeType="1"/>
            <a:stCxn id="76806" idx="4"/>
            <a:endCxn id="76809" idx="0"/>
          </p:cNvCxnSpPr>
          <p:nvPr/>
        </p:nvCxnSpPr>
        <p:spPr bwMode="auto">
          <a:xfrm>
            <a:off x="5029200" y="4267200"/>
            <a:ext cx="228600" cy="45720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76813" name="AutoShape 12"/>
          <p:cNvCxnSpPr>
            <a:cxnSpLocks noChangeShapeType="1"/>
            <a:stCxn id="76805" idx="5"/>
            <a:endCxn id="76807" idx="0"/>
          </p:cNvCxnSpPr>
          <p:nvPr/>
        </p:nvCxnSpPr>
        <p:spPr bwMode="auto">
          <a:xfrm>
            <a:off x="5518150" y="3536950"/>
            <a:ext cx="425450" cy="42545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76814" name="AutoShape 13"/>
          <p:cNvCxnSpPr>
            <a:cxnSpLocks noChangeShapeType="1"/>
            <a:stCxn id="76807" idx="4"/>
            <a:endCxn id="76815" idx="0"/>
          </p:cNvCxnSpPr>
          <p:nvPr/>
        </p:nvCxnSpPr>
        <p:spPr bwMode="auto">
          <a:xfrm flipH="1">
            <a:off x="5791200" y="4267200"/>
            <a:ext cx="152400" cy="45720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sp>
        <p:nvSpPr>
          <p:cNvPr id="76815" name="Oval 14"/>
          <p:cNvSpPr>
            <a:spLocks noChangeArrowheads="1"/>
          </p:cNvSpPr>
          <p:nvPr/>
        </p:nvSpPr>
        <p:spPr bwMode="auto">
          <a:xfrm>
            <a:off x="5638800" y="47244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76816" name="AutoShape 15"/>
          <p:cNvCxnSpPr>
            <a:cxnSpLocks noChangeShapeType="1"/>
            <a:stCxn id="76808" idx="0"/>
            <a:endCxn id="76806" idx="1"/>
          </p:cNvCxnSpPr>
          <p:nvPr/>
        </p:nvCxnSpPr>
        <p:spPr bwMode="auto">
          <a:xfrm rot="16200000">
            <a:off x="4235450" y="4267200"/>
            <a:ext cx="946150" cy="425450"/>
          </a:xfrm>
          <a:prstGeom prst="curvedConnector3">
            <a:avLst>
              <a:gd name="adj1" fmla="val 128861"/>
            </a:avLst>
          </a:prstGeom>
          <a:noFill/>
          <a:ln w="25400">
            <a:solidFill>
              <a:srgbClr val="FF0000"/>
            </a:solidFill>
            <a:round/>
            <a:tailEnd type="arrow" w="med" len="med"/>
          </a:ln>
          <a:extLst>
            <a:ext uri="{909E8E84-426E-40DD-AFC4-6F175D3DCCD1}">
              <a14:hiddenFill xmlns:a14="http://schemas.microsoft.com/office/drawing/2010/main">
                <a:noFill/>
              </a14:hiddenFill>
            </a:ext>
          </a:extLst>
        </p:spPr>
      </p:cxnSp>
      <p:sp>
        <p:nvSpPr>
          <p:cNvPr id="76817" name="Oval 16"/>
          <p:cNvSpPr>
            <a:spLocks noChangeArrowheads="1"/>
          </p:cNvSpPr>
          <p:nvPr/>
        </p:nvSpPr>
        <p:spPr bwMode="auto">
          <a:xfrm>
            <a:off x="6324600" y="4724400"/>
            <a:ext cx="304800" cy="304800"/>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76818" name="AutoShape 17"/>
          <p:cNvCxnSpPr>
            <a:cxnSpLocks noChangeShapeType="1"/>
            <a:stCxn id="76807" idx="5"/>
            <a:endCxn id="76817" idx="1"/>
          </p:cNvCxnSpPr>
          <p:nvPr/>
        </p:nvCxnSpPr>
        <p:spPr bwMode="auto">
          <a:xfrm>
            <a:off x="6051550" y="4222750"/>
            <a:ext cx="317500" cy="54610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76819" name="AutoShape 18"/>
          <p:cNvCxnSpPr>
            <a:cxnSpLocks noChangeShapeType="1"/>
            <a:stCxn id="76815" idx="0"/>
            <a:endCxn id="76805" idx="4"/>
          </p:cNvCxnSpPr>
          <p:nvPr/>
        </p:nvCxnSpPr>
        <p:spPr bwMode="auto">
          <a:xfrm rot="5400000" flipH="1">
            <a:off x="5029200" y="3962400"/>
            <a:ext cx="1143000" cy="381000"/>
          </a:xfrm>
          <a:prstGeom prst="curvedConnector3">
            <a:avLst>
              <a:gd name="adj1" fmla="val 50000"/>
            </a:avLst>
          </a:prstGeom>
          <a:noFill/>
          <a:ln w="25400">
            <a:solidFill>
              <a:srgbClr val="FF0000"/>
            </a:solidFill>
            <a:round/>
            <a:tailEnd type="arrow" w="med" len="med"/>
          </a:ln>
          <a:extLst>
            <a:ext uri="{909E8E84-426E-40DD-AFC4-6F175D3DCCD1}">
              <a14:hiddenFill xmlns:a14="http://schemas.microsoft.com/office/drawing/2010/main">
                <a:noFill/>
              </a14:hiddenFill>
            </a:ext>
          </a:extLst>
        </p:spPr>
      </p:cxnSp>
      <p:sp>
        <p:nvSpPr>
          <p:cNvPr id="76820" name="Oval 19"/>
          <p:cNvSpPr>
            <a:spLocks noChangeArrowheads="1"/>
          </p:cNvSpPr>
          <p:nvPr/>
        </p:nvSpPr>
        <p:spPr bwMode="auto">
          <a:xfrm>
            <a:off x="6096000" y="53340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76821" name="AutoShape 20"/>
          <p:cNvCxnSpPr>
            <a:cxnSpLocks noChangeShapeType="1"/>
            <a:stCxn id="76817" idx="3"/>
            <a:endCxn id="76820" idx="0"/>
          </p:cNvCxnSpPr>
          <p:nvPr/>
        </p:nvCxnSpPr>
        <p:spPr bwMode="auto">
          <a:xfrm flipH="1">
            <a:off x="6248400" y="4984750"/>
            <a:ext cx="120650" cy="34925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sp>
        <p:nvSpPr>
          <p:cNvPr id="76822" name="Oval 21"/>
          <p:cNvSpPr>
            <a:spLocks noChangeArrowheads="1"/>
          </p:cNvSpPr>
          <p:nvPr/>
        </p:nvSpPr>
        <p:spPr bwMode="auto">
          <a:xfrm>
            <a:off x="6629400" y="58674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76823" name="AutoShape 22"/>
          <p:cNvCxnSpPr>
            <a:cxnSpLocks noChangeShapeType="1"/>
            <a:stCxn id="76820" idx="5"/>
            <a:endCxn id="76822" idx="1"/>
          </p:cNvCxnSpPr>
          <p:nvPr/>
        </p:nvCxnSpPr>
        <p:spPr bwMode="auto">
          <a:xfrm>
            <a:off x="6356350" y="5594350"/>
            <a:ext cx="317500" cy="31750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76824" name="AutoShape 23"/>
          <p:cNvCxnSpPr>
            <a:cxnSpLocks noChangeShapeType="1"/>
            <a:stCxn id="76822" idx="0"/>
            <a:endCxn id="76817" idx="4"/>
          </p:cNvCxnSpPr>
          <p:nvPr/>
        </p:nvCxnSpPr>
        <p:spPr bwMode="auto">
          <a:xfrm rot="5400000" flipH="1">
            <a:off x="6210300" y="5295900"/>
            <a:ext cx="838200" cy="304800"/>
          </a:xfrm>
          <a:prstGeom prst="curvedConnector3">
            <a:avLst>
              <a:gd name="adj1" fmla="val 50000"/>
            </a:avLst>
          </a:prstGeom>
          <a:noFill/>
          <a:ln w="25400">
            <a:solidFill>
              <a:srgbClr val="FF0000"/>
            </a:solidFill>
            <a:round/>
            <a:tailEnd type="arrow" w="med" len="med"/>
          </a:ln>
          <a:extLst>
            <a:ext uri="{909E8E84-426E-40DD-AFC4-6F175D3DCCD1}">
              <a14:hiddenFill xmlns:a14="http://schemas.microsoft.com/office/drawing/2010/main">
                <a:noFill/>
              </a14:hiddenFill>
            </a:ext>
          </a:extLst>
        </p:spPr>
      </p:cxnSp>
      <p:sp>
        <p:nvSpPr>
          <p:cNvPr id="76825" name="Oval 25"/>
          <p:cNvSpPr>
            <a:spLocks noChangeArrowheads="1"/>
          </p:cNvSpPr>
          <p:nvPr/>
        </p:nvSpPr>
        <p:spPr bwMode="auto">
          <a:xfrm>
            <a:off x="4953000" y="5334000"/>
            <a:ext cx="304800" cy="304800"/>
          </a:xfrm>
          <a:prstGeom prst="ellipse">
            <a:avLst/>
          </a:prstGeom>
          <a:solidFill>
            <a:srgbClr val="FFFF00"/>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76826" name="AutoShape 26"/>
          <p:cNvCxnSpPr>
            <a:cxnSpLocks noChangeShapeType="1"/>
            <a:stCxn id="76809" idx="4"/>
            <a:endCxn id="76825" idx="0"/>
          </p:cNvCxnSpPr>
          <p:nvPr/>
        </p:nvCxnSpPr>
        <p:spPr bwMode="auto">
          <a:xfrm flipH="1">
            <a:off x="5105400" y="5029200"/>
            <a:ext cx="152400" cy="30480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sp>
        <p:nvSpPr>
          <p:cNvPr id="76827" name="Oval 28"/>
          <p:cNvSpPr>
            <a:spLocks noChangeArrowheads="1"/>
          </p:cNvSpPr>
          <p:nvPr/>
        </p:nvSpPr>
        <p:spPr bwMode="auto">
          <a:xfrm>
            <a:off x="5257800" y="58674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endParaRPr lang="zh-CN" altLang="en-US">
              <a:latin typeface="Century Schoolbook" panose="02040604050505020304" pitchFamily="18" charset="0"/>
            </a:endParaRPr>
          </a:p>
        </p:txBody>
      </p:sp>
      <p:cxnSp>
        <p:nvCxnSpPr>
          <p:cNvPr id="76828" name="AutoShape 29"/>
          <p:cNvCxnSpPr>
            <a:cxnSpLocks noChangeShapeType="1"/>
            <a:stCxn id="76825" idx="4"/>
            <a:endCxn id="76827" idx="0"/>
          </p:cNvCxnSpPr>
          <p:nvPr/>
        </p:nvCxnSpPr>
        <p:spPr bwMode="auto">
          <a:xfrm>
            <a:off x="5105400" y="5638800"/>
            <a:ext cx="304800" cy="22860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5"/>
          <p:cNvSpPr txBox="1">
            <a:spLocks noGrp="1" noChangeArrowheads="1"/>
          </p:cNvSpPr>
          <p:nvPr/>
        </p:nvSpPr>
        <p:spPr bwMode="auto">
          <a:xfrm>
            <a:off x="8077201"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fld id="{2B1847DF-5197-40C5-8590-126FEBC96AD1}" type="slidenum">
              <a:rPr lang="en-US" altLang="zh-CN" sz="1400" b="1">
                <a:solidFill>
                  <a:srgbClr val="FFFFFF"/>
                </a:solidFill>
                <a:latin typeface="Century Schoolbook" panose="02040604050505020304" pitchFamily="18" charset="0"/>
              </a:rPr>
            </a:fld>
            <a:endParaRPr lang="en-US" altLang="zh-CN" sz="1400" b="1">
              <a:solidFill>
                <a:srgbClr val="FFFFFF"/>
              </a:solidFill>
              <a:latin typeface="Century Schoolbook" panose="02040604050505020304" pitchFamily="18" charset="0"/>
            </a:endParaRPr>
          </a:p>
        </p:txBody>
      </p:sp>
      <p:sp>
        <p:nvSpPr>
          <p:cNvPr id="77827" name="Rectangle 2"/>
          <p:cNvSpPr>
            <a:spLocks noGrp="1" noRot="1" noChangeArrowheads="1"/>
          </p:cNvSpPr>
          <p:nvPr>
            <p:ph type="title" idx="4294967295"/>
          </p:nvPr>
        </p:nvSpPr>
        <p:spPr/>
        <p:txBody>
          <a:bodyPr/>
          <a:lstStyle/>
          <a:p>
            <a:pPr eaLnBrk="1" hangingPunct="1"/>
            <a:r>
              <a:rPr lang="zh-CN" altLang="en-US"/>
              <a:t>CQOI1453 关键网线</a:t>
            </a:r>
            <a:endParaRPr lang="zh-CN" altLang="en-US"/>
          </a:p>
        </p:txBody>
      </p:sp>
      <p:sp>
        <p:nvSpPr>
          <p:cNvPr id="77828" name="Rectangle 3"/>
          <p:cNvSpPr>
            <a:spLocks noGrp="1" noRot="1" noChangeArrowheads="1"/>
          </p:cNvSpPr>
          <p:nvPr>
            <p:ph type="body" idx="4294967295"/>
          </p:nvPr>
        </p:nvSpPr>
        <p:spPr>
          <a:xfrm>
            <a:off x="1105469" y="1590136"/>
            <a:ext cx="8915400" cy="3886200"/>
          </a:xfrm>
        </p:spPr>
        <p:txBody>
          <a:bodyPr/>
          <a:lstStyle/>
          <a:p>
            <a:pPr eaLnBrk="1" hangingPunct="1">
              <a:lnSpc>
                <a:spcPct val="150000"/>
              </a:lnSpc>
            </a:pPr>
            <a:r>
              <a:rPr lang="zh-CN" altLang="en-US" dirty="0"/>
              <a:t>无向连通图中，某些点具有</a:t>
            </a:r>
            <a:r>
              <a:rPr lang="en-US" altLang="zh-CN" dirty="0"/>
              <a:t>A</a:t>
            </a:r>
            <a:r>
              <a:rPr lang="zh-CN" altLang="en-US" dirty="0"/>
              <a:t>属性，某些点具有</a:t>
            </a:r>
            <a:r>
              <a:rPr lang="en-US" altLang="zh-CN" dirty="0"/>
              <a:t>B</a:t>
            </a:r>
            <a:r>
              <a:rPr lang="zh-CN" altLang="en-US" dirty="0"/>
              <a:t>属性。请问哪些边割掉之后能够使得某个连通区域内没有</a:t>
            </a:r>
            <a:r>
              <a:rPr lang="en-US" altLang="zh-CN" dirty="0"/>
              <a:t>A</a:t>
            </a:r>
            <a:r>
              <a:rPr lang="zh-CN" altLang="en-US" dirty="0"/>
              <a:t>属性的点或者没有</a:t>
            </a:r>
            <a:r>
              <a:rPr lang="en-US" altLang="zh-CN" dirty="0"/>
              <a:t>B</a:t>
            </a:r>
            <a:r>
              <a:rPr lang="zh-CN" altLang="en-US" dirty="0"/>
              <a:t>属性的点。</a:t>
            </a:r>
            <a:r>
              <a:rPr lang="en-US" altLang="zh-CN" dirty="0"/>
              <a:t>(CEOI2005)</a:t>
            </a:r>
            <a:endParaRPr lang="en-US" altLang="zh-CN" dirty="0"/>
          </a:p>
          <a:p>
            <a:pPr eaLnBrk="1" hangingPunct="1">
              <a:lnSpc>
                <a:spcPct val="150000"/>
              </a:lnSpc>
            </a:pPr>
            <a:r>
              <a:rPr lang="zh-CN" altLang="en-US" dirty="0"/>
              <a:t>数据范围约定</a:t>
            </a:r>
            <a:endParaRPr lang="zh-CN" altLang="en-US" dirty="0"/>
          </a:p>
          <a:p>
            <a:pPr lvl="1" eaLnBrk="1" hangingPunct="1">
              <a:lnSpc>
                <a:spcPct val="150000"/>
              </a:lnSpc>
            </a:pPr>
            <a:r>
              <a:rPr lang="zh-CN" altLang="en-US" sz="1800" dirty="0"/>
              <a:t>结点个数</a:t>
            </a:r>
            <a:r>
              <a:rPr lang="en-US" altLang="zh-CN" sz="1800" dirty="0"/>
              <a:t>N≤100000</a:t>
            </a:r>
            <a:endParaRPr lang="en-US" altLang="zh-CN" sz="1800" dirty="0"/>
          </a:p>
          <a:p>
            <a:pPr lvl="1" eaLnBrk="1" hangingPunct="1">
              <a:lnSpc>
                <a:spcPct val="150000"/>
              </a:lnSpc>
            </a:pPr>
            <a:r>
              <a:rPr lang="zh-CN" altLang="en-US" sz="1800" dirty="0"/>
              <a:t>边数</a:t>
            </a:r>
            <a:r>
              <a:rPr lang="en-US" altLang="zh-CN" sz="1800" dirty="0"/>
              <a:t>M≤1000000</a:t>
            </a:r>
            <a:endParaRPr lang="en-US" altLang="zh-CN" sz="1800" dirty="0"/>
          </a:p>
        </p:txBody>
      </p:sp>
      <p:graphicFrame>
        <p:nvGraphicFramePr>
          <p:cNvPr id="49157" name="表格 49156"/>
          <p:cNvGraphicFramePr/>
          <p:nvPr/>
        </p:nvGraphicFramePr>
        <p:xfrm>
          <a:off x="4666740" y="3267995"/>
          <a:ext cx="6096000" cy="2838637"/>
        </p:xfrm>
        <a:graphic>
          <a:graphicData uri="http://schemas.openxmlformats.org/drawingml/2006/table">
            <a:tbl>
              <a:tblPr/>
              <a:tblGrid>
                <a:gridCol w="3048000"/>
                <a:gridCol w="3048000"/>
              </a:tblGrid>
              <a:tr h="369783">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b="1" dirty="0">
                          <a:solidFill>
                            <a:srgbClr val="FFFFFF"/>
                          </a:solidFill>
                          <a:latin typeface="Century Schoolbook" panose="02040604050505020304" pitchFamily="18" charset="0"/>
                        </a:rPr>
                        <a:t>Sample Input</a:t>
                      </a:r>
                      <a:endParaRPr lang="en-US" altLang="x-none" sz="1200" b="1" dirty="0">
                        <a:solidFill>
                          <a:srgbClr val="FFFFFF"/>
                        </a:solidFill>
                        <a:latin typeface="Century Schoolbook" panose="02040604050505020304" pitchFamily="18" charset="0"/>
                      </a:endParaRPr>
                    </a:p>
                  </a:txBody>
                  <a:tcPr marT="45707" marB="4570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b="1" dirty="0">
                          <a:solidFill>
                            <a:srgbClr val="FFFFFF"/>
                          </a:solidFill>
                          <a:latin typeface="Century Schoolbook" panose="02040604050505020304" pitchFamily="18" charset="0"/>
                        </a:rPr>
                        <a:t>Sample Output</a:t>
                      </a:r>
                      <a:endParaRPr lang="en-US" altLang="x-none" sz="1200" b="1" dirty="0">
                        <a:solidFill>
                          <a:srgbClr val="FFFFFF"/>
                        </a:solidFill>
                        <a:latin typeface="Century Schoolbook" panose="02040604050505020304" pitchFamily="18" charset="0"/>
                      </a:endParaRPr>
                    </a:p>
                  </a:txBody>
                  <a:tcPr marT="45707" marB="4570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2468667">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9 10 3 4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2 4 5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4 9 8 3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1 2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4 1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2 3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4 2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1 5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5 6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6 7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6 8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7 9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8 7</a:t>
                      </a:r>
                      <a:endParaRPr lang="en-US" altLang="x-none" sz="1200" dirty="0">
                        <a:solidFill>
                          <a:srgbClr val="000000"/>
                        </a:solidFill>
                        <a:latin typeface="Century Schoolbook" panose="02040604050505020304" pitchFamily="18" charset="0"/>
                      </a:endParaRPr>
                    </a:p>
                  </a:txBody>
                  <a:tcPr marT="45707" marB="4570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3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2 3</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5 6 </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7 9</a:t>
                      </a:r>
                      <a:endParaRPr lang="en-US" altLang="x-none" sz="1200" dirty="0">
                        <a:solidFill>
                          <a:srgbClr val="000000"/>
                        </a:solidFill>
                        <a:latin typeface="Century Schoolbook" panose="02040604050505020304" pitchFamily="18" charset="0"/>
                      </a:endParaRPr>
                    </a:p>
                  </a:txBody>
                  <a:tcPr marT="45707" marB="4570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r>
            </a:tbl>
          </a:graphicData>
        </a:graphic>
      </p:graphicFrame>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5"/>
          <p:cNvSpPr txBox="1">
            <a:spLocks noGrp="1" noChangeArrowheads="1"/>
          </p:cNvSpPr>
          <p:nvPr/>
        </p:nvSpPr>
        <p:spPr bwMode="auto">
          <a:xfrm>
            <a:off x="8077201"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fld id="{4182FC30-0B34-46AD-9531-514CCB3CDFAC}" type="slidenum">
              <a:rPr lang="en-US" altLang="zh-CN" sz="1400" b="1">
                <a:solidFill>
                  <a:srgbClr val="FFFFFF"/>
                </a:solidFill>
                <a:latin typeface="Century Schoolbook" panose="02040604050505020304" pitchFamily="18" charset="0"/>
              </a:rPr>
            </a:fld>
            <a:endParaRPr lang="en-US" altLang="zh-CN" sz="1400" b="1">
              <a:solidFill>
                <a:srgbClr val="FFFFFF"/>
              </a:solidFill>
              <a:latin typeface="Century Schoolbook" panose="02040604050505020304" pitchFamily="18" charset="0"/>
            </a:endParaRPr>
          </a:p>
        </p:txBody>
      </p:sp>
      <p:sp>
        <p:nvSpPr>
          <p:cNvPr id="78851" name="Rectangle 2"/>
          <p:cNvSpPr>
            <a:spLocks noGrp="1" noRot="1" noChangeArrowheads="1"/>
          </p:cNvSpPr>
          <p:nvPr>
            <p:ph type="title" idx="4294967295"/>
          </p:nvPr>
        </p:nvSpPr>
        <p:spPr/>
        <p:txBody>
          <a:bodyPr/>
          <a:lstStyle/>
          <a:p>
            <a:pPr eaLnBrk="1" hangingPunct="1"/>
            <a:r>
              <a:rPr lang="zh-CN" altLang="en-US"/>
              <a:t>分析</a:t>
            </a:r>
            <a:endParaRPr lang="zh-CN" altLang="en-US"/>
          </a:p>
        </p:txBody>
      </p:sp>
      <p:sp>
        <p:nvSpPr>
          <p:cNvPr id="50180" name="Rectangle 3"/>
          <p:cNvSpPr>
            <a:spLocks noGrp="1" noRot="1" noChangeArrowheads="1"/>
          </p:cNvSpPr>
          <p:nvPr>
            <p:ph type="body" idx="4294967295"/>
          </p:nvPr>
        </p:nvSpPr>
        <p:spPr/>
        <p:txBody>
          <a:bodyPr/>
          <a:lstStyle/>
          <a:p>
            <a:pPr eaLnBrk="1" hangingPunct="1">
              <a:lnSpc>
                <a:spcPct val="150000"/>
              </a:lnSpc>
            </a:pPr>
            <a:r>
              <a:rPr lang="zh-CN" altLang="en-US"/>
              <a:t>朴素算法：</a:t>
            </a:r>
            <a:endParaRPr lang="zh-CN" altLang="en-US"/>
          </a:p>
          <a:p>
            <a:pPr eaLnBrk="1" hangingPunct="1">
              <a:lnSpc>
                <a:spcPct val="150000"/>
              </a:lnSpc>
            </a:pPr>
            <a:r>
              <a:rPr lang="zh-CN" altLang="en-US"/>
              <a:t>枚举每条边，删除它，然后判断是否有独立出来的连通区域内没有</a:t>
            </a:r>
            <a:r>
              <a:rPr lang="en-US" altLang="zh-CN"/>
              <a:t>A</a:t>
            </a:r>
            <a:r>
              <a:rPr lang="zh-CN" altLang="en-US"/>
              <a:t>属性或者没有</a:t>
            </a:r>
            <a:r>
              <a:rPr lang="en-US" altLang="zh-CN"/>
              <a:t>B</a:t>
            </a:r>
            <a:r>
              <a:rPr lang="zh-CN" altLang="en-US"/>
              <a:t>属性。复杂度</a:t>
            </a:r>
            <a:r>
              <a:rPr lang="en-US" altLang="zh-CN"/>
              <a:t>O(M</a:t>
            </a:r>
            <a:r>
              <a:rPr lang="en-US" altLang="zh-CN" baseline="30000"/>
              <a:t>2</a:t>
            </a:r>
            <a:r>
              <a:rPr lang="en-US" altLang="zh-CN"/>
              <a:t>)</a:t>
            </a:r>
            <a:endParaRPr lang="en-US" altLang="zh-CN"/>
          </a:p>
          <a:p>
            <a:pPr eaLnBrk="1" hangingPunct="1">
              <a:lnSpc>
                <a:spcPct val="150000"/>
              </a:lnSpc>
            </a:pPr>
            <a:r>
              <a:rPr lang="zh-CN" altLang="en-US"/>
              <a:t>当然，这个复杂度太大了！</a:t>
            </a:r>
            <a:endParaRPr lang="zh-CN" altLang="en-US"/>
          </a:p>
          <a:p>
            <a:pPr eaLnBrk="1" hangingPunct="1">
              <a:lnSpc>
                <a:spcPct val="150000"/>
              </a:lnSpc>
            </a:pPr>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80">
                                            <p:txEl>
                                              <p:pRg st="0" end="0"/>
                                            </p:txEl>
                                          </p:spTgt>
                                        </p:tgtEl>
                                        <p:attrNameLst>
                                          <p:attrName>style.visibility</p:attrName>
                                        </p:attrNameLst>
                                      </p:cBhvr>
                                      <p:to>
                                        <p:strVal val="visible"/>
                                      </p:to>
                                    </p:set>
                                    <p:anim calcmode="lin" valueType="num">
                                      <p:cBhvr additive="base">
                                        <p:cTn id="7" dur="500" fill="hold"/>
                                        <p:tgtEl>
                                          <p:spTgt spid="501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1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180">
                                            <p:txEl>
                                              <p:pRg st="1" end="1"/>
                                            </p:txEl>
                                          </p:spTgt>
                                        </p:tgtEl>
                                        <p:attrNameLst>
                                          <p:attrName>style.visibility</p:attrName>
                                        </p:attrNameLst>
                                      </p:cBhvr>
                                      <p:to>
                                        <p:strVal val="visible"/>
                                      </p:to>
                                    </p:set>
                                    <p:anim calcmode="lin" valueType="num">
                                      <p:cBhvr additive="base">
                                        <p:cTn id="13" dur="500" fill="hold"/>
                                        <p:tgtEl>
                                          <p:spTgt spid="501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18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0180">
                                            <p:txEl>
                                              <p:pRg st="2" end="2"/>
                                            </p:txEl>
                                          </p:spTgt>
                                        </p:tgtEl>
                                        <p:attrNameLst>
                                          <p:attrName>style.visibility</p:attrName>
                                        </p:attrNameLst>
                                      </p:cBhvr>
                                      <p:to>
                                        <p:strVal val="visible"/>
                                      </p:to>
                                    </p:set>
                                    <p:anim calcmode="lin" valueType="num">
                                      <p:cBhvr additive="base">
                                        <p:cTn id="19" dur="500" fill="hold"/>
                                        <p:tgtEl>
                                          <p:spTgt spid="5018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018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5"/>
          <p:cNvSpPr txBox="1">
            <a:spLocks noGrp="1" noChangeArrowheads="1"/>
          </p:cNvSpPr>
          <p:nvPr/>
        </p:nvSpPr>
        <p:spPr bwMode="auto">
          <a:xfrm>
            <a:off x="8077201"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fld id="{857E1F70-A26E-4C1C-A46B-338C3AD82162}" type="slidenum">
              <a:rPr lang="en-US" altLang="zh-CN" sz="1400" b="1">
                <a:solidFill>
                  <a:srgbClr val="FFFFFF"/>
                </a:solidFill>
                <a:latin typeface="Century Schoolbook" panose="02040604050505020304" pitchFamily="18" charset="0"/>
              </a:rPr>
            </a:fld>
            <a:endParaRPr lang="en-US" altLang="zh-CN" sz="1400" b="1">
              <a:solidFill>
                <a:srgbClr val="FFFFFF"/>
              </a:solidFill>
              <a:latin typeface="Century Schoolbook" panose="02040604050505020304" pitchFamily="18" charset="0"/>
            </a:endParaRPr>
          </a:p>
        </p:txBody>
      </p:sp>
      <p:sp>
        <p:nvSpPr>
          <p:cNvPr id="79875" name="Rectangle 2"/>
          <p:cNvSpPr>
            <a:spLocks noGrp="1" noRot="1" noChangeArrowheads="1"/>
          </p:cNvSpPr>
          <p:nvPr>
            <p:ph type="title" idx="4294967295"/>
          </p:nvPr>
        </p:nvSpPr>
        <p:spPr/>
        <p:txBody>
          <a:bodyPr/>
          <a:lstStyle/>
          <a:p>
            <a:pPr eaLnBrk="1" hangingPunct="1"/>
            <a:r>
              <a:rPr lang="zh-CN" altLang="en-US"/>
              <a:t>分析</a:t>
            </a:r>
            <a:endParaRPr lang="zh-CN" altLang="en-US"/>
          </a:p>
        </p:txBody>
      </p:sp>
      <p:sp>
        <p:nvSpPr>
          <p:cNvPr id="51204" name="Rectangle 3"/>
          <p:cNvSpPr>
            <a:spLocks noGrp="1" noRot="1" noChangeArrowheads="1"/>
          </p:cNvSpPr>
          <p:nvPr>
            <p:ph type="body" idx="4294967295"/>
          </p:nvPr>
        </p:nvSpPr>
        <p:spPr/>
        <p:txBody>
          <a:bodyPr/>
          <a:lstStyle/>
          <a:p>
            <a:pPr eaLnBrk="1" hangingPunct="1"/>
            <a:r>
              <a:rPr lang="zh-CN" altLang="en-US"/>
              <a:t>正如嗅探器一样，题目要求的边一定是原图中的割边，但是原图中的割边却不一定是题目中要求的边。</a:t>
            </a:r>
            <a:endParaRPr lang="zh-CN" altLang="en-US"/>
          </a:p>
          <a:p>
            <a:pPr eaLnBrk="1" hangingPunct="1"/>
            <a:r>
              <a:rPr lang="zh-CN" altLang="en-US"/>
              <a:t>设</a:t>
            </a:r>
            <a:r>
              <a:rPr lang="en-US" altLang="zh-CN"/>
              <a:t>A</a:t>
            </a:r>
            <a:r>
              <a:rPr lang="zh-CN" altLang="en-US"/>
              <a:t>种属性总共有</a:t>
            </a:r>
            <a:r>
              <a:rPr lang="en-US" altLang="zh-CN"/>
              <a:t>SUMA</a:t>
            </a:r>
            <a:r>
              <a:rPr lang="zh-CN" altLang="en-US"/>
              <a:t>个，</a:t>
            </a:r>
            <a:r>
              <a:rPr lang="en-US" altLang="zh-CN"/>
              <a:t>B</a:t>
            </a:r>
            <a:r>
              <a:rPr lang="zh-CN" altLang="en-US"/>
              <a:t>中属性总共有</a:t>
            </a:r>
            <a:r>
              <a:rPr lang="en-US" altLang="zh-CN"/>
              <a:t>SUMB</a:t>
            </a:r>
            <a:r>
              <a:rPr lang="zh-CN" altLang="en-US"/>
              <a:t>个。和嗅探器类似的，如果边</a:t>
            </a:r>
            <a:r>
              <a:rPr lang="en-US" altLang="zh-CN"/>
              <a:t>e=u→v</a:t>
            </a:r>
            <a:r>
              <a:rPr lang="zh-CN" altLang="en-US"/>
              <a:t>是割边，且以</a:t>
            </a:r>
            <a:r>
              <a:rPr lang="en-US" altLang="zh-CN"/>
              <a:t>v</a:t>
            </a:r>
            <a:r>
              <a:rPr lang="zh-CN" altLang="en-US"/>
              <a:t>为根的子树中，</a:t>
            </a:r>
            <a:r>
              <a:rPr lang="en-US" altLang="zh-CN"/>
              <a:t>A</a:t>
            </a:r>
            <a:r>
              <a:rPr lang="zh-CN" altLang="en-US"/>
              <a:t>种属性的数目为</a:t>
            </a:r>
            <a:r>
              <a:rPr lang="en-US" altLang="zh-CN"/>
              <a:t>0</a:t>
            </a:r>
            <a:r>
              <a:rPr lang="zh-CN" altLang="en-US"/>
              <a:t>或者为</a:t>
            </a:r>
            <a:r>
              <a:rPr lang="en-US" altLang="zh-CN"/>
              <a:t>SUMA</a:t>
            </a:r>
            <a:r>
              <a:rPr lang="zh-CN" altLang="en-US"/>
              <a:t>，或者</a:t>
            </a:r>
            <a:r>
              <a:rPr lang="en-US" altLang="zh-CN"/>
              <a:t>B</a:t>
            </a:r>
            <a:r>
              <a:rPr lang="zh-CN" altLang="en-US"/>
              <a:t>种属性的数目为</a:t>
            </a:r>
            <a:r>
              <a:rPr lang="en-US" altLang="zh-CN"/>
              <a:t>0</a:t>
            </a:r>
            <a:r>
              <a:rPr lang="zh-CN" altLang="en-US"/>
              <a:t>或者为</a:t>
            </a:r>
            <a:r>
              <a:rPr lang="en-US" altLang="zh-CN"/>
              <a:t>SUMB</a:t>
            </a:r>
            <a:r>
              <a:rPr lang="zh-CN" altLang="en-US"/>
              <a:t>，那么</a:t>
            </a:r>
            <a:r>
              <a:rPr lang="en-US" altLang="zh-CN"/>
              <a:t>e</a:t>
            </a:r>
            <a:r>
              <a:rPr lang="zh-CN" altLang="en-US"/>
              <a:t>就是题目要求的边。</a:t>
            </a: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4">
                                            <p:txEl>
                                              <p:pRg st="0" end="0"/>
                                            </p:txEl>
                                          </p:spTgt>
                                        </p:tgtEl>
                                        <p:attrNameLst>
                                          <p:attrName>style.visibility</p:attrName>
                                        </p:attrNameLst>
                                      </p:cBhvr>
                                      <p:to>
                                        <p:strVal val="visible"/>
                                      </p:to>
                                    </p:set>
                                    <p:anim calcmode="lin" valueType="num">
                                      <p:cBhvr additive="base">
                                        <p:cTn id="7" dur="500" fill="hold"/>
                                        <p:tgtEl>
                                          <p:spTgt spid="5120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4">
                                            <p:txEl>
                                              <p:pRg st="1" end="1"/>
                                            </p:txEl>
                                          </p:spTgt>
                                        </p:tgtEl>
                                        <p:attrNameLst>
                                          <p:attrName>style.visibility</p:attrName>
                                        </p:attrNameLst>
                                      </p:cBhvr>
                                      <p:to>
                                        <p:strVal val="visible"/>
                                      </p:to>
                                    </p:set>
                                    <p:anim calcmode="lin" valueType="num">
                                      <p:cBhvr additive="base">
                                        <p:cTn id="13" dur="500" fill="hold"/>
                                        <p:tgtEl>
                                          <p:spTgt spid="5120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0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p:cNvSpPr txBox="1">
            <a:spLocks noGrp="1" noChangeArrowheads="1"/>
          </p:cNvSpPr>
          <p:nvPr/>
        </p:nvSpPr>
        <p:spPr bwMode="auto">
          <a:xfrm>
            <a:off x="8077201"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fld id="{E37D0D0C-BA3F-41C6-AB83-5D3B3E8D4E87}" type="slidenum">
              <a:rPr lang="en-US" altLang="zh-CN" sz="1400" b="1">
                <a:solidFill>
                  <a:srgbClr val="FFFFFF"/>
                </a:solidFill>
                <a:latin typeface="Century Schoolbook" panose="02040604050505020304" pitchFamily="18" charset="0"/>
              </a:rPr>
            </a:fld>
            <a:endParaRPr lang="en-US" altLang="zh-CN" sz="1400" b="1">
              <a:solidFill>
                <a:srgbClr val="FFFFFF"/>
              </a:solidFill>
              <a:latin typeface="Century Schoolbook" panose="02040604050505020304" pitchFamily="18" charset="0"/>
            </a:endParaRPr>
          </a:p>
        </p:txBody>
      </p:sp>
      <p:sp>
        <p:nvSpPr>
          <p:cNvPr id="80899" name="Rectangle 2"/>
          <p:cNvSpPr>
            <a:spLocks noGrp="1" noRot="1" noChangeArrowheads="1"/>
          </p:cNvSpPr>
          <p:nvPr>
            <p:ph type="title" idx="4294967295"/>
          </p:nvPr>
        </p:nvSpPr>
        <p:spPr/>
        <p:txBody>
          <a:bodyPr/>
          <a:lstStyle/>
          <a:p>
            <a:pPr eaLnBrk="1" hangingPunct="1"/>
            <a:r>
              <a:rPr lang="zh-CN" altLang="en-US"/>
              <a:t>分析</a:t>
            </a:r>
            <a:endParaRPr lang="zh-CN" altLang="en-US"/>
          </a:p>
        </p:txBody>
      </p:sp>
      <p:sp>
        <p:nvSpPr>
          <p:cNvPr id="80900" name="Rectangle 3"/>
          <p:cNvSpPr>
            <a:spLocks noGrp="1" noRot="1" noChangeArrowheads="1"/>
          </p:cNvSpPr>
          <p:nvPr>
            <p:ph type="body" idx="4294967295"/>
          </p:nvPr>
        </p:nvSpPr>
        <p:spPr/>
        <p:txBody>
          <a:bodyPr/>
          <a:lstStyle/>
          <a:p>
            <a:pPr eaLnBrk="1" hangingPunct="1"/>
            <a:r>
              <a:rPr lang="zh-CN" altLang="en-US"/>
              <a:t>下图中，蓝色的边表示题目要求的边，绿色的边表示虽然是图中的割边，但不是题目要求的边。</a:t>
            </a:r>
            <a:endParaRPr lang="zh-CN" altLang="en-US"/>
          </a:p>
        </p:txBody>
      </p:sp>
      <p:sp>
        <p:nvSpPr>
          <p:cNvPr id="80901" name="Oval 7"/>
          <p:cNvSpPr>
            <a:spLocks noChangeArrowheads="1"/>
          </p:cNvSpPr>
          <p:nvPr/>
        </p:nvSpPr>
        <p:spPr bwMode="auto">
          <a:xfrm>
            <a:off x="5334000" y="29718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A</a:t>
            </a:r>
            <a:endParaRPr lang="en-US" altLang="zh-CN" b="1">
              <a:latin typeface="Century Schoolbook" panose="02040604050505020304" pitchFamily="18" charset="0"/>
            </a:endParaRPr>
          </a:p>
        </p:txBody>
      </p:sp>
      <p:sp>
        <p:nvSpPr>
          <p:cNvPr id="80902" name="Oval 8"/>
          <p:cNvSpPr>
            <a:spLocks noChangeArrowheads="1"/>
          </p:cNvSpPr>
          <p:nvPr/>
        </p:nvSpPr>
        <p:spPr bwMode="auto">
          <a:xfrm>
            <a:off x="4953000" y="36576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B</a:t>
            </a:r>
            <a:endParaRPr lang="en-US" altLang="zh-CN" b="1">
              <a:latin typeface="Century Schoolbook" panose="02040604050505020304" pitchFamily="18" charset="0"/>
            </a:endParaRPr>
          </a:p>
        </p:txBody>
      </p:sp>
      <p:sp>
        <p:nvSpPr>
          <p:cNvPr id="80903" name="Oval 9"/>
          <p:cNvSpPr>
            <a:spLocks noChangeArrowheads="1"/>
          </p:cNvSpPr>
          <p:nvPr/>
        </p:nvSpPr>
        <p:spPr bwMode="auto">
          <a:xfrm>
            <a:off x="5867400" y="36576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A</a:t>
            </a:r>
            <a:endParaRPr lang="en-US" altLang="zh-CN" b="1">
              <a:latin typeface="Century Schoolbook" panose="02040604050505020304" pitchFamily="18" charset="0"/>
            </a:endParaRPr>
          </a:p>
        </p:txBody>
      </p:sp>
      <p:sp>
        <p:nvSpPr>
          <p:cNvPr id="80904" name="Oval 10"/>
          <p:cNvSpPr>
            <a:spLocks noChangeArrowheads="1"/>
          </p:cNvSpPr>
          <p:nvPr/>
        </p:nvSpPr>
        <p:spPr bwMode="auto">
          <a:xfrm>
            <a:off x="4419600" y="46482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A</a:t>
            </a:r>
            <a:endParaRPr lang="en-US" altLang="zh-CN" b="1">
              <a:latin typeface="Century Schoolbook" panose="02040604050505020304" pitchFamily="18" charset="0"/>
            </a:endParaRPr>
          </a:p>
        </p:txBody>
      </p:sp>
      <p:cxnSp>
        <p:nvCxnSpPr>
          <p:cNvPr id="80905" name="AutoShape 12"/>
          <p:cNvCxnSpPr>
            <a:cxnSpLocks noChangeShapeType="1"/>
            <a:stCxn id="80901" idx="3"/>
            <a:endCxn id="80902" idx="0"/>
          </p:cNvCxnSpPr>
          <p:nvPr/>
        </p:nvCxnSpPr>
        <p:spPr bwMode="auto">
          <a:xfrm flipH="1">
            <a:off x="5105400" y="3232150"/>
            <a:ext cx="273050" cy="425450"/>
          </a:xfrm>
          <a:prstGeom prst="straightConnector1">
            <a:avLst/>
          </a:prstGeom>
          <a:noFill/>
          <a:ln w="25400">
            <a:solidFill>
              <a:srgbClr val="00B0F0"/>
            </a:solidFill>
            <a:round/>
            <a:tailEnd type="arrow" w="med" len="med"/>
          </a:ln>
          <a:extLst>
            <a:ext uri="{909E8E84-426E-40DD-AFC4-6F175D3DCCD1}">
              <a14:hiddenFill xmlns:a14="http://schemas.microsoft.com/office/drawing/2010/main">
                <a:noFill/>
              </a14:hiddenFill>
            </a:ext>
          </a:extLst>
        </p:spPr>
      </p:cxnSp>
      <p:cxnSp>
        <p:nvCxnSpPr>
          <p:cNvPr id="80906" name="AutoShape 13"/>
          <p:cNvCxnSpPr>
            <a:cxnSpLocks noChangeShapeType="1"/>
            <a:stCxn id="80902" idx="3"/>
            <a:endCxn id="80904" idx="0"/>
          </p:cNvCxnSpPr>
          <p:nvPr/>
        </p:nvCxnSpPr>
        <p:spPr bwMode="auto">
          <a:xfrm flipH="1">
            <a:off x="4572000" y="3917950"/>
            <a:ext cx="425450" cy="73025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80907" name="AutoShape 14"/>
          <p:cNvCxnSpPr>
            <a:cxnSpLocks noChangeShapeType="1"/>
            <a:stCxn id="80902" idx="4"/>
            <a:endCxn id="80924" idx="0"/>
          </p:cNvCxnSpPr>
          <p:nvPr/>
        </p:nvCxnSpPr>
        <p:spPr bwMode="auto">
          <a:xfrm>
            <a:off x="5105400" y="3962400"/>
            <a:ext cx="228600" cy="457200"/>
          </a:xfrm>
          <a:prstGeom prst="straightConnector1">
            <a:avLst/>
          </a:prstGeom>
          <a:noFill/>
          <a:ln w="25400">
            <a:solidFill>
              <a:srgbClr val="00B050"/>
            </a:solidFill>
            <a:round/>
            <a:tailEnd type="arrow" w="med" len="med"/>
          </a:ln>
          <a:extLst>
            <a:ext uri="{909E8E84-426E-40DD-AFC4-6F175D3DCCD1}">
              <a14:hiddenFill xmlns:a14="http://schemas.microsoft.com/office/drawing/2010/main">
                <a:noFill/>
              </a14:hiddenFill>
            </a:ext>
          </a:extLst>
        </p:spPr>
      </p:cxnSp>
      <p:cxnSp>
        <p:nvCxnSpPr>
          <p:cNvPr id="80908" name="AutoShape 15"/>
          <p:cNvCxnSpPr>
            <a:cxnSpLocks noChangeShapeType="1"/>
            <a:stCxn id="80901" idx="5"/>
            <a:endCxn id="80903" idx="0"/>
          </p:cNvCxnSpPr>
          <p:nvPr/>
        </p:nvCxnSpPr>
        <p:spPr bwMode="auto">
          <a:xfrm>
            <a:off x="5594350" y="3232150"/>
            <a:ext cx="425450" cy="42545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80909" name="AutoShape 16"/>
          <p:cNvCxnSpPr>
            <a:cxnSpLocks noChangeShapeType="1"/>
            <a:stCxn id="80903" idx="4"/>
            <a:endCxn id="80910" idx="0"/>
          </p:cNvCxnSpPr>
          <p:nvPr/>
        </p:nvCxnSpPr>
        <p:spPr bwMode="auto">
          <a:xfrm flipH="1">
            <a:off x="5867400" y="3962400"/>
            <a:ext cx="152400" cy="45720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sp>
        <p:nvSpPr>
          <p:cNvPr id="80910" name="Oval 17"/>
          <p:cNvSpPr>
            <a:spLocks noChangeArrowheads="1"/>
          </p:cNvSpPr>
          <p:nvPr/>
        </p:nvSpPr>
        <p:spPr bwMode="auto">
          <a:xfrm>
            <a:off x="5715000" y="44196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A</a:t>
            </a:r>
            <a:endParaRPr lang="en-US" altLang="zh-CN" b="1">
              <a:latin typeface="Century Schoolbook" panose="02040604050505020304" pitchFamily="18" charset="0"/>
            </a:endParaRPr>
          </a:p>
        </p:txBody>
      </p:sp>
      <p:cxnSp>
        <p:nvCxnSpPr>
          <p:cNvPr id="80911" name="AutoShape 18"/>
          <p:cNvCxnSpPr>
            <a:cxnSpLocks noChangeShapeType="1"/>
            <a:stCxn id="80904" idx="0"/>
            <a:endCxn id="80902" idx="1"/>
          </p:cNvCxnSpPr>
          <p:nvPr/>
        </p:nvCxnSpPr>
        <p:spPr bwMode="auto">
          <a:xfrm rot="16200000">
            <a:off x="4311650" y="3962400"/>
            <a:ext cx="946150" cy="425450"/>
          </a:xfrm>
          <a:prstGeom prst="curvedConnector3">
            <a:avLst>
              <a:gd name="adj1" fmla="val 128861"/>
            </a:avLst>
          </a:prstGeom>
          <a:noFill/>
          <a:ln w="25400">
            <a:solidFill>
              <a:srgbClr val="FF0000"/>
            </a:solidFill>
            <a:round/>
            <a:tailEnd type="arrow" w="med" len="med"/>
          </a:ln>
          <a:extLst>
            <a:ext uri="{909E8E84-426E-40DD-AFC4-6F175D3DCCD1}">
              <a14:hiddenFill xmlns:a14="http://schemas.microsoft.com/office/drawing/2010/main">
                <a:noFill/>
              </a14:hiddenFill>
            </a:ext>
          </a:extLst>
        </p:spPr>
      </p:cxnSp>
      <p:sp>
        <p:nvSpPr>
          <p:cNvPr id="80912" name="Oval 19"/>
          <p:cNvSpPr>
            <a:spLocks noChangeArrowheads="1"/>
          </p:cNvSpPr>
          <p:nvPr/>
        </p:nvSpPr>
        <p:spPr bwMode="auto">
          <a:xfrm>
            <a:off x="6400800" y="44196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A</a:t>
            </a:r>
            <a:endParaRPr lang="en-US" altLang="zh-CN" b="1">
              <a:latin typeface="Century Schoolbook" panose="02040604050505020304" pitchFamily="18" charset="0"/>
            </a:endParaRPr>
          </a:p>
        </p:txBody>
      </p:sp>
      <p:cxnSp>
        <p:nvCxnSpPr>
          <p:cNvPr id="80913" name="AutoShape 20"/>
          <p:cNvCxnSpPr>
            <a:cxnSpLocks noChangeShapeType="1"/>
            <a:stCxn id="80903" idx="5"/>
            <a:endCxn id="80912" idx="1"/>
          </p:cNvCxnSpPr>
          <p:nvPr/>
        </p:nvCxnSpPr>
        <p:spPr bwMode="auto">
          <a:xfrm>
            <a:off x="6127750" y="3917950"/>
            <a:ext cx="317500" cy="546100"/>
          </a:xfrm>
          <a:prstGeom prst="straightConnector1">
            <a:avLst/>
          </a:prstGeom>
          <a:noFill/>
          <a:ln w="25400">
            <a:solidFill>
              <a:srgbClr val="00B0F0"/>
            </a:solidFill>
            <a:round/>
            <a:tailEnd type="arrow" w="med" len="med"/>
          </a:ln>
          <a:extLst>
            <a:ext uri="{909E8E84-426E-40DD-AFC4-6F175D3DCCD1}">
              <a14:hiddenFill xmlns:a14="http://schemas.microsoft.com/office/drawing/2010/main">
                <a:noFill/>
              </a14:hiddenFill>
            </a:ext>
          </a:extLst>
        </p:spPr>
      </p:cxnSp>
      <p:cxnSp>
        <p:nvCxnSpPr>
          <p:cNvPr id="80914" name="AutoShape 21"/>
          <p:cNvCxnSpPr>
            <a:cxnSpLocks noChangeShapeType="1"/>
            <a:stCxn id="80910" idx="0"/>
            <a:endCxn id="80901" idx="4"/>
          </p:cNvCxnSpPr>
          <p:nvPr/>
        </p:nvCxnSpPr>
        <p:spPr bwMode="auto">
          <a:xfrm rot="5400000" flipH="1">
            <a:off x="5105400" y="3657600"/>
            <a:ext cx="1143000" cy="381000"/>
          </a:xfrm>
          <a:prstGeom prst="curvedConnector3">
            <a:avLst>
              <a:gd name="adj1" fmla="val 50000"/>
            </a:avLst>
          </a:prstGeom>
          <a:noFill/>
          <a:ln w="25400">
            <a:solidFill>
              <a:srgbClr val="FF0000"/>
            </a:solidFill>
            <a:round/>
            <a:tailEnd type="arrow" w="med" len="med"/>
          </a:ln>
          <a:extLst>
            <a:ext uri="{909E8E84-426E-40DD-AFC4-6F175D3DCCD1}">
              <a14:hiddenFill xmlns:a14="http://schemas.microsoft.com/office/drawing/2010/main">
                <a:noFill/>
              </a14:hiddenFill>
            </a:ext>
          </a:extLst>
        </p:spPr>
      </p:cxnSp>
      <p:sp>
        <p:nvSpPr>
          <p:cNvPr id="80915" name="Oval 22"/>
          <p:cNvSpPr>
            <a:spLocks noChangeArrowheads="1"/>
          </p:cNvSpPr>
          <p:nvPr/>
        </p:nvSpPr>
        <p:spPr bwMode="auto">
          <a:xfrm>
            <a:off x="6172200" y="50292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A</a:t>
            </a:r>
            <a:endParaRPr lang="en-US" altLang="zh-CN" b="1">
              <a:latin typeface="Century Schoolbook" panose="02040604050505020304" pitchFamily="18" charset="0"/>
            </a:endParaRPr>
          </a:p>
        </p:txBody>
      </p:sp>
      <p:cxnSp>
        <p:nvCxnSpPr>
          <p:cNvPr id="80916" name="AutoShape 23"/>
          <p:cNvCxnSpPr>
            <a:cxnSpLocks noChangeShapeType="1"/>
            <a:stCxn id="80912" idx="3"/>
            <a:endCxn id="80915" idx="0"/>
          </p:cNvCxnSpPr>
          <p:nvPr/>
        </p:nvCxnSpPr>
        <p:spPr bwMode="auto">
          <a:xfrm flipH="1">
            <a:off x="6324600" y="4679950"/>
            <a:ext cx="120650" cy="34925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sp>
        <p:nvSpPr>
          <p:cNvPr id="80917" name="Oval 24"/>
          <p:cNvSpPr>
            <a:spLocks noChangeArrowheads="1"/>
          </p:cNvSpPr>
          <p:nvPr/>
        </p:nvSpPr>
        <p:spPr bwMode="auto">
          <a:xfrm>
            <a:off x="6705600" y="55626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A</a:t>
            </a:r>
            <a:endParaRPr lang="en-US" altLang="zh-CN" b="1">
              <a:latin typeface="Century Schoolbook" panose="02040604050505020304" pitchFamily="18" charset="0"/>
            </a:endParaRPr>
          </a:p>
        </p:txBody>
      </p:sp>
      <p:cxnSp>
        <p:nvCxnSpPr>
          <p:cNvPr id="80918" name="AutoShape 25"/>
          <p:cNvCxnSpPr>
            <a:cxnSpLocks noChangeShapeType="1"/>
            <a:stCxn id="80915" idx="5"/>
            <a:endCxn id="80917" idx="1"/>
          </p:cNvCxnSpPr>
          <p:nvPr/>
        </p:nvCxnSpPr>
        <p:spPr bwMode="auto">
          <a:xfrm>
            <a:off x="6432550" y="5289550"/>
            <a:ext cx="317500" cy="317500"/>
          </a:xfrm>
          <a:prstGeom prst="straightConnector1">
            <a:avLst/>
          </a:prstGeom>
          <a:noFill/>
          <a:ln w="25400">
            <a:solidFill>
              <a:schemeClr val="tx1"/>
            </a:solidFill>
            <a:round/>
            <a:tailEnd type="arrow" w="med" len="med"/>
          </a:ln>
          <a:extLst>
            <a:ext uri="{909E8E84-426E-40DD-AFC4-6F175D3DCCD1}">
              <a14:hiddenFill xmlns:a14="http://schemas.microsoft.com/office/drawing/2010/main">
                <a:noFill/>
              </a14:hiddenFill>
            </a:ext>
          </a:extLst>
        </p:spPr>
      </p:cxnSp>
      <p:cxnSp>
        <p:nvCxnSpPr>
          <p:cNvPr id="80919" name="AutoShape 26"/>
          <p:cNvCxnSpPr>
            <a:cxnSpLocks noChangeShapeType="1"/>
            <a:stCxn id="80917" idx="0"/>
            <a:endCxn id="80912" idx="4"/>
          </p:cNvCxnSpPr>
          <p:nvPr/>
        </p:nvCxnSpPr>
        <p:spPr bwMode="auto">
          <a:xfrm rot="5400000" flipH="1">
            <a:off x="6286500" y="4991100"/>
            <a:ext cx="838200" cy="304800"/>
          </a:xfrm>
          <a:prstGeom prst="curvedConnector3">
            <a:avLst>
              <a:gd name="adj1" fmla="val 50000"/>
            </a:avLst>
          </a:prstGeom>
          <a:noFill/>
          <a:ln w="25400">
            <a:solidFill>
              <a:srgbClr val="FF0000"/>
            </a:solidFill>
            <a:round/>
            <a:tailEnd type="arrow" w="med" len="med"/>
          </a:ln>
          <a:extLst>
            <a:ext uri="{909E8E84-426E-40DD-AFC4-6F175D3DCCD1}">
              <a14:hiddenFill xmlns:a14="http://schemas.microsoft.com/office/drawing/2010/main">
                <a:noFill/>
              </a14:hiddenFill>
            </a:ext>
          </a:extLst>
        </p:spPr>
      </p:cxnSp>
      <p:sp>
        <p:nvSpPr>
          <p:cNvPr id="80920" name="Oval 27"/>
          <p:cNvSpPr>
            <a:spLocks noChangeArrowheads="1"/>
          </p:cNvSpPr>
          <p:nvPr/>
        </p:nvSpPr>
        <p:spPr bwMode="auto">
          <a:xfrm>
            <a:off x="5029200" y="50292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A</a:t>
            </a:r>
            <a:endParaRPr lang="en-US" altLang="zh-CN" b="1">
              <a:latin typeface="Century Schoolbook" panose="02040604050505020304" pitchFamily="18" charset="0"/>
            </a:endParaRPr>
          </a:p>
        </p:txBody>
      </p:sp>
      <p:cxnSp>
        <p:nvCxnSpPr>
          <p:cNvPr id="80921" name="AutoShape 28"/>
          <p:cNvCxnSpPr>
            <a:cxnSpLocks noChangeShapeType="1"/>
            <a:stCxn id="80924" idx="4"/>
            <a:endCxn id="80920" idx="0"/>
          </p:cNvCxnSpPr>
          <p:nvPr/>
        </p:nvCxnSpPr>
        <p:spPr bwMode="auto">
          <a:xfrm flipH="1">
            <a:off x="5181600" y="4724400"/>
            <a:ext cx="152400" cy="304800"/>
          </a:xfrm>
          <a:prstGeom prst="straightConnector1">
            <a:avLst/>
          </a:prstGeom>
          <a:noFill/>
          <a:ln w="25400">
            <a:solidFill>
              <a:srgbClr val="00B050"/>
            </a:solidFill>
            <a:round/>
            <a:tailEnd type="arrow" w="med" len="med"/>
          </a:ln>
          <a:extLst>
            <a:ext uri="{909E8E84-426E-40DD-AFC4-6F175D3DCCD1}">
              <a14:hiddenFill xmlns:a14="http://schemas.microsoft.com/office/drawing/2010/main">
                <a:noFill/>
              </a14:hiddenFill>
            </a:ext>
          </a:extLst>
        </p:spPr>
      </p:cxnSp>
      <p:sp>
        <p:nvSpPr>
          <p:cNvPr id="80922" name="Oval 29"/>
          <p:cNvSpPr>
            <a:spLocks noChangeArrowheads="1"/>
          </p:cNvSpPr>
          <p:nvPr/>
        </p:nvSpPr>
        <p:spPr bwMode="auto">
          <a:xfrm>
            <a:off x="5334000" y="55626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B</a:t>
            </a:r>
            <a:endParaRPr lang="en-US" altLang="zh-CN" b="1">
              <a:latin typeface="Century Schoolbook" panose="02040604050505020304" pitchFamily="18" charset="0"/>
            </a:endParaRPr>
          </a:p>
        </p:txBody>
      </p:sp>
      <p:cxnSp>
        <p:nvCxnSpPr>
          <p:cNvPr id="80923" name="AutoShape 30"/>
          <p:cNvCxnSpPr>
            <a:cxnSpLocks noChangeShapeType="1"/>
            <a:stCxn id="80920" idx="4"/>
            <a:endCxn id="80922" idx="0"/>
          </p:cNvCxnSpPr>
          <p:nvPr/>
        </p:nvCxnSpPr>
        <p:spPr bwMode="auto">
          <a:xfrm>
            <a:off x="5181600" y="5334000"/>
            <a:ext cx="304800" cy="228600"/>
          </a:xfrm>
          <a:prstGeom prst="straightConnector1">
            <a:avLst/>
          </a:prstGeom>
          <a:noFill/>
          <a:ln w="25400">
            <a:solidFill>
              <a:srgbClr val="00B0F0"/>
            </a:solidFill>
            <a:round/>
            <a:tailEnd type="arrow" w="med" len="med"/>
          </a:ln>
          <a:extLst>
            <a:ext uri="{909E8E84-426E-40DD-AFC4-6F175D3DCCD1}">
              <a14:hiddenFill xmlns:a14="http://schemas.microsoft.com/office/drawing/2010/main">
                <a:noFill/>
              </a14:hiddenFill>
            </a:ext>
          </a:extLst>
        </p:spPr>
      </p:cxnSp>
      <p:sp>
        <p:nvSpPr>
          <p:cNvPr id="80924" name="Oval 32"/>
          <p:cNvSpPr>
            <a:spLocks noChangeArrowheads="1"/>
          </p:cNvSpPr>
          <p:nvPr/>
        </p:nvSpPr>
        <p:spPr bwMode="auto">
          <a:xfrm>
            <a:off x="5181600" y="4419600"/>
            <a:ext cx="304800" cy="304800"/>
          </a:xfrm>
          <a:prstGeom prst="ellipse">
            <a:avLst/>
          </a:prstGeom>
          <a:solidFill>
            <a:schemeClr val="accent1"/>
          </a:solidFill>
          <a:ln w="9525">
            <a:solidFill>
              <a:schemeClr val="tx1"/>
            </a:solidFill>
            <a:rou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r>
              <a:rPr lang="en-US" altLang="zh-CN" b="1">
                <a:latin typeface="Century Schoolbook" panose="02040604050505020304" pitchFamily="18" charset="0"/>
              </a:rPr>
              <a:t>B</a:t>
            </a:r>
            <a:endParaRPr lang="en-US" altLang="zh-CN" b="1">
              <a:latin typeface="Century Schoolbook" panose="02040604050505020304" pitchFamily="18"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noChangeArrowheads="1"/>
          </p:cNvSpPr>
          <p:nvPr>
            <p:ph type="title" idx="4294967295"/>
          </p:nvPr>
        </p:nvSpPr>
        <p:spPr>
          <a:xfrm>
            <a:off x="1981200" y="274638"/>
            <a:ext cx="7467600" cy="654050"/>
          </a:xfrm>
        </p:spPr>
        <p:txBody>
          <a:bodyPr/>
          <a:lstStyle/>
          <a:p>
            <a:pPr eaLnBrk="1" hangingPunct="1"/>
            <a:r>
              <a:rPr lang="zh-CN" altLang="en-US">
                <a:solidFill>
                  <a:srgbClr val="545E70"/>
                </a:solidFill>
              </a:rPr>
              <a:t>无向连通图的点双连通分量</a:t>
            </a:r>
            <a:endParaRPr lang="zh-CN" altLang="en-US"/>
          </a:p>
        </p:txBody>
      </p:sp>
      <p:sp>
        <p:nvSpPr>
          <p:cNvPr id="81923" name="内容占位符 2"/>
          <p:cNvSpPr>
            <a:spLocks noGrp="1" noChangeArrowheads="1"/>
          </p:cNvSpPr>
          <p:nvPr>
            <p:ph sz="quarter" idx="4294967295"/>
          </p:nvPr>
        </p:nvSpPr>
        <p:spPr>
          <a:xfrm>
            <a:off x="1536700" y="1071564"/>
            <a:ext cx="9575800" cy="4873625"/>
          </a:xfrm>
        </p:spPr>
        <p:txBody>
          <a:bodyPr/>
          <a:lstStyle/>
          <a:p>
            <a:r>
              <a:rPr lang="zh-CN" altLang="en-US" dirty="0">
                <a:solidFill>
                  <a:srgbClr val="545E70"/>
                </a:solidFill>
              </a:rPr>
              <a:t>所谓无向连通图的点双连通分量（</a:t>
            </a:r>
            <a:r>
              <a:rPr lang="en-US" altLang="zh-CN" dirty="0">
                <a:solidFill>
                  <a:srgbClr val="545E70"/>
                </a:solidFill>
              </a:rPr>
              <a:t>Biconnected Components</a:t>
            </a:r>
            <a:r>
              <a:rPr lang="zh-CN" altLang="en-US" dirty="0">
                <a:solidFill>
                  <a:srgbClr val="545E70"/>
                </a:solidFill>
              </a:rPr>
              <a:t>）是指不包含割点的极大连通子图（首先它是原图的一个分量，什么样的分量呢？拿掉一个点后，各点还能互通）。</a:t>
            </a:r>
            <a:endParaRPr lang="en-US" altLang="zh-CN" dirty="0"/>
          </a:p>
          <a:p>
            <a:pPr eaLnBrk="1" hangingPunct="1"/>
            <a:r>
              <a:rPr lang="zh-CN" altLang="en-US" dirty="0"/>
              <a:t>点双连通分量也叫块</a:t>
            </a:r>
            <a:r>
              <a:rPr lang="en-US" altLang="zh-CN" dirty="0"/>
              <a:t>(block)</a:t>
            </a:r>
            <a:r>
              <a:rPr lang="zh-CN" altLang="en-US" dirty="0"/>
              <a:t>。把每个块收缩成一个点，不同块之间的边保留，就得到一棵树。显然，缩点后的图是无环的。</a:t>
            </a:r>
            <a:endParaRPr lang="en-US" altLang="zh-CN" dirty="0"/>
          </a:p>
          <a:p>
            <a:pPr eaLnBrk="1" hangingPunct="1"/>
            <a:r>
              <a:rPr lang="zh-CN" altLang="en-US" dirty="0"/>
              <a:t>从下图可以看出：一条边只能属于一个点双连通分量。割点可以属于多个双连通分量。</a:t>
            </a:r>
            <a:endParaRPr lang="zh-CN" altLang="en-US" dirty="0"/>
          </a:p>
          <a:p>
            <a:pPr eaLnBrk="1" hangingPunct="1"/>
            <a:endParaRPr lang="zh-CN" altLang="en-US" dirty="0"/>
          </a:p>
        </p:txBody>
      </p:sp>
      <p:pic>
        <p:nvPicPr>
          <p:cNvPr id="8192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5002" y="2791620"/>
            <a:ext cx="1771650"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76" y="3000376"/>
            <a:ext cx="3305175"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noChangeArrowheads="1"/>
          </p:cNvSpPr>
          <p:nvPr>
            <p:ph type="title" idx="4294967295"/>
          </p:nvPr>
        </p:nvSpPr>
        <p:spPr>
          <a:xfrm>
            <a:off x="1981200" y="274639"/>
            <a:ext cx="7467600" cy="725487"/>
          </a:xfrm>
        </p:spPr>
        <p:txBody>
          <a:bodyPr/>
          <a:lstStyle/>
          <a:p>
            <a:pPr eaLnBrk="1" hangingPunct="1"/>
            <a:r>
              <a:rPr lang="zh-CN" altLang="en-US" dirty="0"/>
              <a:t>求点双连通分量的算法</a:t>
            </a:r>
            <a:endParaRPr lang="zh-CN" altLang="en-US" dirty="0"/>
          </a:p>
        </p:txBody>
      </p:sp>
      <p:sp>
        <p:nvSpPr>
          <p:cNvPr id="82947" name="内容占位符 2"/>
          <p:cNvSpPr>
            <a:spLocks noGrp="1" noChangeArrowheads="1"/>
          </p:cNvSpPr>
          <p:nvPr>
            <p:ph sz="quarter" idx="4294967295"/>
          </p:nvPr>
        </p:nvSpPr>
        <p:spPr>
          <a:xfrm>
            <a:off x="858129" y="1071564"/>
            <a:ext cx="10424160" cy="4873625"/>
          </a:xfrm>
        </p:spPr>
        <p:txBody>
          <a:bodyPr>
            <a:normAutofit/>
          </a:bodyPr>
          <a:lstStyle/>
          <a:p>
            <a:pPr eaLnBrk="1" hangingPunct="1"/>
            <a:r>
              <a:rPr lang="zh-CN" altLang="en-US" sz="2000" dirty="0"/>
              <a:t>对于点双连通分量，实际上在求割点的过程中就能顺便把每个点双连通分量求出。</a:t>
            </a:r>
            <a:endParaRPr lang="en-US" altLang="zh-CN" sz="2000" dirty="0"/>
          </a:p>
          <a:p>
            <a:pPr eaLnBrk="1" hangingPunct="1"/>
            <a:r>
              <a:rPr lang="zh-CN" altLang="en-US" sz="2000" dirty="0"/>
              <a:t>建立一个栈，存储当前双连通分量，在搜索图时，每找到一条树边或反向边，就把这条边加入栈中。如果遇到某时满足</a:t>
            </a:r>
            <a:r>
              <a:rPr lang="en-US" altLang="zh-CN" sz="2000" dirty="0"/>
              <a:t>dfn(u)&lt;=low(v)</a:t>
            </a:r>
            <a:r>
              <a:rPr lang="zh-CN" altLang="en-US" sz="2000" dirty="0"/>
              <a:t>，说明</a:t>
            </a:r>
            <a:r>
              <a:rPr lang="en-US" altLang="zh-CN" sz="2000" dirty="0"/>
              <a:t>u</a:t>
            </a:r>
            <a:r>
              <a:rPr lang="zh-CN" altLang="en-US" sz="2000" dirty="0"/>
              <a:t>是一个割点，同时把边从栈顶逐个取出，直到遇到了边</a:t>
            </a:r>
            <a:r>
              <a:rPr lang="en-US" altLang="zh-CN" sz="2000" dirty="0"/>
              <a:t>(</a:t>
            </a:r>
            <a:r>
              <a:rPr lang="en-US" altLang="zh-CN" sz="2000" dirty="0" err="1"/>
              <a:t>u,v</a:t>
            </a:r>
            <a:r>
              <a:rPr lang="en-US" altLang="zh-CN" sz="2000" dirty="0"/>
              <a:t>)</a:t>
            </a:r>
            <a:r>
              <a:rPr lang="zh-CN" altLang="en-US" sz="2000" dirty="0"/>
              <a:t>，取出的这些边与其关联的点，组成一个点双连通分量。</a:t>
            </a:r>
            <a:endParaRPr lang="en-US" altLang="zh-CN" sz="2000" dirty="0"/>
          </a:p>
          <a:p>
            <a:pPr eaLnBrk="1" hangingPunct="1"/>
            <a:r>
              <a:rPr lang="zh-CN" altLang="en-US" sz="2000" dirty="0"/>
              <a:t>割点可以属于多个点双连通分量，其余点和每条边只属于且属于一个点双连通分量。</a:t>
            </a:r>
            <a:endParaRPr lang="en-US" altLang="zh-CN" sz="2000" dirty="0"/>
          </a:p>
          <a:p>
            <a:pPr eaLnBrk="1" hangingPunct="1"/>
            <a:r>
              <a:rPr lang="zh-CN" altLang="en-US" sz="2000" dirty="0"/>
              <a:t>因为割点可以属于多个点双连通分量，所以在维护栈中元素时，记录的是边，而非点。</a:t>
            </a:r>
            <a:endParaRPr lang="zh-CN" altLang="en-US" sz="2000" dirty="0"/>
          </a:p>
          <a:p>
            <a:pPr eaLnBrk="1" hangingPunct="1"/>
            <a:endParaRPr lang="zh-CN" altLang="en-US" sz="2000" dirty="0"/>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2"/>
          <p:cNvSpPr>
            <a:spLocks noGrp="1" noChangeArrowheads="1"/>
          </p:cNvSpPr>
          <p:nvPr>
            <p:ph sz="quarter" idx="4294967295"/>
          </p:nvPr>
        </p:nvSpPr>
        <p:spPr>
          <a:xfrm>
            <a:off x="661035" y="214630"/>
            <a:ext cx="11530965" cy="7080250"/>
          </a:xfrm>
        </p:spPr>
        <p:txBody>
          <a:bodyPr numCol="1">
            <a:normAutofit/>
          </a:bodyPr>
          <a:lstStyle/>
          <a:p>
            <a:pPr>
              <a:lnSpc>
                <a:spcPct val="80000"/>
              </a:lnSpc>
              <a:buNone/>
            </a:pPr>
            <a:r>
              <a:rPr lang="en-US" altLang="zh-CN" sz="2000" dirty="0">
                <a:latin typeface="Courier New" panose="02070309020205020404" pitchFamily="49" charset="0"/>
              </a:rPr>
              <a:t>int dfn[MAXN], low[MAXN];</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int </a:t>
            </a:r>
            <a:r>
              <a:rPr lang="en-US" altLang="zh-CN" sz="2000" dirty="0" err="1">
                <a:latin typeface="Courier New" panose="02070309020205020404" pitchFamily="49" charset="0"/>
              </a:rPr>
              <a:t>dcnt</a:t>
            </a:r>
            <a:r>
              <a:rPr lang="en-US" altLang="zh-CN" sz="2000" dirty="0">
                <a:latin typeface="Courier New" panose="02070309020205020404" pitchFamily="49" charset="0"/>
              </a:rPr>
              <a:t>=0, </a:t>
            </a:r>
            <a:r>
              <a:rPr lang="en-US" altLang="zh-CN" sz="2000" dirty="0" err="1">
                <a:latin typeface="Courier New" panose="02070309020205020404" pitchFamily="49" charset="0"/>
              </a:rPr>
              <a:t>blkcnt</a:t>
            </a:r>
            <a:r>
              <a:rPr lang="en-US" altLang="zh-CN" sz="2000" dirty="0">
                <a:latin typeface="Courier New" panose="02070309020205020404" pitchFamily="49" charset="0"/>
              </a:rPr>
              <a:t>=0;</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stack&lt;pair&lt;</a:t>
            </a:r>
            <a:r>
              <a:rPr lang="en-US" altLang="zh-CN" sz="2000" dirty="0" err="1">
                <a:latin typeface="Courier New" panose="02070309020205020404" pitchFamily="49" charset="0"/>
              </a:rPr>
              <a:t>int,int</a:t>
            </a:r>
            <a:r>
              <a:rPr lang="en-US" altLang="zh-CN" sz="2000" dirty="0">
                <a:latin typeface="Courier New" panose="02070309020205020404" pitchFamily="49" charset="0"/>
              </a:rPr>
              <a:t>&gt; &gt; se;</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vector&lt;pair&lt;</a:t>
            </a:r>
            <a:r>
              <a:rPr lang="en-US" altLang="zh-CN" sz="2000" dirty="0" err="1">
                <a:latin typeface="Courier New" panose="02070309020205020404" pitchFamily="49" charset="0"/>
              </a:rPr>
              <a:t>int,int</a:t>
            </a:r>
            <a:r>
              <a:rPr lang="en-US" altLang="zh-CN" sz="2000" dirty="0">
                <a:latin typeface="Courier New" panose="02070309020205020404" pitchFamily="49" charset="0"/>
              </a:rPr>
              <a:t>&gt; &gt; </a:t>
            </a:r>
            <a:r>
              <a:rPr lang="en-US" altLang="zh-CN" sz="2000" dirty="0" err="1">
                <a:latin typeface="Courier New" panose="02070309020205020404" pitchFamily="49" charset="0"/>
              </a:rPr>
              <a:t>blks</a:t>
            </a:r>
            <a:r>
              <a:rPr lang="en-US" altLang="zh-CN" sz="2000" dirty="0">
                <a:latin typeface="Courier New" panose="02070309020205020404" pitchFamily="49" charset="0"/>
              </a:rPr>
              <a:t>[</a:t>
            </a:r>
            <a:r>
              <a:rPr lang="en-US" altLang="zh-CN" sz="2000" dirty="0" err="1">
                <a:latin typeface="Courier New" panose="02070309020205020404" pitchFamily="49" charset="0"/>
              </a:rPr>
              <a:t>MAXN</a:t>
            </a:r>
            <a:r>
              <a:rPr lang="en-US" altLang="zh-CN" sz="2000" dirty="0">
                <a:latin typeface="Courier New" panose="02070309020205020404" pitchFamily="49" charset="0"/>
              </a:rPr>
              <a:t>]; //</a:t>
            </a:r>
            <a:r>
              <a:rPr lang="zh-CN" altLang="en-US" sz="2000" dirty="0">
                <a:latin typeface="Courier New" panose="02070309020205020404" pitchFamily="49" charset="0"/>
              </a:rPr>
              <a:t>存点双连通分量</a:t>
            </a:r>
            <a:endParaRPr lang="zh-CN" altLang="en-US"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void </a:t>
            </a:r>
            <a:r>
              <a:rPr lang="en-US" altLang="zh-CN" sz="2000" dirty="0" err="1">
                <a:latin typeface="Courier New" panose="02070309020205020404" pitchFamily="49" charset="0"/>
              </a:rPr>
              <a:t>dfs</a:t>
            </a:r>
            <a:r>
              <a:rPr lang="en-US" altLang="zh-CN" sz="2000" dirty="0">
                <a:latin typeface="Courier New" panose="02070309020205020404" pitchFamily="49" charset="0"/>
              </a:rPr>
              <a:t>(int u, int fa) {</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low[u] = dfn[u] = ++</a:t>
            </a:r>
            <a:r>
              <a:rPr lang="en-US" altLang="zh-CN" sz="2000" dirty="0" err="1">
                <a:latin typeface="Courier New" panose="02070309020205020404" pitchFamily="49" charset="0"/>
              </a:rPr>
              <a:t>dcnt</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for(edge *p = adj[u]; p ; p = p-&gt;next) {</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int v = p-&gt;v;</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if(!dfn[v])    {</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a:t>
            </a:r>
            <a:r>
              <a:rPr lang="en-US" altLang="zh-CN" sz="2000" dirty="0" err="1">
                <a:latin typeface="Courier New" panose="02070309020205020404" pitchFamily="49" charset="0"/>
              </a:rPr>
              <a:t>se.push</a:t>
            </a:r>
            <a:r>
              <a:rPr lang="en-US" altLang="zh-CN" sz="2000" dirty="0">
                <a:latin typeface="Courier New" panose="02070309020205020404" pitchFamily="49" charset="0"/>
              </a:rPr>
              <a:t>(</a:t>
            </a:r>
            <a:r>
              <a:rPr lang="en-US" altLang="zh-CN" sz="2000" dirty="0" err="1">
                <a:latin typeface="Courier New" panose="02070309020205020404" pitchFamily="49" charset="0"/>
              </a:rPr>
              <a:t>make_pair</a:t>
            </a:r>
            <a:r>
              <a:rPr lang="en-US" altLang="zh-CN" sz="2000" dirty="0">
                <a:latin typeface="Courier New" panose="02070309020205020404" pitchFamily="49" charset="0"/>
              </a:rPr>
              <a:t>(</a:t>
            </a:r>
            <a:r>
              <a:rPr lang="en-US" altLang="zh-CN" sz="2000" dirty="0" err="1">
                <a:latin typeface="Courier New" panose="02070309020205020404" pitchFamily="49" charset="0"/>
              </a:rPr>
              <a:t>u,v</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a:t>
            </a:r>
            <a:r>
              <a:rPr lang="en-US" altLang="zh-CN" sz="2000" dirty="0" err="1">
                <a:latin typeface="Courier New" panose="02070309020205020404" pitchFamily="49" charset="0"/>
              </a:rPr>
              <a:t>dfs</a:t>
            </a:r>
            <a:r>
              <a:rPr lang="en-US" altLang="zh-CN" sz="2000" dirty="0">
                <a:latin typeface="Courier New" panose="02070309020205020404" pitchFamily="49" charset="0"/>
              </a:rPr>
              <a:t>(v, u);</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low[u] = min(low[u], low[v]);</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if(low[v] &gt;= dfn[u]) {    //u</a:t>
            </a:r>
            <a:r>
              <a:rPr lang="zh-CN" altLang="en-US" sz="2000" dirty="0">
                <a:latin typeface="Courier New" panose="02070309020205020404" pitchFamily="49" charset="0"/>
              </a:rPr>
              <a:t>是割点或根节点</a:t>
            </a:r>
            <a:endParaRPr lang="zh-CN" altLang="en-US" sz="2000" dirty="0">
              <a:latin typeface="Courier New" panose="02070309020205020404" pitchFamily="49" charset="0"/>
            </a:endParaRPr>
          </a:p>
          <a:p>
            <a:pPr>
              <a:lnSpc>
                <a:spcPct val="80000"/>
              </a:lnSpc>
              <a:buNone/>
            </a:pPr>
            <a:r>
              <a:rPr lang="zh-CN" altLang="en-US" sz="2000" dirty="0">
                <a:latin typeface="Courier New" panose="02070309020205020404" pitchFamily="49" charset="0"/>
              </a:rPr>
              <a:t>                </a:t>
            </a:r>
            <a:r>
              <a:rPr lang="en-US" altLang="zh-CN" sz="2000" dirty="0" err="1">
                <a:latin typeface="Courier New" panose="02070309020205020404" pitchFamily="49" charset="0"/>
              </a:rPr>
              <a:t>blkcnt</a:t>
            </a:r>
            <a:r>
              <a:rPr lang="en-US" altLang="zh-CN" sz="2000" dirty="0">
                <a:latin typeface="Courier New" panose="02070309020205020404" pitchFamily="49" charset="0"/>
              </a:rPr>
              <a:t>++; </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pair&lt;</a:t>
            </a:r>
            <a:r>
              <a:rPr lang="en-US" altLang="zh-CN" sz="2000" dirty="0" err="1">
                <a:latin typeface="Courier New" panose="02070309020205020404" pitchFamily="49" charset="0"/>
              </a:rPr>
              <a:t>int,int</a:t>
            </a:r>
            <a:r>
              <a:rPr lang="en-US" altLang="zh-CN" sz="2000" dirty="0">
                <a:latin typeface="Courier New" panose="02070309020205020404" pitchFamily="49" charset="0"/>
              </a:rPr>
              <a:t>&gt;</a:t>
            </a:r>
            <a:r>
              <a:rPr lang="en-US" altLang="zh-CN" sz="2000" dirty="0" err="1">
                <a:latin typeface="Courier New" panose="02070309020205020404" pitchFamily="49" charset="0"/>
              </a:rPr>
              <a:t>tmp</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a:t>
            </a:r>
            <a:endParaRPr lang="zh-CN" altLang="en-US" sz="2000" dirty="0">
              <a:latin typeface="Courier New" panose="02070309020205020404" pitchFamily="49" charset="0"/>
              <a:cs typeface="Courier New" panose="020703090202050204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298">
                                            <p:txEl>
                                              <p:pRg st="0" end="0"/>
                                            </p:txEl>
                                          </p:spTgt>
                                        </p:tgtEl>
                                        <p:attrNameLst>
                                          <p:attrName>style.visibility</p:attrName>
                                        </p:attrNameLst>
                                      </p:cBhvr>
                                      <p:to>
                                        <p:strVal val="visible"/>
                                      </p:to>
                                    </p:set>
                                    <p:anim calcmode="lin" valueType="num">
                                      <p:cBhvr additive="base">
                                        <p:cTn id="7" dur="500" fill="hold"/>
                                        <p:tgtEl>
                                          <p:spTgt spid="5529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29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298">
                                            <p:txEl>
                                              <p:pRg st="1" end="1"/>
                                            </p:txEl>
                                          </p:spTgt>
                                        </p:tgtEl>
                                        <p:attrNameLst>
                                          <p:attrName>style.visibility</p:attrName>
                                        </p:attrNameLst>
                                      </p:cBhvr>
                                      <p:to>
                                        <p:strVal val="visible"/>
                                      </p:to>
                                    </p:set>
                                    <p:anim calcmode="lin" valueType="num">
                                      <p:cBhvr additive="base">
                                        <p:cTn id="13" dur="500" fill="hold"/>
                                        <p:tgtEl>
                                          <p:spTgt spid="5529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5298">
                                            <p:txEl>
                                              <p:pRg st="2" end="2"/>
                                            </p:txEl>
                                          </p:spTgt>
                                        </p:tgtEl>
                                        <p:attrNameLst>
                                          <p:attrName>style.visibility</p:attrName>
                                        </p:attrNameLst>
                                      </p:cBhvr>
                                      <p:to>
                                        <p:strVal val="visible"/>
                                      </p:to>
                                    </p:set>
                                    <p:anim calcmode="lin" valueType="num">
                                      <p:cBhvr additive="base">
                                        <p:cTn id="19" dur="500" fill="hold"/>
                                        <p:tgtEl>
                                          <p:spTgt spid="5529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529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5298">
                                            <p:txEl>
                                              <p:pRg st="3" end="3"/>
                                            </p:txEl>
                                          </p:spTgt>
                                        </p:tgtEl>
                                        <p:attrNameLst>
                                          <p:attrName>style.visibility</p:attrName>
                                        </p:attrNameLst>
                                      </p:cBhvr>
                                      <p:to>
                                        <p:strVal val="visible"/>
                                      </p:to>
                                    </p:set>
                                    <p:anim calcmode="lin" valueType="num">
                                      <p:cBhvr additive="base">
                                        <p:cTn id="25" dur="500" fill="hold"/>
                                        <p:tgtEl>
                                          <p:spTgt spid="55298">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529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5298">
                                            <p:txEl>
                                              <p:pRg st="4" end="4"/>
                                            </p:txEl>
                                          </p:spTgt>
                                        </p:tgtEl>
                                        <p:attrNameLst>
                                          <p:attrName>style.visibility</p:attrName>
                                        </p:attrNameLst>
                                      </p:cBhvr>
                                      <p:to>
                                        <p:strVal val="visible"/>
                                      </p:to>
                                    </p:set>
                                    <p:anim calcmode="lin" valueType="num">
                                      <p:cBhvr additive="base">
                                        <p:cTn id="31" dur="500" fill="hold"/>
                                        <p:tgtEl>
                                          <p:spTgt spid="55298">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529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5298">
                                            <p:txEl>
                                              <p:pRg st="5" end="5"/>
                                            </p:txEl>
                                          </p:spTgt>
                                        </p:tgtEl>
                                        <p:attrNameLst>
                                          <p:attrName>style.visibility</p:attrName>
                                        </p:attrNameLst>
                                      </p:cBhvr>
                                      <p:to>
                                        <p:strVal val="visible"/>
                                      </p:to>
                                    </p:set>
                                    <p:anim calcmode="lin" valueType="num">
                                      <p:cBhvr additive="base">
                                        <p:cTn id="37" dur="500" fill="hold"/>
                                        <p:tgtEl>
                                          <p:spTgt spid="55298">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529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5298">
                                            <p:txEl>
                                              <p:pRg st="6" end="6"/>
                                            </p:txEl>
                                          </p:spTgt>
                                        </p:tgtEl>
                                        <p:attrNameLst>
                                          <p:attrName>style.visibility</p:attrName>
                                        </p:attrNameLst>
                                      </p:cBhvr>
                                      <p:to>
                                        <p:strVal val="visible"/>
                                      </p:to>
                                    </p:set>
                                    <p:anim calcmode="lin" valueType="num">
                                      <p:cBhvr additive="base">
                                        <p:cTn id="43" dur="500" fill="hold"/>
                                        <p:tgtEl>
                                          <p:spTgt spid="5529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529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5298">
                                            <p:txEl>
                                              <p:pRg st="7" end="7"/>
                                            </p:txEl>
                                          </p:spTgt>
                                        </p:tgtEl>
                                        <p:attrNameLst>
                                          <p:attrName>style.visibility</p:attrName>
                                        </p:attrNameLst>
                                      </p:cBhvr>
                                      <p:to>
                                        <p:strVal val="visible"/>
                                      </p:to>
                                    </p:set>
                                    <p:anim calcmode="lin" valueType="num">
                                      <p:cBhvr additive="base">
                                        <p:cTn id="49" dur="500" fill="hold"/>
                                        <p:tgtEl>
                                          <p:spTgt spid="5529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529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5298">
                                            <p:txEl>
                                              <p:pRg st="8" end="8"/>
                                            </p:txEl>
                                          </p:spTgt>
                                        </p:tgtEl>
                                        <p:attrNameLst>
                                          <p:attrName>style.visibility</p:attrName>
                                        </p:attrNameLst>
                                      </p:cBhvr>
                                      <p:to>
                                        <p:strVal val="visible"/>
                                      </p:to>
                                    </p:set>
                                    <p:anim calcmode="lin" valueType="num">
                                      <p:cBhvr additive="base">
                                        <p:cTn id="55" dur="500" fill="hold"/>
                                        <p:tgtEl>
                                          <p:spTgt spid="55298">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529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5298">
                                            <p:txEl>
                                              <p:pRg st="9" end="9"/>
                                            </p:txEl>
                                          </p:spTgt>
                                        </p:tgtEl>
                                        <p:attrNameLst>
                                          <p:attrName>style.visibility</p:attrName>
                                        </p:attrNameLst>
                                      </p:cBhvr>
                                      <p:to>
                                        <p:strVal val="visible"/>
                                      </p:to>
                                    </p:set>
                                    <p:anim calcmode="lin" valueType="num">
                                      <p:cBhvr additive="base">
                                        <p:cTn id="61" dur="500" fill="hold"/>
                                        <p:tgtEl>
                                          <p:spTgt spid="55298">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529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55298">
                                            <p:txEl>
                                              <p:pRg st="10" end="10"/>
                                            </p:txEl>
                                          </p:spTgt>
                                        </p:tgtEl>
                                        <p:attrNameLst>
                                          <p:attrName>style.visibility</p:attrName>
                                        </p:attrNameLst>
                                      </p:cBhvr>
                                      <p:to>
                                        <p:strVal val="visible"/>
                                      </p:to>
                                    </p:set>
                                    <p:anim calcmode="lin" valueType="num">
                                      <p:cBhvr additive="base">
                                        <p:cTn id="67" dur="500" fill="hold"/>
                                        <p:tgtEl>
                                          <p:spTgt spid="55298">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529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55298">
                                            <p:txEl>
                                              <p:pRg st="11" end="11"/>
                                            </p:txEl>
                                          </p:spTgt>
                                        </p:tgtEl>
                                        <p:attrNameLst>
                                          <p:attrName>style.visibility</p:attrName>
                                        </p:attrNameLst>
                                      </p:cBhvr>
                                      <p:to>
                                        <p:strVal val="visible"/>
                                      </p:to>
                                    </p:set>
                                    <p:anim calcmode="lin" valueType="num">
                                      <p:cBhvr additive="base">
                                        <p:cTn id="73" dur="500" fill="hold"/>
                                        <p:tgtEl>
                                          <p:spTgt spid="55298">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5298">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55298">
                                            <p:txEl>
                                              <p:pRg st="12" end="12"/>
                                            </p:txEl>
                                          </p:spTgt>
                                        </p:tgtEl>
                                        <p:attrNameLst>
                                          <p:attrName>style.visibility</p:attrName>
                                        </p:attrNameLst>
                                      </p:cBhvr>
                                      <p:to>
                                        <p:strVal val="visible"/>
                                      </p:to>
                                    </p:set>
                                    <p:anim calcmode="lin" valueType="num">
                                      <p:cBhvr additive="base">
                                        <p:cTn id="79" dur="500" fill="hold"/>
                                        <p:tgtEl>
                                          <p:spTgt spid="55298">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529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55298">
                                            <p:txEl>
                                              <p:pRg st="13" end="13"/>
                                            </p:txEl>
                                          </p:spTgt>
                                        </p:tgtEl>
                                        <p:attrNameLst>
                                          <p:attrName>style.visibility</p:attrName>
                                        </p:attrNameLst>
                                      </p:cBhvr>
                                      <p:to>
                                        <p:strVal val="visible"/>
                                      </p:to>
                                    </p:set>
                                    <p:anim calcmode="lin" valueType="num">
                                      <p:cBhvr additive="base">
                                        <p:cTn id="85" dur="500" fill="hold"/>
                                        <p:tgtEl>
                                          <p:spTgt spid="55298">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5298">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55298">
                                            <p:txEl>
                                              <p:pRg st="14" end="14"/>
                                            </p:txEl>
                                          </p:spTgt>
                                        </p:tgtEl>
                                        <p:attrNameLst>
                                          <p:attrName>style.visibility</p:attrName>
                                        </p:attrNameLst>
                                      </p:cBhvr>
                                      <p:to>
                                        <p:strVal val="visible"/>
                                      </p:to>
                                    </p:set>
                                    <p:anim calcmode="lin" valueType="num">
                                      <p:cBhvr additive="base">
                                        <p:cTn id="91" dur="500" fill="hold"/>
                                        <p:tgtEl>
                                          <p:spTgt spid="55298">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5298">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55298">
                                            <p:txEl>
                                              <p:pRg st="15" end="15"/>
                                            </p:txEl>
                                          </p:spTgt>
                                        </p:tgtEl>
                                        <p:attrNameLst>
                                          <p:attrName>style.visibility</p:attrName>
                                        </p:attrNameLst>
                                      </p:cBhvr>
                                      <p:to>
                                        <p:strVal val="visible"/>
                                      </p:to>
                                    </p:set>
                                    <p:anim calcmode="lin" valueType="num">
                                      <p:cBhvr additive="base">
                                        <p:cTn id="97" dur="500" fill="hold"/>
                                        <p:tgtEl>
                                          <p:spTgt spid="55298">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55298">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noChangeArrowheads="1"/>
          </p:cNvSpPr>
          <p:nvPr>
            <p:ph sz="quarter" idx="4294967295"/>
          </p:nvPr>
        </p:nvSpPr>
        <p:spPr>
          <a:xfrm>
            <a:off x="749300" y="342900"/>
            <a:ext cx="11226800" cy="5657850"/>
          </a:xfrm>
        </p:spPr>
        <p:txBody>
          <a:bodyPr>
            <a:normAutofit/>
          </a:bodyPr>
          <a:lstStyle/>
          <a:p>
            <a:pPr>
              <a:lnSpc>
                <a:spcPct val="80000"/>
              </a:lnSpc>
              <a:buNone/>
            </a:pPr>
            <a:r>
              <a:rPr lang="en-US" altLang="zh-CN" sz="2000" dirty="0">
                <a:latin typeface="Courier New" panose="02070309020205020404" pitchFamily="49" charset="0"/>
              </a:rPr>
              <a:t>						 do {</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a:t>
            </a:r>
            <a:r>
              <a:rPr lang="en-US" altLang="zh-CN" sz="2000" dirty="0" err="1">
                <a:latin typeface="Courier New" panose="02070309020205020404" pitchFamily="49" charset="0"/>
              </a:rPr>
              <a:t>tmp</a:t>
            </a:r>
            <a:r>
              <a:rPr lang="en-US" altLang="zh-CN" sz="2000" dirty="0">
                <a:latin typeface="Courier New" panose="02070309020205020404" pitchFamily="49" charset="0"/>
              </a:rPr>
              <a:t> = </a:t>
            </a:r>
            <a:r>
              <a:rPr lang="en-US" altLang="zh-CN" sz="2000" dirty="0" err="1">
                <a:latin typeface="Courier New" panose="02070309020205020404" pitchFamily="49" charset="0"/>
              </a:rPr>
              <a:t>se.top</a:t>
            </a:r>
            <a:r>
              <a:rPr lang="en-US" altLang="zh-CN" sz="2000" dirty="0">
                <a:latin typeface="Courier New" panose="02070309020205020404" pitchFamily="49" charset="0"/>
              </a:rPr>
              <a:t>();    </a:t>
            </a:r>
            <a:r>
              <a:rPr lang="en-US" altLang="zh-CN" sz="2000" dirty="0" err="1">
                <a:latin typeface="Courier New" panose="02070309020205020404" pitchFamily="49" charset="0"/>
              </a:rPr>
              <a:t>se.pop</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a:t>
            </a:r>
            <a:r>
              <a:rPr lang="en-US" altLang="zh-CN" sz="2000" dirty="0" err="1">
                <a:latin typeface="Courier New" panose="02070309020205020404" pitchFamily="49" charset="0"/>
              </a:rPr>
              <a:t>blks</a:t>
            </a:r>
            <a:r>
              <a:rPr lang="en-US" altLang="zh-CN" sz="2000" dirty="0">
                <a:latin typeface="Courier New" panose="02070309020205020404" pitchFamily="49" charset="0"/>
              </a:rPr>
              <a:t>[</a:t>
            </a:r>
            <a:r>
              <a:rPr lang="en-US" altLang="zh-CN" sz="2000" dirty="0" err="1">
                <a:latin typeface="Courier New" panose="02070309020205020404" pitchFamily="49" charset="0"/>
              </a:rPr>
              <a:t>blkcnt</a:t>
            </a:r>
            <a:r>
              <a:rPr lang="en-US" altLang="zh-CN" sz="2000" dirty="0">
                <a:latin typeface="Courier New" panose="02070309020205020404" pitchFamily="49" charset="0"/>
              </a:rPr>
              <a:t>].</a:t>
            </a:r>
            <a:r>
              <a:rPr lang="en-US" altLang="zh-CN" sz="2000" dirty="0" err="1">
                <a:latin typeface="Courier New" panose="02070309020205020404" pitchFamily="49" charset="0"/>
              </a:rPr>
              <a:t>push_back</a:t>
            </a:r>
            <a:r>
              <a:rPr lang="en-US" altLang="zh-CN" sz="2000" dirty="0">
                <a:latin typeface="Courier New" panose="02070309020205020404" pitchFamily="49" charset="0"/>
              </a:rPr>
              <a:t>(</a:t>
            </a:r>
            <a:r>
              <a:rPr lang="en-US" altLang="zh-CN" sz="2000" dirty="0" err="1">
                <a:latin typeface="Courier New" panose="02070309020205020404" pitchFamily="49" charset="0"/>
              </a:rPr>
              <a:t>tmp</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}while( !(</a:t>
            </a:r>
            <a:r>
              <a:rPr lang="en-US" altLang="zh-CN" sz="2000" dirty="0" err="1">
                <a:latin typeface="Courier New" panose="02070309020205020404" pitchFamily="49" charset="0"/>
              </a:rPr>
              <a:t>tmp.first</a:t>
            </a:r>
            <a:r>
              <a:rPr lang="en-US" altLang="zh-CN" sz="2000" dirty="0">
                <a:latin typeface="Courier New" panose="02070309020205020404" pitchFamily="49" charset="0"/>
              </a:rPr>
              <a:t> == u &amp;&amp; </a:t>
            </a:r>
            <a:r>
              <a:rPr lang="en-US" altLang="zh-CN" sz="2000" dirty="0" err="1">
                <a:latin typeface="Courier New" panose="02070309020205020404" pitchFamily="49" charset="0"/>
              </a:rPr>
              <a:t>tmp.second</a:t>
            </a:r>
            <a:r>
              <a:rPr lang="en-US" altLang="zh-CN" sz="2000" dirty="0">
                <a:latin typeface="Courier New" panose="02070309020205020404" pitchFamily="49" charset="0"/>
              </a:rPr>
              <a:t> ==v) );</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else if(v != fa) {    //v</a:t>
            </a:r>
            <a:r>
              <a:rPr lang="zh-CN" altLang="en-US" sz="2000" dirty="0">
                <a:latin typeface="Courier New" panose="02070309020205020404" pitchFamily="49" charset="0"/>
              </a:rPr>
              <a:t>点已经访问</a:t>
            </a:r>
            <a:endParaRPr lang="zh-CN" altLang="en-US" sz="2000" dirty="0">
              <a:latin typeface="Courier New" panose="02070309020205020404" pitchFamily="49" charset="0"/>
            </a:endParaRPr>
          </a:p>
          <a:p>
            <a:pPr>
              <a:lnSpc>
                <a:spcPct val="80000"/>
              </a:lnSpc>
              <a:buNone/>
            </a:pPr>
            <a:r>
              <a:rPr lang="zh-CN" altLang="en-US" sz="2000" dirty="0">
                <a:latin typeface="Courier New" panose="02070309020205020404" pitchFamily="49" charset="0"/>
              </a:rPr>
              <a:t>            </a:t>
            </a:r>
            <a:r>
              <a:rPr lang="en-US" altLang="zh-CN" sz="2000" dirty="0">
                <a:latin typeface="Courier New" panose="02070309020205020404" pitchFamily="49" charset="0"/>
              </a:rPr>
              <a:t>low[u] = min(low[u], dfn[v]);</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if(dfn[u] &gt; dfn[v])    //</a:t>
            </a:r>
            <a:r>
              <a:rPr lang="zh-CN" altLang="en-US" sz="2000" dirty="0">
                <a:latin typeface="Courier New" panose="02070309020205020404" pitchFamily="49" charset="0"/>
              </a:rPr>
              <a:t>这个判断需要，无向图有”前向边”的概念</a:t>
            </a:r>
            <a:endParaRPr lang="zh-CN" altLang="en-US" sz="2000" dirty="0">
              <a:latin typeface="Courier New" panose="02070309020205020404" pitchFamily="49" charset="0"/>
            </a:endParaRPr>
          </a:p>
          <a:p>
            <a:pPr>
              <a:lnSpc>
                <a:spcPct val="80000"/>
              </a:lnSpc>
              <a:buNone/>
            </a:pPr>
            <a:r>
              <a:rPr lang="zh-CN" altLang="en-US" sz="2000" dirty="0">
                <a:latin typeface="Courier New" panose="02070309020205020404" pitchFamily="49" charset="0"/>
              </a:rPr>
              <a:t>                </a:t>
            </a:r>
            <a:r>
              <a:rPr lang="en-US" altLang="zh-CN" sz="2000" dirty="0" err="1">
                <a:latin typeface="Courier New" panose="02070309020205020404" pitchFamily="49" charset="0"/>
              </a:rPr>
              <a:t>se.push</a:t>
            </a:r>
            <a:r>
              <a:rPr lang="en-US" altLang="zh-CN" sz="2000" dirty="0">
                <a:latin typeface="Courier New" panose="02070309020205020404" pitchFamily="49" charset="0"/>
              </a:rPr>
              <a:t>(</a:t>
            </a:r>
            <a:r>
              <a:rPr lang="en-US" altLang="zh-CN" sz="2000" dirty="0" err="1">
                <a:latin typeface="Courier New" panose="02070309020205020404" pitchFamily="49" charset="0"/>
              </a:rPr>
              <a:t>make_pair</a:t>
            </a:r>
            <a:r>
              <a:rPr lang="en-US" altLang="zh-CN" sz="2000" dirty="0">
                <a:latin typeface="Courier New" panose="02070309020205020404" pitchFamily="49" charset="0"/>
              </a:rPr>
              <a:t>(</a:t>
            </a:r>
            <a:r>
              <a:rPr lang="en-US" altLang="zh-CN" sz="2000" dirty="0" err="1">
                <a:latin typeface="Courier New" panose="02070309020205020404" pitchFamily="49" charset="0"/>
              </a:rPr>
              <a:t>u,v</a:t>
            </a:r>
            <a:r>
              <a:rPr lang="en-US" altLang="zh-CN" sz="2000" dirty="0">
                <a:latin typeface="Courier New" panose="02070309020205020404" pitchFamily="49" charset="0"/>
              </a:rPr>
              <a:t>));</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a:t>
            </a:r>
            <a:endParaRPr lang="en-US" altLang="zh-CN" sz="2000" dirty="0">
              <a:latin typeface="Courier New" panose="02070309020205020404" pitchFamily="49" charset="0"/>
            </a:endParaRPr>
          </a:p>
          <a:p>
            <a:pPr>
              <a:lnSpc>
                <a:spcPct val="80000"/>
              </a:lnSpc>
              <a:buNone/>
            </a:pPr>
            <a:r>
              <a:rPr lang="en-US" altLang="zh-CN" sz="2000" dirty="0">
                <a:latin typeface="Courier New" panose="02070309020205020404" pitchFamily="49" charset="0"/>
              </a:rPr>
              <a:t>}			</a:t>
            </a:r>
            <a:endParaRPr lang="zh-CN" altLang="en-US" sz="2000" dirty="0">
              <a:latin typeface="Courier New" panose="02070309020205020404" pitchFamily="49" charset="0"/>
              <a:cs typeface="Courier New" panose="02070309020205020404" pitchFamily="49" charset="0"/>
            </a:endParaRPr>
          </a:p>
        </p:txBody>
      </p:sp>
      <p:sp>
        <p:nvSpPr>
          <p:cNvPr id="3" name="文本框 2"/>
          <p:cNvSpPr txBox="1"/>
          <p:nvPr/>
        </p:nvSpPr>
        <p:spPr>
          <a:xfrm>
            <a:off x="159054" y="6046916"/>
            <a:ext cx="9621545" cy="646331"/>
          </a:xfrm>
          <a:prstGeom prst="rect">
            <a:avLst/>
          </a:prstGeom>
          <a:noFill/>
        </p:spPr>
        <p:txBody>
          <a:bodyPr wrap="none" rtlCol="0">
            <a:spAutoFit/>
          </a:bodyPr>
          <a:lstStyle/>
          <a:p>
            <a:r>
              <a:rPr lang="zh-CN" altLang="en-US" dirty="0"/>
              <a:t>无向图存双向边，当从</a:t>
            </a:r>
            <a:r>
              <a:rPr lang="en-US" altLang="zh-CN" dirty="0"/>
              <a:t>1-&gt;2-&gt;3</a:t>
            </a:r>
            <a:r>
              <a:rPr lang="zh-CN" altLang="en-US" dirty="0"/>
              <a:t>访问后，回溯返回</a:t>
            </a:r>
            <a:r>
              <a:rPr lang="en-US" altLang="zh-CN" dirty="0"/>
              <a:t>1</a:t>
            </a:r>
            <a:r>
              <a:rPr lang="zh-CN" altLang="en-US" dirty="0"/>
              <a:t>时，会检查</a:t>
            </a:r>
            <a:r>
              <a:rPr lang="en-US" altLang="zh-CN" dirty="0"/>
              <a:t>1-&gt;3</a:t>
            </a:r>
            <a:r>
              <a:rPr lang="zh-CN" altLang="en-US" dirty="0"/>
              <a:t>这条边</a:t>
            </a:r>
            <a:r>
              <a:rPr lang="en-US" altLang="zh-CN" dirty="0"/>
              <a:t>(</a:t>
            </a:r>
            <a:r>
              <a:rPr lang="zh-CN" altLang="en-US" dirty="0"/>
              <a:t>反向边的对称边</a:t>
            </a:r>
            <a:r>
              <a:rPr lang="en-US" altLang="zh-CN" dirty="0"/>
              <a:t>)</a:t>
            </a:r>
            <a:r>
              <a:rPr lang="zh-CN" altLang="en-US" dirty="0"/>
              <a:t>，</a:t>
            </a:r>
            <a:endParaRPr lang="en-US" altLang="zh-CN" dirty="0"/>
          </a:p>
          <a:p>
            <a:r>
              <a:rPr lang="zh-CN" altLang="en-US" dirty="0"/>
              <a:t>但反向边已经在访问结点</a:t>
            </a:r>
            <a:r>
              <a:rPr lang="en-US" altLang="zh-CN" dirty="0"/>
              <a:t>3</a:t>
            </a:r>
            <a:r>
              <a:rPr lang="zh-CN" altLang="en-US" dirty="0"/>
              <a:t>时添加过，不能再次添加</a:t>
            </a:r>
            <a:endParaRPr lang="zh-CN" altLang="en-US" dirty="0"/>
          </a:p>
        </p:txBody>
      </p:sp>
      <p:pic>
        <p:nvPicPr>
          <p:cNvPr id="4" name="图片 3"/>
          <p:cNvPicPr>
            <a:picLocks noChangeAspect="1"/>
          </p:cNvPicPr>
          <p:nvPr/>
        </p:nvPicPr>
        <p:blipFill>
          <a:blip r:embed="rId1"/>
          <a:stretch>
            <a:fillRect/>
          </a:stretch>
        </p:blipFill>
        <p:spPr>
          <a:xfrm>
            <a:off x="10061814" y="4455795"/>
            <a:ext cx="1914286" cy="191428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2">
                                            <p:txEl>
                                              <p:pRg st="0" end="0"/>
                                            </p:txEl>
                                          </p:spTgt>
                                        </p:tgtEl>
                                        <p:attrNameLst>
                                          <p:attrName>style.visibility</p:attrName>
                                        </p:attrNameLst>
                                      </p:cBhvr>
                                      <p:to>
                                        <p:strVal val="visible"/>
                                      </p:to>
                                    </p:set>
                                    <p:anim calcmode="lin" valueType="num">
                                      <p:cBhvr additive="base">
                                        <p:cTn id="7" dur="500" fill="hold"/>
                                        <p:tgtEl>
                                          <p:spTgt spid="5632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322">
                                            <p:txEl>
                                              <p:pRg st="1" end="1"/>
                                            </p:txEl>
                                          </p:spTgt>
                                        </p:tgtEl>
                                        <p:attrNameLst>
                                          <p:attrName>style.visibility</p:attrName>
                                        </p:attrNameLst>
                                      </p:cBhvr>
                                      <p:to>
                                        <p:strVal val="visible"/>
                                      </p:to>
                                    </p:set>
                                    <p:anim calcmode="lin" valueType="num">
                                      <p:cBhvr additive="base">
                                        <p:cTn id="13" dur="500" fill="hold"/>
                                        <p:tgtEl>
                                          <p:spTgt spid="5632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632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6322">
                                            <p:txEl>
                                              <p:pRg st="2" end="2"/>
                                            </p:txEl>
                                          </p:spTgt>
                                        </p:tgtEl>
                                        <p:attrNameLst>
                                          <p:attrName>style.visibility</p:attrName>
                                        </p:attrNameLst>
                                      </p:cBhvr>
                                      <p:to>
                                        <p:strVal val="visible"/>
                                      </p:to>
                                    </p:set>
                                    <p:anim calcmode="lin" valueType="num">
                                      <p:cBhvr additive="base">
                                        <p:cTn id="19" dur="500" fill="hold"/>
                                        <p:tgtEl>
                                          <p:spTgt spid="5632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632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6322">
                                            <p:txEl>
                                              <p:pRg st="3" end="3"/>
                                            </p:txEl>
                                          </p:spTgt>
                                        </p:tgtEl>
                                        <p:attrNameLst>
                                          <p:attrName>style.visibility</p:attrName>
                                        </p:attrNameLst>
                                      </p:cBhvr>
                                      <p:to>
                                        <p:strVal val="visible"/>
                                      </p:to>
                                    </p:set>
                                    <p:anim calcmode="lin" valueType="num">
                                      <p:cBhvr additive="base">
                                        <p:cTn id="25" dur="500" fill="hold"/>
                                        <p:tgtEl>
                                          <p:spTgt spid="5632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632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6322">
                                            <p:txEl>
                                              <p:pRg st="4" end="4"/>
                                            </p:txEl>
                                          </p:spTgt>
                                        </p:tgtEl>
                                        <p:attrNameLst>
                                          <p:attrName>style.visibility</p:attrName>
                                        </p:attrNameLst>
                                      </p:cBhvr>
                                      <p:to>
                                        <p:strVal val="visible"/>
                                      </p:to>
                                    </p:set>
                                    <p:anim calcmode="lin" valueType="num">
                                      <p:cBhvr additive="base">
                                        <p:cTn id="31" dur="500" fill="hold"/>
                                        <p:tgtEl>
                                          <p:spTgt spid="5632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632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6322">
                                            <p:txEl>
                                              <p:pRg st="5" end="5"/>
                                            </p:txEl>
                                          </p:spTgt>
                                        </p:tgtEl>
                                        <p:attrNameLst>
                                          <p:attrName>style.visibility</p:attrName>
                                        </p:attrNameLst>
                                      </p:cBhvr>
                                      <p:to>
                                        <p:strVal val="visible"/>
                                      </p:to>
                                    </p:set>
                                    <p:anim calcmode="lin" valueType="num">
                                      <p:cBhvr additive="base">
                                        <p:cTn id="37" dur="500" fill="hold"/>
                                        <p:tgtEl>
                                          <p:spTgt spid="5632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632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6322">
                                            <p:txEl>
                                              <p:pRg st="6" end="6"/>
                                            </p:txEl>
                                          </p:spTgt>
                                        </p:tgtEl>
                                        <p:attrNameLst>
                                          <p:attrName>style.visibility</p:attrName>
                                        </p:attrNameLst>
                                      </p:cBhvr>
                                      <p:to>
                                        <p:strVal val="visible"/>
                                      </p:to>
                                    </p:set>
                                    <p:anim calcmode="lin" valueType="num">
                                      <p:cBhvr additive="base">
                                        <p:cTn id="43" dur="500" fill="hold"/>
                                        <p:tgtEl>
                                          <p:spTgt spid="5632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632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6322">
                                            <p:txEl>
                                              <p:pRg st="7" end="7"/>
                                            </p:txEl>
                                          </p:spTgt>
                                        </p:tgtEl>
                                        <p:attrNameLst>
                                          <p:attrName>style.visibility</p:attrName>
                                        </p:attrNameLst>
                                      </p:cBhvr>
                                      <p:to>
                                        <p:strVal val="visible"/>
                                      </p:to>
                                    </p:set>
                                    <p:anim calcmode="lin" valueType="num">
                                      <p:cBhvr additive="base">
                                        <p:cTn id="49" dur="500" fill="hold"/>
                                        <p:tgtEl>
                                          <p:spTgt spid="5632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632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56322">
                                            <p:txEl>
                                              <p:pRg st="8" end="8"/>
                                            </p:txEl>
                                          </p:spTgt>
                                        </p:tgtEl>
                                        <p:attrNameLst>
                                          <p:attrName>style.visibility</p:attrName>
                                        </p:attrNameLst>
                                      </p:cBhvr>
                                      <p:to>
                                        <p:strVal val="visible"/>
                                      </p:to>
                                    </p:set>
                                    <p:anim calcmode="lin" valueType="num">
                                      <p:cBhvr additive="base">
                                        <p:cTn id="55" dur="500" fill="hold"/>
                                        <p:tgtEl>
                                          <p:spTgt spid="56322">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632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6322">
                                            <p:txEl>
                                              <p:pRg st="9" end="9"/>
                                            </p:txEl>
                                          </p:spTgt>
                                        </p:tgtEl>
                                        <p:attrNameLst>
                                          <p:attrName>style.visibility</p:attrName>
                                        </p:attrNameLst>
                                      </p:cBhvr>
                                      <p:to>
                                        <p:strVal val="visible"/>
                                      </p:to>
                                    </p:set>
                                    <p:anim calcmode="lin" valueType="num">
                                      <p:cBhvr additive="base">
                                        <p:cTn id="61" dur="500" fill="hold"/>
                                        <p:tgtEl>
                                          <p:spTgt spid="56322">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632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56322">
                                            <p:txEl>
                                              <p:pRg st="10" end="10"/>
                                            </p:txEl>
                                          </p:spTgt>
                                        </p:tgtEl>
                                        <p:attrNameLst>
                                          <p:attrName>style.visibility</p:attrName>
                                        </p:attrNameLst>
                                      </p:cBhvr>
                                      <p:to>
                                        <p:strVal val="visible"/>
                                      </p:to>
                                    </p:set>
                                    <p:anim calcmode="lin" valueType="num">
                                      <p:cBhvr additive="base">
                                        <p:cTn id="67" dur="500" fill="hold"/>
                                        <p:tgtEl>
                                          <p:spTgt spid="56322">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6322">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56322">
                                            <p:txEl>
                                              <p:pRg st="11" end="11"/>
                                            </p:txEl>
                                          </p:spTgt>
                                        </p:tgtEl>
                                        <p:attrNameLst>
                                          <p:attrName>style.visibility</p:attrName>
                                        </p:attrNameLst>
                                      </p:cBhvr>
                                      <p:to>
                                        <p:strVal val="visible"/>
                                      </p:to>
                                    </p:set>
                                    <p:anim calcmode="lin" valueType="num">
                                      <p:cBhvr additive="base">
                                        <p:cTn id="73" dur="500" fill="hold"/>
                                        <p:tgtEl>
                                          <p:spTgt spid="56322">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632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56322">
                                            <p:txEl>
                                              <p:pRg st="12" end="12"/>
                                            </p:txEl>
                                          </p:spTgt>
                                        </p:tgtEl>
                                        <p:attrNameLst>
                                          <p:attrName>style.visibility</p:attrName>
                                        </p:attrNameLst>
                                      </p:cBhvr>
                                      <p:to>
                                        <p:strVal val="visible"/>
                                      </p:to>
                                    </p:set>
                                    <p:anim calcmode="lin" valueType="num">
                                      <p:cBhvr additive="base">
                                        <p:cTn id="79" dur="500" fill="hold"/>
                                        <p:tgtEl>
                                          <p:spTgt spid="56322">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6322">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644650" y="526415"/>
            <a:ext cx="8667115" cy="6089650"/>
          </a:xfrm>
          <a:prstGeom prst="rect">
            <a:avLst/>
          </a:prstGeom>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noChangeArrowheads="1"/>
          </p:cNvSpPr>
          <p:nvPr>
            <p:ph type="title" idx="4294967295"/>
          </p:nvPr>
        </p:nvSpPr>
        <p:spPr>
          <a:xfrm>
            <a:off x="1524001" y="274639"/>
            <a:ext cx="8786813" cy="511175"/>
          </a:xfrm>
        </p:spPr>
        <p:txBody>
          <a:bodyPr>
            <a:normAutofit fontScale="90000"/>
          </a:bodyPr>
          <a:lstStyle/>
          <a:p>
            <a:pPr eaLnBrk="1" hangingPunct="1"/>
            <a:r>
              <a:rPr lang="zh-CN" altLang="en-US" sz="2000">
                <a:latin typeface="华文楷体" panose="02010600040101010101" pitchFamily="2" charset="-122"/>
              </a:rPr>
              <a:t>求无向连通图点双连通分量（没有割点的连通分量）,假定没有重边</a:t>
            </a:r>
            <a:br>
              <a:rPr lang="zh-CN" altLang="en-US" sz="2000">
                <a:latin typeface="华文楷体" panose="02010600040101010101" pitchFamily="2" charset="-122"/>
              </a:rPr>
            </a:br>
            <a:endParaRPr lang="zh-CN" altLang="en-US" sz="2000"/>
          </a:p>
        </p:txBody>
      </p:sp>
      <p:sp>
        <p:nvSpPr>
          <p:cNvPr id="86019" name="矩形 4"/>
          <p:cNvSpPr>
            <a:spLocks noChangeArrowheads="1"/>
          </p:cNvSpPr>
          <p:nvPr/>
        </p:nvSpPr>
        <p:spPr bwMode="auto">
          <a:xfrm>
            <a:off x="1881188" y="857250"/>
            <a:ext cx="45720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latin typeface="Century Schoolbook" panose="02040604050505020304" pitchFamily="18" charset="0"/>
              </a:rPr>
              <a:t>Input: </a:t>
            </a:r>
            <a:r>
              <a:rPr lang="zh-CN" altLang="en-US">
                <a:latin typeface="Century Schoolbook" panose="02040604050505020304" pitchFamily="18" charset="0"/>
              </a:rPr>
              <a:t>（</a:t>
            </a:r>
            <a:r>
              <a:rPr lang="en-US" altLang="zh-CN">
                <a:latin typeface="Century Schoolbook" panose="02040604050505020304" pitchFamily="18" charset="0"/>
              </a:rPr>
              <a:t>9</a:t>
            </a:r>
            <a:r>
              <a:rPr lang="zh-CN" altLang="en-US">
                <a:latin typeface="Century Schoolbook" panose="02040604050505020304" pitchFamily="18" charset="0"/>
              </a:rPr>
              <a:t>点</a:t>
            </a:r>
            <a:r>
              <a:rPr lang="en-US" altLang="zh-CN">
                <a:latin typeface="Century Schoolbook" panose="02040604050505020304" pitchFamily="18" charset="0"/>
              </a:rPr>
              <a:t>12</a:t>
            </a:r>
            <a:r>
              <a:rPr lang="zh-CN" altLang="en-US">
                <a:latin typeface="Century Schoolbook" panose="02040604050505020304" pitchFamily="18" charset="0"/>
              </a:rPr>
              <a:t>边）</a:t>
            </a:r>
            <a:endParaRPr lang="en-US" altLang="zh-CN">
              <a:latin typeface="Century Schoolbook" panose="02040604050505020304" pitchFamily="18" charset="0"/>
            </a:endParaRPr>
          </a:p>
          <a:p>
            <a:pPr>
              <a:buFont typeface="Arial" panose="020B0604020202020204" pitchFamily="34" charset="0"/>
              <a:buNone/>
            </a:pP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9 12</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1 2</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1 5 </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1 6</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1 7</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2 3</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2 4</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2 5</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3 4</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5 6</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7 8</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7 9</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8 9</a:t>
            </a:r>
            <a:endParaRPr lang="en-US" altLang="zh-CN">
              <a:latin typeface="Century Schoolbook" panose="02040604050505020304" pitchFamily="18" charset="0"/>
            </a:endParaRPr>
          </a:p>
          <a:p>
            <a:pPr>
              <a:buFont typeface="Arial" panose="020B0604020202020204" pitchFamily="34" charset="0"/>
              <a:buNone/>
            </a:pPr>
            <a:endParaRPr lang="en-US" altLang="zh-CN">
              <a:latin typeface="Century Schoolbook" panose="02040604050505020304" pitchFamily="18" charset="0"/>
            </a:endParaRPr>
          </a:p>
          <a:p>
            <a:pPr>
              <a:buFont typeface="Arial" panose="020B0604020202020204" pitchFamily="34" charset="0"/>
              <a:buNone/>
            </a:pPr>
            <a:endParaRPr lang="zh-CN" altLang="en-US">
              <a:latin typeface="Century Schoolbook" panose="02040604050505020304" pitchFamily="18" charset="0"/>
            </a:endParaRPr>
          </a:p>
        </p:txBody>
      </p:sp>
      <p:sp>
        <p:nvSpPr>
          <p:cNvPr id="86020" name="矩形 5"/>
          <p:cNvSpPr>
            <a:spLocks noChangeArrowheads="1"/>
          </p:cNvSpPr>
          <p:nvPr/>
        </p:nvSpPr>
        <p:spPr bwMode="auto">
          <a:xfrm>
            <a:off x="5810250" y="785814"/>
            <a:ext cx="45720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600">
                <a:latin typeface="Century Schoolbook" panose="02040604050505020304" pitchFamily="18" charset="0"/>
              </a:rPr>
              <a:t>output:</a:t>
            </a:r>
            <a:endParaRPr lang="en-US" altLang="zh-CN" sz="1600">
              <a:latin typeface="Century Schoolbook" panose="02040604050505020304" pitchFamily="18" charset="0"/>
            </a:endParaRPr>
          </a:p>
          <a:p>
            <a:pPr>
              <a:buFont typeface="Arial" panose="020B0604020202020204" pitchFamily="34" charset="0"/>
              <a:buNone/>
            </a:pPr>
            <a:endParaRPr lang="zh-CN" altLang="en-US"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Block No. 1</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8, 7</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9, 8</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7, 9</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Block No. 2</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1, 7</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Block No. 3</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3, 2</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4, 3</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2, 4</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Block No. 4</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5, 1</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2, 1</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5, 2</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6, 5</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1, 6</a:t>
            </a:r>
            <a:endParaRPr lang="zh-CN" altLang="en-US" sz="1600">
              <a:latin typeface="Century Schoolbook" panose="02040604050505020304" pitchFamily="18"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noChangeArrowheads="1"/>
          </p:cNvSpPr>
          <p:nvPr>
            <p:ph type="title" idx="4294967295"/>
          </p:nvPr>
        </p:nvSpPr>
        <p:spPr>
          <a:xfrm>
            <a:off x="1524001" y="274639"/>
            <a:ext cx="8786813" cy="511175"/>
          </a:xfrm>
        </p:spPr>
        <p:txBody>
          <a:bodyPr>
            <a:normAutofit fontScale="90000"/>
          </a:bodyPr>
          <a:lstStyle/>
          <a:p>
            <a:pPr eaLnBrk="1" hangingPunct="1"/>
            <a:r>
              <a:rPr lang="zh-CN" altLang="en-US" sz="2000">
                <a:latin typeface="华文楷体" panose="02010600040101010101" pitchFamily="2" charset="-122"/>
              </a:rPr>
              <a:t>求无向连通图点双连通分量（没有割点的连通分量）,假定没有重边</a:t>
            </a:r>
            <a:br>
              <a:rPr lang="zh-CN" altLang="en-US" sz="2000">
                <a:latin typeface="华文楷体" panose="02010600040101010101" pitchFamily="2" charset="-122"/>
              </a:rPr>
            </a:br>
            <a:endParaRPr lang="zh-CN" altLang="en-US" sz="2000"/>
          </a:p>
        </p:txBody>
      </p:sp>
      <p:sp>
        <p:nvSpPr>
          <p:cNvPr id="87043" name="矩形 4"/>
          <p:cNvSpPr>
            <a:spLocks noChangeArrowheads="1"/>
          </p:cNvSpPr>
          <p:nvPr/>
        </p:nvSpPr>
        <p:spPr bwMode="auto">
          <a:xfrm>
            <a:off x="1881188" y="857251"/>
            <a:ext cx="45720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a:latin typeface="Century Schoolbook" panose="02040604050505020304" pitchFamily="18" charset="0"/>
              </a:rPr>
              <a:t>Input: </a:t>
            </a:r>
            <a:r>
              <a:rPr lang="zh-CN" altLang="en-US">
                <a:latin typeface="Century Schoolbook" panose="02040604050505020304" pitchFamily="18" charset="0"/>
              </a:rPr>
              <a:t>（</a:t>
            </a:r>
            <a:r>
              <a:rPr lang="en-US" altLang="zh-CN">
                <a:latin typeface="Century Schoolbook" panose="02040604050505020304" pitchFamily="18" charset="0"/>
              </a:rPr>
              <a:t>11</a:t>
            </a:r>
            <a:r>
              <a:rPr lang="zh-CN" altLang="en-US">
                <a:latin typeface="Century Schoolbook" panose="02040604050505020304" pitchFamily="18" charset="0"/>
              </a:rPr>
              <a:t>点</a:t>
            </a:r>
            <a:r>
              <a:rPr lang="en-US" altLang="zh-CN">
                <a:latin typeface="Century Schoolbook" panose="02040604050505020304" pitchFamily="18" charset="0"/>
              </a:rPr>
              <a:t>13</a:t>
            </a:r>
            <a:r>
              <a:rPr lang="zh-CN" altLang="en-US">
                <a:latin typeface="Century Schoolbook" panose="02040604050505020304" pitchFamily="18" charset="0"/>
              </a:rPr>
              <a:t>边）</a:t>
            </a:r>
            <a:endParaRPr lang="en-US" altLang="zh-CN">
              <a:latin typeface="Century Schoolbook" panose="02040604050505020304" pitchFamily="18" charset="0"/>
            </a:endParaRPr>
          </a:p>
          <a:p>
            <a:pPr>
              <a:buFont typeface="Arial" panose="020B0604020202020204" pitchFamily="34" charset="0"/>
              <a:buNone/>
            </a:pP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11 13</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1 2</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1 4</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1 5</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1 6</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2 11 </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2 3</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4 3</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4 9</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5 8</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5 7</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6 7</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7 10</a:t>
            </a:r>
            <a:endParaRPr lang="en-US" altLang="zh-CN">
              <a:latin typeface="Century Schoolbook" panose="02040604050505020304" pitchFamily="18" charset="0"/>
            </a:endParaRPr>
          </a:p>
          <a:p>
            <a:pPr>
              <a:buFont typeface="Arial" panose="020B0604020202020204" pitchFamily="34" charset="0"/>
              <a:buNone/>
            </a:pPr>
            <a:r>
              <a:rPr lang="en-US" altLang="zh-CN">
                <a:latin typeface="Century Schoolbook" panose="02040604050505020304" pitchFamily="18" charset="0"/>
              </a:rPr>
              <a:t>11 3</a:t>
            </a:r>
            <a:endParaRPr lang="en-US" altLang="zh-CN">
              <a:latin typeface="Century Schoolbook" panose="02040604050505020304" pitchFamily="18" charset="0"/>
            </a:endParaRPr>
          </a:p>
          <a:p>
            <a:pPr>
              <a:buFont typeface="Arial" panose="020B0604020202020204" pitchFamily="34" charset="0"/>
              <a:buNone/>
            </a:pPr>
            <a:endParaRPr lang="en-US" altLang="zh-CN">
              <a:latin typeface="Century Schoolbook" panose="02040604050505020304" pitchFamily="18" charset="0"/>
            </a:endParaRPr>
          </a:p>
          <a:p>
            <a:pPr>
              <a:buFont typeface="Arial" panose="020B0604020202020204" pitchFamily="34" charset="0"/>
              <a:buNone/>
            </a:pPr>
            <a:endParaRPr lang="zh-CN" altLang="en-US">
              <a:latin typeface="Century Schoolbook" panose="02040604050505020304" pitchFamily="18" charset="0"/>
            </a:endParaRPr>
          </a:p>
        </p:txBody>
      </p:sp>
      <p:sp>
        <p:nvSpPr>
          <p:cNvPr id="87044" name="矩形 5"/>
          <p:cNvSpPr>
            <a:spLocks noChangeArrowheads="1"/>
          </p:cNvSpPr>
          <p:nvPr/>
        </p:nvSpPr>
        <p:spPr bwMode="auto">
          <a:xfrm>
            <a:off x="5810250" y="785813"/>
            <a:ext cx="45720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Font typeface="Arial" panose="020B0604020202020204" pitchFamily="34" charset="0"/>
              <a:buNone/>
            </a:pPr>
            <a:r>
              <a:rPr lang="en-US" altLang="zh-CN" sz="1600">
                <a:latin typeface="Century Schoolbook" panose="02040604050505020304" pitchFamily="18" charset="0"/>
              </a:rPr>
              <a:t>output:</a:t>
            </a:r>
            <a:endParaRPr lang="en-US" altLang="zh-CN" sz="1600">
              <a:latin typeface="Century Schoolbook" panose="02040604050505020304" pitchFamily="18" charset="0"/>
            </a:endParaRPr>
          </a:p>
          <a:p>
            <a:pPr>
              <a:buFont typeface="Arial" panose="020B0604020202020204" pitchFamily="34" charset="0"/>
              <a:buNone/>
            </a:pPr>
            <a:endParaRPr lang="zh-CN" altLang="en-US"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Block No: 1</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4,9</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Block No: 2</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4,1</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3,4</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3,2</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11,3</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2,11</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1,2</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Block No: 3</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5,8</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Block No: 4</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7,10</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Block No: 5</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6,1</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7,6</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5,7</a:t>
            </a:r>
            <a:endParaRPr lang="en-US" altLang="zh-CN" sz="1600">
              <a:latin typeface="Century Schoolbook" panose="02040604050505020304" pitchFamily="18" charset="0"/>
            </a:endParaRPr>
          </a:p>
          <a:p>
            <a:pPr>
              <a:buFont typeface="Arial" panose="020B0604020202020204" pitchFamily="34" charset="0"/>
              <a:buNone/>
            </a:pPr>
            <a:r>
              <a:rPr lang="en-US" altLang="zh-CN" sz="1600">
                <a:latin typeface="Century Schoolbook" panose="02040604050505020304" pitchFamily="18" charset="0"/>
              </a:rPr>
              <a:t>1,5</a:t>
            </a:r>
            <a:endParaRPr lang="zh-CN" altLang="en-US" sz="1600">
              <a:latin typeface="Century Schoolbook" panose="02040604050505020304" pitchFamily="18"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求点双连通分量的练习题</a:t>
            </a:r>
            <a:endParaRPr lang="zh-CN" altLang="en-US" dirty="0"/>
          </a:p>
        </p:txBody>
      </p:sp>
      <p:sp>
        <p:nvSpPr>
          <p:cNvPr id="3" name="内容占位符 2"/>
          <p:cNvSpPr>
            <a:spLocks noGrp="1"/>
          </p:cNvSpPr>
          <p:nvPr>
            <p:ph idx="1"/>
          </p:nvPr>
        </p:nvSpPr>
        <p:spPr/>
        <p:txBody>
          <a:bodyPr/>
          <a:lstStyle/>
          <a:p>
            <a:r>
              <a:rPr lang="en-US" altLang="zh-CN" dirty="0" err="1"/>
              <a:t>CF962F</a:t>
            </a:r>
            <a:r>
              <a:rPr lang="en-US" altLang="zh-CN" dirty="0"/>
              <a:t> </a:t>
            </a:r>
            <a:r>
              <a:rPr lang="zh-CN" altLang="en-US" dirty="0"/>
              <a:t>简单环</a:t>
            </a:r>
            <a:endParaRPr lang="zh-CN" altLang="en-US" dirty="0"/>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noChangeArrowheads="1"/>
          </p:cNvSpPr>
          <p:nvPr>
            <p:ph type="title" idx="4294967295"/>
          </p:nvPr>
        </p:nvSpPr>
        <p:spPr>
          <a:xfrm>
            <a:off x="1981200" y="274639"/>
            <a:ext cx="7467600" cy="725487"/>
          </a:xfrm>
        </p:spPr>
        <p:txBody>
          <a:bodyPr/>
          <a:lstStyle/>
          <a:p>
            <a:pPr eaLnBrk="1" hangingPunct="1"/>
            <a:r>
              <a:rPr lang="zh-CN" altLang="en-US" dirty="0">
                <a:solidFill>
                  <a:srgbClr val="545E70"/>
                </a:solidFill>
              </a:rPr>
              <a:t>求无向连通图边双连通分量</a:t>
            </a:r>
            <a:endParaRPr lang="zh-CN" altLang="en-US" dirty="0"/>
          </a:p>
        </p:txBody>
      </p:sp>
      <p:sp>
        <p:nvSpPr>
          <p:cNvPr id="88067" name="内容占位符 2"/>
          <p:cNvSpPr>
            <a:spLocks noGrp="1" noChangeArrowheads="1"/>
          </p:cNvSpPr>
          <p:nvPr>
            <p:ph sz="quarter" idx="4294967295"/>
          </p:nvPr>
        </p:nvSpPr>
        <p:spPr>
          <a:xfrm>
            <a:off x="1005840" y="1117284"/>
            <a:ext cx="9664700" cy="4873625"/>
          </a:xfrm>
        </p:spPr>
        <p:txBody>
          <a:bodyPr/>
          <a:lstStyle/>
          <a:p>
            <a:pPr eaLnBrk="1" hangingPunct="1"/>
            <a:r>
              <a:rPr lang="zh-CN" altLang="en-US" dirty="0"/>
              <a:t>边双连通分量是指不包含桥的极大连通子图。因此，边连通分量的任意两个点之间都有不共边的两条路（可以共点）。这也正是“边双连通分量”的称谓所在。</a:t>
            </a:r>
            <a:endParaRPr lang="en-US" altLang="zh-CN" dirty="0"/>
          </a:p>
          <a:p>
            <a:pPr eaLnBrk="1" hangingPunct="1"/>
            <a:r>
              <a:rPr lang="zh-CN" altLang="en-US" dirty="0"/>
              <a:t>既然边双连通分量不存在桥，那么，删除任意一条边后，分量仍能保持连通性。</a:t>
            </a:r>
            <a:endParaRPr lang="en-US" altLang="zh-CN" dirty="0"/>
          </a:p>
          <a:p>
            <a:pPr eaLnBrk="1" hangingPunct="1"/>
            <a:r>
              <a:rPr lang="zh-CN" altLang="en-US" dirty="0"/>
              <a:t>要求边双连通分量，只需在求出所有的桥以后，把桥边删除，原图变成了多个连通块，则每个连通块就是一个边双连通分量。桥不属于任何一个边双连通分量，其余的边和每个结点都属于且只属于一个边双连通分量。</a:t>
            </a:r>
            <a:endParaRPr lang="en-US" altLang="zh-CN" dirty="0"/>
          </a:p>
          <a:p>
            <a:pPr eaLnBrk="1" hangingPunct="1"/>
            <a:r>
              <a:rPr lang="zh-CN" altLang="en-US" dirty="0"/>
              <a:t>如图所示。</a:t>
            </a:r>
            <a:r>
              <a:rPr lang="en-US" altLang="zh-CN" dirty="0"/>
              <a:t>(a)</a:t>
            </a:r>
            <a:r>
              <a:rPr lang="zh-CN" altLang="en-US" dirty="0"/>
              <a:t>是原图，</a:t>
            </a:r>
            <a:r>
              <a:rPr lang="en-US" altLang="zh-CN" dirty="0"/>
              <a:t>(b)</a:t>
            </a:r>
            <a:r>
              <a:rPr lang="zh-CN" altLang="en-US" dirty="0"/>
              <a:t>是边双连通分量，</a:t>
            </a:r>
            <a:r>
              <a:rPr lang="en-US" altLang="zh-CN" dirty="0"/>
              <a:t>(c)</a:t>
            </a:r>
            <a:r>
              <a:rPr lang="zh-CN" altLang="en-US" dirty="0"/>
              <a:t>是点双连通分量</a:t>
            </a:r>
            <a:endParaRPr lang="en-US" altLang="zh-CN" dirty="0"/>
          </a:p>
          <a:p>
            <a:pPr eaLnBrk="1" hangingPunct="1"/>
            <a:endParaRPr lang="zh-CN" altLang="en-US" dirty="0"/>
          </a:p>
        </p:txBody>
      </p:sp>
      <p:pic>
        <p:nvPicPr>
          <p:cNvPr id="2" name="图片 1"/>
          <p:cNvPicPr>
            <a:picLocks noChangeAspect="1"/>
          </p:cNvPicPr>
          <p:nvPr/>
        </p:nvPicPr>
        <p:blipFill>
          <a:blip r:embed="rId1"/>
          <a:stretch>
            <a:fillRect/>
          </a:stretch>
        </p:blipFill>
        <p:spPr>
          <a:xfrm>
            <a:off x="8434676" y="3262832"/>
            <a:ext cx="3490624" cy="3245920"/>
          </a:xfrm>
          <a:prstGeom prst="rect">
            <a:avLst/>
          </a:prstGeom>
        </p:spPr>
      </p:pic>
      <p:sp>
        <p:nvSpPr>
          <p:cNvPr id="3" name="文本框 2"/>
          <p:cNvSpPr txBox="1"/>
          <p:nvPr/>
        </p:nvSpPr>
        <p:spPr>
          <a:xfrm>
            <a:off x="8434705" y="4340225"/>
            <a:ext cx="3490595" cy="1091565"/>
          </a:xfrm>
          <a:prstGeom prst="rect">
            <a:avLst/>
          </a:prstGeom>
          <a:ln w="28575" cmpd="sng">
            <a:solidFill>
              <a:schemeClr val="accent1">
                <a:shade val="50000"/>
              </a:schemeClr>
            </a:solidFill>
            <a:prstDash val="solid"/>
          </a:ln>
        </p:spPr>
        <p:txBody>
          <a:bodyPr>
            <a:noAutofit/>
            <a:extLst>
              <a:ext uri="{4A0BC546-FE56-4ADE-93B0-CB8AF2F6F144}">
                <wpsdc:textFrameExt xmlns:wpsdc="http://www.wps.cn/officeDocument/2022/drawingmlCustomData" type="text"/>
              </a:ext>
            </a:extLst>
          </a:bodyPr>
          <a:p>
            <a:pPr algn="l"/>
            <a:endParaRPr lang="zh-CN" altLang="en-US" sz="1800">
              <a:latin typeface="Arial" panose="020B0604020202020204" pitchFamily="34" charset="0"/>
              <a:ea typeface="微软雅黑" panose="020B0503020204020204" charset="-122"/>
            </a:endParaRPr>
          </a:p>
        </p:txBody>
      </p:sp>
      <p:sp>
        <p:nvSpPr>
          <p:cNvPr id="4" name="文本框 3"/>
          <p:cNvSpPr txBox="1"/>
          <p:nvPr/>
        </p:nvSpPr>
        <p:spPr>
          <a:xfrm>
            <a:off x="8434705" y="5417185"/>
            <a:ext cx="3490595" cy="1091565"/>
          </a:xfrm>
          <a:prstGeom prst="rect">
            <a:avLst/>
          </a:prstGeom>
          <a:ln w="28575" cmpd="sng">
            <a:solidFill>
              <a:schemeClr val="accent1">
                <a:shade val="50000"/>
              </a:schemeClr>
            </a:solidFill>
            <a:prstDash val="solid"/>
          </a:ln>
        </p:spPr>
        <p:txBody>
          <a:bodyPr>
            <a:noAutofit/>
            <a:extLst>
              <a:ext uri="{4A0BC546-FE56-4ADE-93B0-CB8AF2F6F144}">
                <wpsdc:textFrameExt xmlns:wpsdc="http://www.wps.cn/officeDocument/2022/drawingmlCustomData" type="text"/>
              </a:ext>
            </a:extLst>
          </a:bodyPr>
          <a:p>
            <a:pPr algn="l"/>
            <a:endParaRPr lang="zh-CN" altLang="en-US" sz="1800">
              <a:latin typeface="Arial" panose="020B0604020202020204" pitchFamily="34" charset="0"/>
              <a:ea typeface="微软雅黑" panose="020B0503020204020204" charset="-122"/>
            </a:endParaRPr>
          </a:p>
        </p:txBody>
      </p:sp>
      <p:sp>
        <p:nvSpPr>
          <p:cNvPr id="5" name="文本框 4"/>
          <p:cNvSpPr txBox="1"/>
          <p:nvPr/>
        </p:nvSpPr>
        <p:spPr>
          <a:xfrm>
            <a:off x="8434705" y="3248660"/>
            <a:ext cx="3490595" cy="1091565"/>
          </a:xfrm>
          <a:prstGeom prst="rect">
            <a:avLst/>
          </a:prstGeom>
          <a:ln w="28575" cmpd="sng">
            <a:solidFill>
              <a:schemeClr val="accent1">
                <a:shade val="50000"/>
              </a:schemeClr>
            </a:solidFill>
            <a:prstDash val="solid"/>
          </a:ln>
        </p:spPr>
        <p:txBody>
          <a:bodyPr>
            <a:noAutofit/>
            <a:extLst>
              <a:ext uri="{4A0BC546-FE56-4ADE-93B0-CB8AF2F6F144}">
                <wpsdc:textFrameExt xmlns:wpsdc="http://www.wps.cn/officeDocument/2022/drawingmlCustomData" type="text"/>
              </a:ext>
            </a:extLst>
          </a:bodyPr>
          <a:p>
            <a:pPr algn="l"/>
            <a:endParaRPr lang="zh-CN" altLang="en-US" sz="1800">
              <a:latin typeface="Arial" panose="020B0604020202020204" pitchFamily="34" charset="0"/>
              <a:ea typeface="微软雅黑" panose="020B0503020204020204"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noChangeArrowheads="1"/>
          </p:cNvSpPr>
          <p:nvPr>
            <p:ph type="title"/>
          </p:nvPr>
        </p:nvSpPr>
        <p:spPr>
          <a:xfrm>
            <a:off x="1981200" y="274639"/>
            <a:ext cx="7467600" cy="561975"/>
          </a:xfrm>
        </p:spPr>
        <p:txBody>
          <a:bodyPr>
            <a:normAutofit fontScale="90000"/>
          </a:bodyPr>
          <a:lstStyle/>
          <a:p>
            <a:r>
              <a:rPr lang="zh-CN" altLang="en-US" dirty="0"/>
              <a:t>求边双连通分量</a:t>
            </a:r>
            <a:endParaRPr lang="zh-CN" altLang="en-US" dirty="0"/>
          </a:p>
        </p:txBody>
      </p:sp>
      <p:sp>
        <p:nvSpPr>
          <p:cNvPr id="89091" name="内容占位符 2"/>
          <p:cNvSpPr>
            <a:spLocks noGrp="1" noChangeArrowheads="1"/>
          </p:cNvSpPr>
          <p:nvPr>
            <p:ph idx="1"/>
          </p:nvPr>
        </p:nvSpPr>
        <p:spPr>
          <a:xfrm>
            <a:off x="1143000" y="1311965"/>
            <a:ext cx="10756780" cy="4865340"/>
          </a:xfrm>
        </p:spPr>
        <p:txBody>
          <a:bodyPr>
            <a:normAutofit/>
          </a:bodyPr>
          <a:lstStyle/>
          <a:p>
            <a:r>
              <a:rPr lang="zh-CN" altLang="en-US" sz="2000" dirty="0"/>
              <a:t>因为每个结点仅属于一个边双连通分量，这一点与有向图的强连通分量相似，故可以用有向图强连通分量相似的方法，在一次</a:t>
            </a:r>
            <a:r>
              <a:rPr lang="en-US" altLang="zh-CN" sz="2000" dirty="0"/>
              <a:t>DFS</a:t>
            </a:r>
            <a:r>
              <a:rPr lang="zh-CN" altLang="en-US" sz="2000" dirty="0"/>
              <a:t>中，用一个栈维护当前遍历过的结点，每当发现遇到一条割边，就把栈中属于当前边双连通分量的结点退栈，并给每个结点标记一个边双连通分量的编号。</a:t>
            </a:r>
            <a:endParaRPr lang="en-US" altLang="zh-CN" sz="2000"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直接连接符 7"/>
          <p:cNvCxnSpPr>
            <a:stCxn id="90114" idx="0"/>
            <a:endCxn id="90114" idx="2"/>
          </p:cNvCxnSpPr>
          <p:nvPr/>
        </p:nvCxnSpPr>
        <p:spPr>
          <a:xfrm>
            <a:off x="6250745" y="548640"/>
            <a:ext cx="0" cy="5641145"/>
          </a:xfrm>
          <a:prstGeom prst="line">
            <a:avLst/>
          </a:prstGeom>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1"/>
          <a:stretch>
            <a:fillRect/>
          </a:stretch>
        </p:blipFill>
        <p:spPr>
          <a:xfrm>
            <a:off x="92710" y="199390"/>
            <a:ext cx="7038975" cy="6459220"/>
          </a:xfrm>
          <a:prstGeom prst="rect">
            <a:avLst/>
          </a:prstGeom>
        </p:spPr>
      </p:pic>
      <p:pic>
        <p:nvPicPr>
          <p:cNvPr id="2" name="图片 1" descr="缩点"/>
          <p:cNvPicPr>
            <a:picLocks noChangeAspect="1"/>
          </p:cNvPicPr>
          <p:nvPr/>
        </p:nvPicPr>
        <p:blipFill>
          <a:blip r:embed="rId2"/>
          <a:stretch>
            <a:fillRect/>
          </a:stretch>
        </p:blipFill>
        <p:spPr>
          <a:xfrm>
            <a:off x="7389495" y="199390"/>
            <a:ext cx="4802505" cy="47548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1"/>
          <p:cNvSpPr>
            <a:spLocks noGrp="1" noChangeArrowheads="1"/>
          </p:cNvSpPr>
          <p:nvPr>
            <p:ph type="title"/>
          </p:nvPr>
        </p:nvSpPr>
        <p:spPr/>
        <p:txBody>
          <a:bodyPr/>
          <a:lstStyle/>
          <a:p>
            <a:r>
              <a:rPr lang="en-US" altLang="zh-CN" sz="2800"/>
              <a:t>HIHOCODER 1184</a:t>
            </a:r>
            <a:r>
              <a:rPr lang="zh-CN" altLang="en-US" sz="2800"/>
              <a:t>连通性二</a:t>
            </a:r>
            <a:r>
              <a:rPr lang="en-US" altLang="zh-CN" sz="2800"/>
              <a:t>·</a:t>
            </a:r>
            <a:r>
              <a:rPr lang="zh-CN" altLang="en-US" sz="2800"/>
              <a:t>边的双连通分量</a:t>
            </a:r>
            <a:endParaRPr lang="zh-CN" altLang="en-US" sz="2800"/>
          </a:p>
        </p:txBody>
      </p:sp>
      <p:sp>
        <p:nvSpPr>
          <p:cNvPr id="3" name="内容占位符 2"/>
          <p:cNvSpPr>
            <a:spLocks noGrp="1"/>
          </p:cNvSpPr>
          <p:nvPr>
            <p:ph idx="1"/>
          </p:nvPr>
        </p:nvSpPr>
        <p:spPr/>
        <p:txBody>
          <a:bodyPr/>
          <a:lstStyle/>
          <a:p>
            <a:pPr>
              <a:defRPr/>
            </a:pPr>
            <a:r>
              <a:rPr lang="zh-CN" altLang="en-US" sz="2000" dirty="0"/>
              <a:t>这个例子，一共有</a:t>
            </a:r>
            <a:r>
              <a:rPr lang="en-US" altLang="zh-CN" sz="2000" dirty="0"/>
              <a:t>6</a:t>
            </a:r>
            <a:r>
              <a:rPr lang="zh-CN" altLang="en-US" sz="2000" dirty="0"/>
              <a:t>个服务器和</a:t>
            </a:r>
            <a:r>
              <a:rPr lang="en-US" altLang="zh-CN" sz="2000" dirty="0"/>
              <a:t>7</a:t>
            </a:r>
            <a:r>
              <a:rPr lang="zh-CN" altLang="en-US" sz="2000" dirty="0"/>
              <a:t>条连接：</a:t>
            </a:r>
            <a:endParaRPr lang="zh-CN" altLang="en-US" sz="2000" dirty="0"/>
          </a:p>
          <a:p>
            <a:pPr marL="0" indent="0">
              <a:buNone/>
              <a:defRPr/>
            </a:pPr>
            <a:r>
              <a:rPr lang="zh-CN" altLang="en-US" sz="2000" dirty="0"/>
              <a:t>其中包含</a:t>
            </a:r>
            <a:r>
              <a:rPr lang="en-US" altLang="zh-CN" sz="2000" dirty="0"/>
              <a:t>2</a:t>
            </a:r>
            <a:r>
              <a:rPr lang="zh-CN" altLang="en-US" sz="2000" dirty="0"/>
              <a:t>个组，分别为</a:t>
            </a:r>
            <a:r>
              <a:rPr lang="en-US" altLang="zh-CN" sz="2000" dirty="0"/>
              <a:t>{1,2,3},{4,5,6}</a:t>
            </a:r>
            <a:r>
              <a:rPr lang="zh-CN" altLang="en-US" sz="2000" dirty="0"/>
              <a:t>。对</a:t>
            </a:r>
            <a:r>
              <a:rPr lang="en-US" altLang="zh-CN" sz="2000" dirty="0"/>
              <a:t>{1,2,3}</a:t>
            </a:r>
            <a:r>
              <a:rPr lang="zh-CN" altLang="en-US" sz="2000" dirty="0"/>
              <a:t>而言，当</a:t>
            </a:r>
            <a:r>
              <a:rPr lang="en-US" altLang="zh-CN" sz="2000" dirty="0"/>
              <a:t>1-2</a:t>
            </a:r>
            <a:r>
              <a:rPr lang="zh-CN" altLang="en-US" sz="2000" dirty="0"/>
              <a:t>断开后，仍然有</a:t>
            </a:r>
            <a:r>
              <a:rPr lang="en-US" altLang="zh-CN" sz="2000" dirty="0"/>
              <a:t>1-3-2</a:t>
            </a:r>
            <a:r>
              <a:rPr lang="zh-CN" altLang="en-US" sz="2000" dirty="0"/>
              <a:t>可以连接</a:t>
            </a:r>
            <a:r>
              <a:rPr lang="en-US" altLang="zh-CN" sz="2000" dirty="0"/>
              <a:t>1</a:t>
            </a:r>
            <a:r>
              <a:rPr lang="zh-CN" altLang="en-US" sz="2000" dirty="0"/>
              <a:t>和</a:t>
            </a:r>
            <a:r>
              <a:rPr lang="en-US" altLang="zh-CN" sz="2000" dirty="0"/>
              <a:t>2</a:t>
            </a:r>
            <a:r>
              <a:rPr lang="zh-CN" altLang="en-US" sz="2000" dirty="0"/>
              <a:t>；当</a:t>
            </a:r>
            <a:r>
              <a:rPr lang="en-US" altLang="zh-CN" sz="2000" dirty="0"/>
              <a:t>2-3</a:t>
            </a:r>
            <a:r>
              <a:rPr lang="zh-CN" altLang="en-US" sz="2000" dirty="0"/>
              <a:t>断开后，仍然有</a:t>
            </a:r>
            <a:r>
              <a:rPr lang="en-US" altLang="zh-CN" sz="2000" dirty="0"/>
              <a:t>2-1-3</a:t>
            </a:r>
            <a:r>
              <a:rPr lang="zh-CN" altLang="en-US" sz="2000" dirty="0"/>
              <a:t>可以连接</a:t>
            </a:r>
            <a:r>
              <a:rPr lang="en-US" altLang="zh-CN" sz="2000" dirty="0"/>
              <a:t>2</a:t>
            </a:r>
            <a:r>
              <a:rPr lang="zh-CN" altLang="en-US" sz="2000" dirty="0"/>
              <a:t>和</a:t>
            </a:r>
            <a:r>
              <a:rPr lang="en-US" altLang="zh-CN" sz="2000" dirty="0"/>
              <a:t>3</a:t>
            </a:r>
            <a:r>
              <a:rPr lang="zh-CN" altLang="en-US" sz="2000" dirty="0"/>
              <a:t>；当</a:t>
            </a:r>
            <a:r>
              <a:rPr lang="en-US" altLang="zh-CN" sz="2000" dirty="0"/>
              <a:t>1-3</a:t>
            </a:r>
            <a:r>
              <a:rPr lang="zh-CN" altLang="en-US" sz="2000" dirty="0"/>
              <a:t>断开后，仍然有</a:t>
            </a:r>
            <a:r>
              <a:rPr lang="en-US" altLang="zh-CN" sz="2000" dirty="0"/>
              <a:t>1-2-3</a:t>
            </a:r>
            <a:r>
              <a:rPr lang="zh-CN" altLang="en-US" sz="2000" dirty="0"/>
              <a:t>可以连接</a:t>
            </a:r>
            <a:r>
              <a:rPr lang="en-US" altLang="zh-CN" sz="2000" dirty="0"/>
              <a:t>1</a:t>
            </a:r>
            <a:r>
              <a:rPr lang="zh-CN" altLang="en-US" sz="2000" dirty="0"/>
              <a:t>和</a:t>
            </a:r>
            <a:r>
              <a:rPr lang="en-US" altLang="zh-CN" sz="2000" dirty="0"/>
              <a:t>3</a:t>
            </a:r>
            <a:r>
              <a:rPr lang="zh-CN" altLang="en-US" sz="2000" dirty="0"/>
              <a:t>。</a:t>
            </a:r>
            <a:r>
              <a:rPr lang="en-US" altLang="zh-CN" sz="2000" dirty="0"/>
              <a:t>{4,5,6}</a:t>
            </a:r>
            <a:r>
              <a:rPr lang="zh-CN" altLang="en-US" sz="2000" dirty="0"/>
              <a:t>这组也是一样。</a:t>
            </a:r>
            <a:endParaRPr lang="en-US" altLang="zh-CN" sz="2000" dirty="0"/>
          </a:p>
          <a:p>
            <a:pPr marL="0" indent="0">
              <a:buNone/>
              <a:defRPr/>
            </a:pPr>
            <a:endParaRPr lang="en-US" altLang="zh-CN" sz="2000" dirty="0"/>
          </a:p>
          <a:p>
            <a:pPr marL="0" indent="0">
              <a:buNone/>
              <a:defRPr/>
            </a:pPr>
            <a:endParaRPr lang="en-US" altLang="zh-CN" sz="2000" dirty="0"/>
          </a:p>
          <a:p>
            <a:pPr marL="0" indent="0">
              <a:buNone/>
              <a:defRPr/>
            </a:pPr>
            <a:endParaRPr lang="en-US" altLang="zh-CN" sz="2000" dirty="0"/>
          </a:p>
          <a:p>
            <a:pPr marL="0" indent="0">
              <a:buNone/>
              <a:defRPr/>
            </a:pPr>
            <a:endParaRPr lang="en-US" altLang="zh-CN" sz="2000" dirty="0"/>
          </a:p>
          <a:p>
            <a:pPr marL="0" indent="0">
              <a:buNone/>
              <a:defRPr/>
            </a:pPr>
            <a:endParaRPr lang="en-US" altLang="zh-CN" sz="2000" dirty="0"/>
          </a:p>
          <a:p>
            <a:pPr marL="0" indent="0">
              <a:buNone/>
              <a:defRPr/>
            </a:pPr>
            <a:endParaRPr lang="en-US" altLang="zh-CN" sz="2000" dirty="0"/>
          </a:p>
          <a:p>
            <a:pPr>
              <a:defRPr/>
            </a:pPr>
            <a:r>
              <a:rPr lang="zh-CN" altLang="en-US" sz="2000" dirty="0"/>
              <a:t>把整个网络的情况告诉了小</a:t>
            </a:r>
            <a:r>
              <a:rPr lang="en-US" altLang="zh-CN" sz="2000" dirty="0"/>
              <a:t>Hi</a:t>
            </a:r>
            <a:r>
              <a:rPr lang="zh-CN" altLang="en-US" sz="2000" dirty="0"/>
              <a:t>和小</a:t>
            </a:r>
            <a:r>
              <a:rPr lang="en-US" altLang="zh-CN" sz="2000" dirty="0"/>
              <a:t>Ho</a:t>
            </a:r>
            <a:r>
              <a:rPr lang="zh-CN" altLang="en-US" sz="2000" dirty="0"/>
              <a:t>，小</a:t>
            </a:r>
            <a:r>
              <a:rPr lang="en-US" altLang="zh-CN" sz="2000" dirty="0"/>
              <a:t>Hi</a:t>
            </a:r>
            <a:r>
              <a:rPr lang="zh-CN" altLang="en-US" sz="2000" dirty="0"/>
              <a:t>和小</a:t>
            </a:r>
            <a:r>
              <a:rPr lang="en-US" altLang="zh-CN" sz="2000" dirty="0"/>
              <a:t>Ho</a:t>
            </a:r>
            <a:r>
              <a:rPr lang="zh-CN" altLang="en-US" sz="2000" dirty="0"/>
              <a:t>要计算出每一台服务器的分组信息。</a:t>
            </a:r>
            <a:endParaRPr lang="zh-CN" altLang="en-US" sz="2000" dirty="0"/>
          </a:p>
        </p:txBody>
      </p:sp>
      <p:pic>
        <p:nvPicPr>
          <p:cNvPr id="94212" name="Picture 2" descr="http://media.hihocoder.com/problem_images/20150704/14360049553546.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43475" y="3141664"/>
            <a:ext cx="3138488" cy="241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p:cNvSpPr txBox="1">
            <a:spLocks noGrp="1" noChangeArrowheads="1"/>
          </p:cNvSpPr>
          <p:nvPr/>
        </p:nvSpPr>
        <p:spPr bwMode="auto">
          <a:xfrm>
            <a:off x="8077201" y="6245225"/>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buFont typeface="Arial" panose="020B0604020202020204" pitchFamily="34" charset="0"/>
              <a:buNone/>
            </a:pPr>
            <a:fld id="{FE80D0E5-5E15-47AC-963B-6273D582F7D2}" type="slidenum">
              <a:rPr lang="en-US" altLang="zh-CN" sz="1400" b="1">
                <a:solidFill>
                  <a:srgbClr val="FFFFFF"/>
                </a:solidFill>
                <a:latin typeface="Century Schoolbook" panose="02040604050505020304" pitchFamily="18" charset="0"/>
              </a:rPr>
            </a:fld>
            <a:endParaRPr lang="en-US" altLang="zh-CN" sz="1400" b="1">
              <a:solidFill>
                <a:srgbClr val="FFFFFF"/>
              </a:solidFill>
              <a:latin typeface="Century Schoolbook" panose="02040604050505020304" pitchFamily="18" charset="0"/>
            </a:endParaRPr>
          </a:p>
        </p:txBody>
      </p:sp>
      <p:sp>
        <p:nvSpPr>
          <p:cNvPr id="95235" name="Rectangle 2"/>
          <p:cNvSpPr>
            <a:spLocks noGrp="1" noRot="1" noChangeArrowheads="1"/>
          </p:cNvSpPr>
          <p:nvPr>
            <p:ph type="title" idx="4294967295"/>
          </p:nvPr>
        </p:nvSpPr>
        <p:spPr>
          <a:xfrm>
            <a:off x="1981200" y="274638"/>
            <a:ext cx="7467600" cy="582612"/>
          </a:xfrm>
        </p:spPr>
        <p:txBody>
          <a:bodyPr>
            <a:normAutofit fontScale="90000"/>
          </a:bodyPr>
          <a:lstStyle/>
          <a:p>
            <a:pPr eaLnBrk="1" hangingPunct="1"/>
            <a:r>
              <a:rPr lang="zh-CN" altLang="en-US"/>
              <a:t>POJ3352 修建道路</a:t>
            </a:r>
            <a:endParaRPr lang="zh-CN" altLang="en-US"/>
          </a:p>
        </p:txBody>
      </p:sp>
      <p:sp>
        <p:nvSpPr>
          <p:cNvPr id="95236" name="Rectangle 3"/>
          <p:cNvSpPr>
            <a:spLocks noGrp="1" noRot="1" noChangeArrowheads="1"/>
          </p:cNvSpPr>
          <p:nvPr>
            <p:ph type="body" idx="4294967295"/>
          </p:nvPr>
        </p:nvSpPr>
        <p:spPr>
          <a:xfrm>
            <a:off x="647114" y="928689"/>
            <a:ext cx="10367889" cy="4873625"/>
          </a:xfrm>
        </p:spPr>
        <p:txBody>
          <a:bodyPr/>
          <a:lstStyle/>
          <a:p>
            <a:pPr eaLnBrk="1" hangingPunct="1">
              <a:lnSpc>
                <a:spcPct val="150000"/>
              </a:lnSpc>
            </a:pPr>
            <a:r>
              <a:rPr lang="zh-CN" altLang="en-US" sz="2000" dirty="0"/>
              <a:t>给你一个连通的无向图，问你至少需要添加几条边，可以保证删除任意一条边，图仍然是连通的。</a:t>
            </a:r>
            <a:endParaRPr lang="en-US" altLang="zh-CN" sz="2000" dirty="0"/>
          </a:p>
          <a:p>
            <a:pPr eaLnBrk="1" hangingPunct="1">
              <a:lnSpc>
                <a:spcPct val="150000"/>
              </a:lnSpc>
            </a:pPr>
            <a:r>
              <a:rPr lang="zh-CN" altLang="en-US" sz="2000" dirty="0"/>
              <a:t>数据范围约定：结点个数</a:t>
            </a:r>
            <a:r>
              <a:rPr lang="en-US" altLang="zh-CN" sz="2000" dirty="0" err="1"/>
              <a:t>N≤2500</a:t>
            </a:r>
            <a:r>
              <a:rPr lang="zh-CN" altLang="en-US" sz="2000" dirty="0"/>
              <a:t>，边数</a:t>
            </a:r>
            <a:r>
              <a:rPr lang="en-US" altLang="zh-CN" sz="2000" dirty="0" err="1"/>
              <a:t>M≤20000</a:t>
            </a:r>
            <a:endParaRPr lang="en-US" altLang="zh-CN" sz="2000" dirty="0"/>
          </a:p>
        </p:txBody>
      </p:sp>
      <p:graphicFrame>
        <p:nvGraphicFramePr>
          <p:cNvPr id="61445" name="表格 61444"/>
          <p:cNvGraphicFramePr/>
          <p:nvPr/>
        </p:nvGraphicFramePr>
        <p:xfrm>
          <a:off x="2927350" y="3068639"/>
          <a:ext cx="6096000" cy="2840223"/>
        </p:xfrm>
        <a:graphic>
          <a:graphicData uri="http://schemas.openxmlformats.org/drawingml/2006/table">
            <a:tbl>
              <a:tblPr/>
              <a:tblGrid>
                <a:gridCol w="3048000"/>
                <a:gridCol w="3048000"/>
              </a:tblGrid>
              <a:tr h="371369">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b="1" dirty="0">
                          <a:solidFill>
                            <a:srgbClr val="FFFFFF"/>
                          </a:solidFill>
                          <a:latin typeface="Century Schoolbook" panose="02040604050505020304" pitchFamily="18" charset="0"/>
                        </a:rPr>
                        <a:t>Sample Input</a:t>
                      </a:r>
                      <a:endParaRPr lang="en-US" altLang="x-none" sz="1200" b="1" dirty="0">
                        <a:solidFill>
                          <a:srgbClr val="FFFFFF"/>
                        </a:solidFill>
                        <a:latin typeface="Century Schoolbook" panose="02040604050505020304" pitchFamily="18" charset="0"/>
                      </a:endParaRPr>
                    </a:p>
                  </a:txBody>
                  <a:tcPr marT="45707" marB="4570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b="1" dirty="0">
                          <a:solidFill>
                            <a:srgbClr val="FFFFFF"/>
                          </a:solidFill>
                          <a:latin typeface="Century Schoolbook" panose="02040604050505020304" pitchFamily="18" charset="0"/>
                        </a:rPr>
                        <a:t>Sample Output</a:t>
                      </a:r>
                      <a:endParaRPr lang="en-US" altLang="x-none" sz="1200" b="1" dirty="0">
                        <a:solidFill>
                          <a:srgbClr val="FFFFFF"/>
                        </a:solidFill>
                        <a:latin typeface="Century Schoolbook" panose="02040604050505020304" pitchFamily="18" charset="0"/>
                      </a:endParaRPr>
                    </a:p>
                  </a:txBody>
                  <a:tcPr marT="45707" marB="4570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2468668">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10 12</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1 2</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1 3</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1 4</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2 5</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2 6</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5 6</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3 7</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3 8</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7 8</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4 9</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4 10</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9 10</a:t>
                      </a:r>
                      <a:endParaRPr lang="en-US" altLang="x-none" sz="1200" dirty="0">
                        <a:solidFill>
                          <a:srgbClr val="000000"/>
                        </a:solidFill>
                        <a:latin typeface="Century Schoolbook" panose="02040604050505020304" pitchFamily="18" charset="0"/>
                      </a:endParaRPr>
                    </a:p>
                  </a:txBody>
                  <a:tcPr marT="45707" marB="4570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2</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200" dirty="0">
                        <a:solidFill>
                          <a:srgbClr val="000000"/>
                        </a:solidFill>
                        <a:latin typeface="Century Schoolbook" panose="02040604050505020304" pitchFamily="18" charset="0"/>
                      </a:endParaRPr>
                    </a:p>
                  </a:txBody>
                  <a:tcPr marT="45707" marB="4570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r>
            </a:tbl>
          </a:graphicData>
        </a:graphic>
      </p:graphicFrame>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1"/>
          <p:cNvSpPr>
            <a:spLocks noGrp="1" noChangeArrowheads="1"/>
          </p:cNvSpPr>
          <p:nvPr>
            <p:ph type="title" idx="4294967295"/>
          </p:nvPr>
        </p:nvSpPr>
        <p:spPr>
          <a:xfrm>
            <a:off x="1981200" y="274638"/>
            <a:ext cx="7467600" cy="582612"/>
          </a:xfrm>
        </p:spPr>
        <p:txBody>
          <a:bodyPr>
            <a:normAutofit fontScale="90000"/>
          </a:bodyPr>
          <a:lstStyle/>
          <a:p>
            <a:pPr eaLnBrk="1" hangingPunct="1"/>
            <a:r>
              <a:rPr lang="zh-CN" altLang="en-US"/>
              <a:t>分析：</a:t>
            </a:r>
            <a:endParaRPr lang="zh-CN" altLang="en-US"/>
          </a:p>
        </p:txBody>
      </p:sp>
      <p:sp>
        <p:nvSpPr>
          <p:cNvPr id="96259" name="内容占位符 2"/>
          <p:cNvSpPr>
            <a:spLocks noGrp="1" noChangeArrowheads="1"/>
          </p:cNvSpPr>
          <p:nvPr>
            <p:ph sz="quarter" idx="4294967295"/>
          </p:nvPr>
        </p:nvSpPr>
        <p:spPr>
          <a:xfrm>
            <a:off x="1026942" y="1071563"/>
            <a:ext cx="10142806" cy="5357812"/>
          </a:xfrm>
        </p:spPr>
        <p:txBody>
          <a:bodyPr/>
          <a:lstStyle/>
          <a:p>
            <a:pPr eaLnBrk="1" hangingPunct="1"/>
            <a:r>
              <a:rPr lang="zh-CN" altLang="en-US" dirty="0"/>
              <a:t>思考后可以发现，题目是求最少加多少条边，使得原图成为一个边双连通图，即删除任意一条边后，图仍保持连通。</a:t>
            </a:r>
            <a:endParaRPr lang="en-US" altLang="zh-CN" dirty="0"/>
          </a:p>
          <a:p>
            <a:pPr eaLnBrk="1" hangingPunct="1"/>
            <a:r>
              <a:rPr lang="zh-CN" altLang="en-US" dirty="0"/>
              <a:t>可以求出所有的桥，把桥删掉。然后把所有的连通分支求出来，显然这些连通分支就是原图中的双连通分支。把它们缩成点，然后添上刚才删去的桥，就构成了一棵树。在树上添边使得树变成一个双连通分支即可。</a:t>
            </a:r>
            <a:endParaRPr lang="en-US" altLang="zh-CN" dirty="0"/>
          </a:p>
          <a:p>
            <a:pPr eaLnBrk="1" hangingPunct="1"/>
            <a:r>
              <a:rPr lang="zh-CN" altLang="en-US" dirty="0"/>
              <a:t>本题只要求输出一共需要添加多少条边，而不需要求具体的方案。其实可以统计度为</a:t>
            </a:r>
            <a:r>
              <a:rPr lang="en-US" altLang="zh-CN" dirty="0"/>
              <a:t>1</a:t>
            </a:r>
            <a:r>
              <a:rPr lang="zh-CN" altLang="en-US" dirty="0"/>
              <a:t>的叶子节点（设共有</a:t>
            </a:r>
            <a:r>
              <a:rPr lang="en-US" altLang="zh-CN" dirty="0"/>
              <a:t>x</a:t>
            </a:r>
            <a:r>
              <a:rPr lang="zh-CN" altLang="en-US" dirty="0"/>
              <a:t>个），然后直接输出</a:t>
            </a:r>
            <a:r>
              <a:rPr lang="en-US" altLang="zh-CN" dirty="0"/>
              <a:t>(</a:t>
            </a:r>
            <a:r>
              <a:rPr lang="en-US" altLang="zh-CN" dirty="0" err="1"/>
              <a:t>x+1</a:t>
            </a:r>
            <a:r>
              <a:rPr lang="en-US" altLang="zh-CN" dirty="0"/>
              <a:t>)/2</a:t>
            </a:r>
            <a:r>
              <a:rPr lang="zh-CN" altLang="en-US" dirty="0"/>
              <a:t>即可</a:t>
            </a:r>
            <a:endParaRPr lang="en-US" altLang="zh-CN" dirty="0"/>
          </a:p>
          <a:p>
            <a:pPr eaLnBrk="1" hangingPunct="1"/>
            <a:endParaRPr lang="en-US" altLang="zh-CN" dirty="0"/>
          </a:p>
          <a:p>
            <a:pPr eaLnBrk="1" hangingPunct="1"/>
            <a:r>
              <a:rPr lang="zh-CN" altLang="en-US" dirty="0"/>
              <a:t>如果要求修建道路的方案，则变成一道新的题，你会发现算法要复杂得多！</a:t>
            </a:r>
            <a:endParaRPr lang="en-US" altLang="zh-CN" dirty="0"/>
          </a:p>
          <a:p>
            <a:pPr eaLnBrk="1" hangingPunct="1"/>
            <a:endParaRPr lang="en-US" altLang="zh-CN" dirty="0"/>
          </a:p>
          <a:p>
            <a:pPr eaLnBrk="1" hangingPunct="1"/>
            <a:endParaRPr lang="zh-CN" altLang="en-US" dirty="0"/>
          </a:p>
          <a:p>
            <a:pPr eaLnBrk="1" hangingPunct="1"/>
            <a:endParaRPr lang="zh-CN" altLang="en-US" dirty="0"/>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矩形 3"/>
          <p:cNvSpPr>
            <a:spLocks noChangeArrowheads="1"/>
          </p:cNvSpPr>
          <p:nvPr/>
        </p:nvSpPr>
        <p:spPr bwMode="auto">
          <a:xfrm>
            <a:off x="1952626" y="0"/>
            <a:ext cx="7929563"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2400">
                <a:solidFill>
                  <a:srgbClr val="FF0000"/>
                </a:solidFill>
                <a:latin typeface="Century Schoolbook" panose="02040604050505020304" pitchFamily="18" charset="0"/>
              </a:rPr>
              <a:t>命题：一棵有</a:t>
            </a:r>
            <a:r>
              <a:rPr lang="en-US" altLang="zh-CN" sz="2400">
                <a:solidFill>
                  <a:srgbClr val="FF0000"/>
                </a:solidFill>
                <a:latin typeface="Century Schoolbook" panose="02040604050505020304" pitchFamily="18" charset="0"/>
              </a:rPr>
              <a:t>n(n&gt;=2)</a:t>
            </a:r>
            <a:r>
              <a:rPr lang="zh-CN" altLang="en-US" sz="2400">
                <a:solidFill>
                  <a:srgbClr val="FF0000"/>
                </a:solidFill>
                <a:latin typeface="Century Schoolbook" panose="02040604050505020304" pitchFamily="18" charset="0"/>
              </a:rPr>
              <a:t>个叶子结点的树，至少须添加</a:t>
            </a:r>
            <a:r>
              <a:rPr lang="en-US" altLang="zh-CN" sz="2400">
                <a:solidFill>
                  <a:srgbClr val="FF0000"/>
                </a:solidFill>
                <a:latin typeface="Century Schoolbook" panose="02040604050505020304" pitchFamily="18" charset="0"/>
              </a:rPr>
              <a:t>ceil(n/2)</a:t>
            </a:r>
            <a:r>
              <a:rPr lang="zh-CN" altLang="en-US" sz="2400">
                <a:solidFill>
                  <a:srgbClr val="FF0000"/>
                </a:solidFill>
                <a:latin typeface="Century Schoolbook" panose="02040604050505020304" pitchFamily="18" charset="0"/>
              </a:rPr>
              <a:t>条边，就能转变为一个没有桥的图。或者说，使得图中每条边，都至少在一个环上。</a:t>
            </a:r>
            <a:endParaRPr lang="zh-CN" altLang="en-US" sz="2400">
              <a:solidFill>
                <a:srgbClr val="FF0000"/>
              </a:solidFill>
              <a:latin typeface="Century Schoolbook" panose="02040604050505020304" pitchFamily="18" charset="0"/>
            </a:endParaRPr>
          </a:p>
          <a:p>
            <a:pPr eaLnBrk="1" hangingPunct="1">
              <a:buFont typeface="Arial" panose="020B0604020202020204" pitchFamily="34" charset="0"/>
              <a:buNone/>
            </a:pPr>
            <a:endParaRPr lang="en-US" altLang="zh-CN" sz="2200">
              <a:latin typeface="Century Schoolbook" panose="02040604050505020304" pitchFamily="18" charset="0"/>
            </a:endParaRPr>
          </a:p>
          <a:p>
            <a:pPr eaLnBrk="1" hangingPunct="1">
              <a:buFont typeface="Arial" panose="020B0604020202020204" pitchFamily="34" charset="0"/>
              <a:buNone/>
            </a:pPr>
            <a:r>
              <a:rPr lang="zh-CN" altLang="en-US" sz="2200">
                <a:latin typeface="Century Schoolbook" panose="02040604050505020304" pitchFamily="18" charset="0"/>
              </a:rPr>
              <a:t>证明：</a:t>
            </a:r>
            <a:endParaRPr lang="en-US" altLang="zh-CN" sz="2200">
              <a:latin typeface="Century Schoolbook" panose="02040604050505020304" pitchFamily="18" charset="0"/>
            </a:endParaRPr>
          </a:p>
          <a:p>
            <a:pPr eaLnBrk="1" hangingPunct="1">
              <a:buFont typeface="Arial" panose="020B0604020202020204" pitchFamily="34" charset="0"/>
              <a:buNone/>
            </a:pPr>
            <a:endParaRPr lang="en-US" altLang="zh-CN" sz="2200">
              <a:latin typeface="Century Schoolbook" panose="02040604050505020304" pitchFamily="18" charset="0"/>
            </a:endParaRPr>
          </a:p>
          <a:p>
            <a:pPr eaLnBrk="1" hangingPunct="1">
              <a:buFont typeface="Arial" panose="020B0604020202020204" pitchFamily="34" charset="0"/>
              <a:buNone/>
            </a:pPr>
            <a:r>
              <a:rPr lang="zh-CN" altLang="en-US" sz="2200">
                <a:latin typeface="Century Schoolbook" panose="02040604050505020304" pitchFamily="18" charset="0"/>
              </a:rPr>
              <a:t>这里只证明</a:t>
            </a:r>
            <a:r>
              <a:rPr lang="en-US" altLang="zh-CN" sz="2200">
                <a:latin typeface="Century Schoolbook" panose="02040604050505020304" pitchFamily="18" charset="0"/>
              </a:rPr>
              <a:t>n</a:t>
            </a:r>
            <a:r>
              <a:rPr lang="zh-CN" altLang="en-US" sz="2200">
                <a:latin typeface="Century Schoolbook" panose="02040604050505020304" pitchFamily="18" charset="0"/>
              </a:rPr>
              <a:t>为偶数的情况。</a:t>
            </a:r>
            <a:r>
              <a:rPr lang="en-US" altLang="zh-CN" sz="2200">
                <a:latin typeface="Century Schoolbook" panose="02040604050505020304" pitchFamily="18" charset="0"/>
              </a:rPr>
              <a:t>n</a:t>
            </a:r>
            <a:r>
              <a:rPr lang="zh-CN" altLang="en-US" sz="2200">
                <a:latin typeface="Century Schoolbook" panose="02040604050505020304" pitchFamily="18" charset="0"/>
              </a:rPr>
              <a:t>为奇数的证明类似。</a:t>
            </a:r>
            <a:endParaRPr lang="en-US" altLang="zh-CN" sz="2200">
              <a:latin typeface="Century Schoolbook" panose="02040604050505020304" pitchFamily="18" charset="0"/>
            </a:endParaRPr>
          </a:p>
          <a:p>
            <a:pPr eaLnBrk="1" hangingPunct="1">
              <a:buFont typeface="Arial" panose="020B0604020202020204" pitchFamily="34" charset="0"/>
              <a:buNone/>
            </a:pPr>
            <a:endParaRPr lang="zh-CN" altLang="en-US" sz="2200">
              <a:latin typeface="Century Schoolbook" panose="02040604050505020304" pitchFamily="18" charset="0"/>
            </a:endParaRPr>
          </a:p>
          <a:p>
            <a:pPr eaLnBrk="1" hangingPunct="1">
              <a:buFont typeface="Arial" panose="020B0604020202020204" pitchFamily="34" charset="0"/>
              <a:buNone/>
            </a:pPr>
            <a:r>
              <a:rPr lang="zh-CN" altLang="en-US" sz="2200">
                <a:latin typeface="Century Schoolbook" panose="02040604050505020304" pitchFamily="18" charset="0"/>
              </a:rPr>
              <a:t>先证明添加</a:t>
            </a:r>
            <a:r>
              <a:rPr lang="en-US" altLang="zh-CN" sz="2200">
                <a:latin typeface="Century Schoolbook" panose="02040604050505020304" pitchFamily="18" charset="0"/>
              </a:rPr>
              <a:t>n/2</a:t>
            </a:r>
            <a:r>
              <a:rPr lang="zh-CN" altLang="en-US" sz="2200">
                <a:latin typeface="Century Schoolbook" panose="02040604050505020304" pitchFamily="18" charset="0"/>
              </a:rPr>
              <a:t>条边一定可以达成目标。</a:t>
            </a:r>
            <a:endParaRPr lang="en-US" altLang="zh-CN" sz="2200">
              <a:latin typeface="Century Schoolbook" panose="02040604050505020304" pitchFamily="18" charset="0"/>
            </a:endParaRPr>
          </a:p>
          <a:p>
            <a:pPr eaLnBrk="1" hangingPunct="1">
              <a:buFont typeface="Arial" panose="020B0604020202020204" pitchFamily="34" charset="0"/>
              <a:buNone/>
            </a:pPr>
            <a:endParaRPr lang="zh-CN" altLang="en-US" sz="2200">
              <a:latin typeface="Century Schoolbook" panose="02040604050505020304" pitchFamily="18" charset="0"/>
            </a:endParaRPr>
          </a:p>
          <a:p>
            <a:pPr eaLnBrk="1" hangingPunct="1">
              <a:buFont typeface="Arial" panose="020B0604020202020204" pitchFamily="34" charset="0"/>
              <a:buNone/>
            </a:pPr>
            <a:r>
              <a:rPr lang="en-US" altLang="zh-CN" sz="2200">
                <a:latin typeface="Century Schoolbook" panose="02040604050505020304" pitchFamily="18" charset="0"/>
              </a:rPr>
              <a:t>n=2</a:t>
            </a:r>
            <a:r>
              <a:rPr lang="zh-CN" altLang="en-US" sz="2200">
                <a:latin typeface="Century Schoolbook" panose="02040604050505020304" pitchFamily="18" charset="0"/>
              </a:rPr>
              <a:t>时，显然只需将这两个叶子间连一条边即可。命题成立。</a:t>
            </a:r>
            <a:endParaRPr lang="zh-CN" altLang="en-US" sz="2200">
              <a:latin typeface="Century Schoolbook" panose="02040604050505020304" pitchFamily="18" charset="0"/>
            </a:endParaRPr>
          </a:p>
          <a:p>
            <a:pPr eaLnBrk="1" hangingPunct="1">
              <a:buFont typeface="Arial" panose="020B0604020202020204" pitchFamily="34" charset="0"/>
              <a:buNone/>
            </a:pPr>
            <a:r>
              <a:rPr lang="zh-CN" altLang="en-US" sz="2200">
                <a:latin typeface="Century Schoolbook" panose="02040604050505020304" pitchFamily="18" charset="0"/>
              </a:rPr>
              <a:t>设</a:t>
            </a:r>
            <a:r>
              <a:rPr lang="en-US" altLang="zh-CN" sz="2200">
                <a:latin typeface="Century Schoolbook" panose="02040604050505020304" pitchFamily="18" charset="0"/>
              </a:rPr>
              <a:t>n=2k(k&gt;=1)</a:t>
            </a:r>
            <a:r>
              <a:rPr lang="zh-CN" altLang="en-US" sz="2200">
                <a:latin typeface="Century Schoolbook" panose="02040604050505020304" pitchFamily="18" charset="0"/>
              </a:rPr>
              <a:t>时命题成立，即</a:t>
            </a:r>
            <a:r>
              <a:rPr lang="en-US" altLang="zh-CN" sz="2200">
                <a:latin typeface="Century Schoolbook" panose="02040604050505020304" pitchFamily="18" charset="0"/>
              </a:rPr>
              <a:t>S[2k]=k</a:t>
            </a:r>
            <a:r>
              <a:rPr lang="zh-CN" altLang="en-US" sz="2200">
                <a:latin typeface="Century Schoolbook" panose="02040604050505020304" pitchFamily="18" charset="0"/>
              </a:rPr>
              <a:t>。下面将推出</a:t>
            </a:r>
            <a:r>
              <a:rPr lang="en-US" altLang="zh-CN" sz="2200">
                <a:latin typeface="Century Schoolbook" panose="02040604050505020304" pitchFamily="18" charset="0"/>
              </a:rPr>
              <a:t>n=2(k+1)</a:t>
            </a:r>
            <a:r>
              <a:rPr lang="zh-CN" altLang="en-US" sz="2200">
                <a:latin typeface="Century Schoolbook" panose="02040604050505020304" pitchFamily="18" charset="0"/>
              </a:rPr>
              <a:t>时命题亦成立。</a:t>
            </a:r>
            <a:endParaRPr lang="zh-CN" altLang="en-US" sz="2200">
              <a:latin typeface="Century Schoolbook" panose="02040604050505020304" pitchFamily="18" charset="0"/>
            </a:endParaRPr>
          </a:p>
          <a:p>
            <a:pPr eaLnBrk="1" hangingPunct="1">
              <a:buFont typeface="Arial" panose="020B0604020202020204" pitchFamily="34" charset="0"/>
              <a:buNone/>
            </a:pPr>
            <a:endParaRPr lang="en-US" altLang="zh-CN" sz="2200">
              <a:latin typeface="Century Schoolbook" panose="02040604050505020304" pitchFamily="18" charset="0"/>
            </a:endParaRPr>
          </a:p>
          <a:p>
            <a:pPr eaLnBrk="1" hangingPunct="1">
              <a:buFont typeface="Arial" panose="020B0604020202020204" pitchFamily="34" charset="0"/>
              <a:buNone/>
            </a:pPr>
            <a:r>
              <a:rPr lang="en-US" altLang="zh-CN" sz="2200">
                <a:latin typeface="Century Schoolbook" panose="02040604050505020304" pitchFamily="18" charset="0"/>
              </a:rPr>
              <a:t>n=2k+2</a:t>
            </a:r>
            <a:r>
              <a:rPr lang="zh-CN" altLang="en-US" sz="2200">
                <a:latin typeface="Century Schoolbook" panose="02040604050505020304" pitchFamily="18" charset="0"/>
              </a:rPr>
              <a:t>时，选取树中</a:t>
            </a:r>
            <a:r>
              <a:rPr lang="zh-CN" altLang="en-US" sz="2200">
                <a:solidFill>
                  <a:srgbClr val="FF0000"/>
                </a:solidFill>
                <a:latin typeface="Century Schoolbook" panose="02040604050505020304" pitchFamily="18" charset="0"/>
              </a:rPr>
              <a:t>最长</a:t>
            </a:r>
            <a:r>
              <a:rPr lang="zh-CN" altLang="en-US" sz="2200">
                <a:latin typeface="Century Schoolbook" panose="02040604050505020304" pitchFamily="18" charset="0"/>
              </a:rPr>
              <a:t>的路径，设其端点为</a:t>
            </a:r>
            <a:r>
              <a:rPr lang="en-US" altLang="zh-CN" sz="2200">
                <a:latin typeface="Century Schoolbook" panose="02040604050505020304" pitchFamily="18" charset="0"/>
              </a:rPr>
              <a:t>a,b</a:t>
            </a:r>
            <a:r>
              <a:rPr lang="zh-CN" altLang="en-US" sz="2200">
                <a:latin typeface="Century Schoolbook" panose="02040604050505020304" pitchFamily="18" charset="0"/>
              </a:rPr>
              <a:t>；并设离</a:t>
            </a:r>
            <a:r>
              <a:rPr lang="en-US" altLang="zh-CN" sz="2200">
                <a:latin typeface="Century Schoolbook" panose="02040604050505020304" pitchFamily="18" charset="0"/>
              </a:rPr>
              <a:t>a</a:t>
            </a:r>
            <a:r>
              <a:rPr lang="zh-CN" altLang="en-US" sz="2200">
                <a:latin typeface="Century Schoolbook" panose="02040604050505020304" pitchFamily="18" charset="0"/>
              </a:rPr>
              <a:t>最近的度</a:t>
            </a:r>
            <a:r>
              <a:rPr lang="en-US" altLang="zh-CN" sz="2200">
                <a:latin typeface="Century Schoolbook" panose="02040604050505020304" pitchFamily="18" charset="0"/>
              </a:rPr>
              <a:t>&gt;=3</a:t>
            </a:r>
            <a:r>
              <a:rPr lang="zh-CN" altLang="en-US" sz="2200">
                <a:latin typeface="Century Schoolbook" panose="02040604050505020304" pitchFamily="18" charset="0"/>
              </a:rPr>
              <a:t>的点为</a:t>
            </a:r>
            <a:r>
              <a:rPr lang="en-US" altLang="zh-CN" sz="2200">
                <a:latin typeface="Century Schoolbook" panose="02040604050505020304" pitchFamily="18" charset="0"/>
              </a:rPr>
              <a:t>a',</a:t>
            </a:r>
            <a:r>
              <a:rPr lang="zh-CN" altLang="en-US" sz="2200">
                <a:latin typeface="Century Schoolbook" panose="02040604050505020304" pitchFamily="18" charset="0"/>
              </a:rPr>
              <a:t>同理设</a:t>
            </a:r>
            <a:r>
              <a:rPr lang="en-US" altLang="zh-CN" sz="2200">
                <a:latin typeface="Century Schoolbook" panose="02040604050505020304" pitchFamily="18" charset="0"/>
              </a:rPr>
              <a:t>b'</a:t>
            </a:r>
            <a:r>
              <a:rPr lang="zh-CN" altLang="en-US" sz="2200">
                <a:latin typeface="Century Schoolbook" panose="02040604050505020304" pitchFamily="18" charset="0"/>
              </a:rPr>
              <a:t>。</a:t>
            </a:r>
            <a:endParaRPr lang="zh-CN" altLang="en-US" sz="2200">
              <a:latin typeface="Century Schoolbook" panose="02040604050505020304" pitchFamily="18" charset="0"/>
            </a:endParaRPr>
          </a:p>
          <a:p>
            <a:pPr eaLnBrk="1" hangingPunct="1">
              <a:buFont typeface="Arial" panose="020B0604020202020204" pitchFamily="34" charset="0"/>
              <a:buNone/>
            </a:pPr>
            <a:r>
              <a:rPr lang="zh-CN" altLang="en-US" sz="2200">
                <a:latin typeface="Century Schoolbook" panose="02040604050505020304" pitchFamily="18" charset="0"/>
              </a:rPr>
              <a:t>（关于</a:t>
            </a:r>
            <a:r>
              <a:rPr lang="en-US" altLang="zh-CN" sz="2200">
                <a:latin typeface="Century Schoolbook" panose="02040604050505020304" pitchFamily="18" charset="0"/>
              </a:rPr>
              <a:t>a</a:t>
            </a:r>
            <a:r>
              <a:rPr lang="en-US" altLang="zh-CN" sz="2200">
                <a:latin typeface="Century Schoolbook" panose="02040604050505020304" pitchFamily="18" charset="0"/>
                <a:sym typeface="Arial" panose="020B0604020202020204" pitchFamily="34" charset="0"/>
              </a:rPr>
              <a:t>'</a:t>
            </a:r>
            <a:r>
              <a:rPr lang="zh-CN" altLang="en-US" sz="2200">
                <a:latin typeface="Century Schoolbook" panose="02040604050505020304" pitchFamily="18" charset="0"/>
              </a:rPr>
              <a:t>和</a:t>
            </a:r>
            <a:r>
              <a:rPr lang="en-US" altLang="zh-CN" sz="2200">
                <a:latin typeface="Century Schoolbook" panose="02040604050505020304" pitchFamily="18" charset="0"/>
              </a:rPr>
              <a:t>b</a:t>
            </a:r>
            <a:r>
              <a:rPr lang="en-US" altLang="zh-CN" sz="2200">
                <a:latin typeface="Century Schoolbook" panose="02040604050505020304" pitchFamily="18" charset="0"/>
                <a:sym typeface="Arial" panose="020B0604020202020204" pitchFamily="34" charset="0"/>
              </a:rPr>
              <a:t>'</a:t>
            </a:r>
            <a:r>
              <a:rPr lang="zh-CN" altLang="en-US" sz="2200">
                <a:latin typeface="Century Schoolbook" panose="02040604050505020304" pitchFamily="18" charset="0"/>
              </a:rPr>
              <a:t>的存在性问题：由于</a:t>
            </a:r>
            <a:r>
              <a:rPr lang="en-US" altLang="zh-CN" sz="2200">
                <a:latin typeface="Century Schoolbook" panose="02040604050505020304" pitchFamily="18" charset="0"/>
              </a:rPr>
              <a:t>a</a:t>
            </a:r>
            <a:r>
              <a:rPr lang="zh-CN" altLang="en-US" sz="2200">
                <a:latin typeface="Century Schoolbook" panose="02040604050505020304" pitchFamily="18" charset="0"/>
              </a:rPr>
              <a:t>和</a:t>
            </a:r>
            <a:r>
              <a:rPr lang="en-US" altLang="zh-CN" sz="2200">
                <a:latin typeface="Century Schoolbook" panose="02040604050505020304" pitchFamily="18" charset="0"/>
              </a:rPr>
              <a:t>b</a:t>
            </a:r>
            <a:r>
              <a:rPr lang="zh-CN" altLang="en-US" sz="2200">
                <a:latin typeface="Century Schoolbook" panose="02040604050505020304" pitchFamily="18" charset="0"/>
              </a:rPr>
              <a:t>的度都为</a:t>
            </a:r>
            <a:r>
              <a:rPr lang="en-US" altLang="zh-CN" sz="2200">
                <a:latin typeface="Century Schoolbook" panose="02040604050505020304" pitchFamily="18" charset="0"/>
              </a:rPr>
              <a:t>1,</a:t>
            </a:r>
            <a:r>
              <a:rPr lang="zh-CN" altLang="en-US" sz="2200">
                <a:latin typeface="Century Schoolbook" panose="02040604050505020304" pitchFamily="18" charset="0"/>
              </a:rPr>
              <a:t>因此树中其它的树枝必然从路径</a:t>
            </a:r>
            <a:r>
              <a:rPr lang="en-US" altLang="zh-CN" sz="2200">
                <a:latin typeface="Century Schoolbook" panose="02040604050505020304" pitchFamily="18" charset="0"/>
              </a:rPr>
              <a:t>&lt;a,b&gt;</a:t>
            </a:r>
            <a:r>
              <a:rPr lang="zh-CN" altLang="en-US" sz="2200">
                <a:latin typeface="Century Schoolbook" panose="02040604050505020304" pitchFamily="18" charset="0"/>
              </a:rPr>
              <a:t>之间的某些点引出。否则整棵树就是路径</a:t>
            </a:r>
            <a:r>
              <a:rPr lang="en-US" altLang="zh-CN" sz="2200">
                <a:latin typeface="Century Schoolbook" panose="02040604050505020304" pitchFamily="18" charset="0"/>
              </a:rPr>
              <a:t>&lt;a,b&gt;</a:t>
            </a:r>
            <a:r>
              <a:rPr lang="zh-CN" altLang="en-US" sz="2200">
                <a:latin typeface="Century Schoolbook" panose="02040604050505020304" pitchFamily="18" charset="0"/>
              </a:rPr>
              <a:t>，</a:t>
            </a:r>
            <a:r>
              <a:rPr lang="en-US" altLang="zh-CN" sz="2200">
                <a:latin typeface="Century Schoolbook" panose="02040604050505020304" pitchFamily="18" charset="0"/>
              </a:rPr>
              <a:t>n=2&lt;2k+2</a:t>
            </a:r>
            <a:r>
              <a:rPr lang="zh-CN" altLang="en-US" sz="2200">
                <a:latin typeface="Century Schoolbook" panose="02040604050505020304" pitchFamily="18" charset="0"/>
              </a:rPr>
              <a:t>，不可能。）</a:t>
            </a:r>
            <a:endParaRPr lang="zh-CN" altLang="en-US" sz="2200">
              <a:latin typeface="Century Schoolbook" panose="02040604050505020304" pitchFamily="18"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矩形 3"/>
          <p:cNvSpPr>
            <a:spLocks noChangeArrowheads="1"/>
          </p:cNvSpPr>
          <p:nvPr/>
        </p:nvSpPr>
        <p:spPr bwMode="auto">
          <a:xfrm>
            <a:off x="1881188" y="1"/>
            <a:ext cx="7929562" cy="664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en-US" altLang="zh-CN" sz="2200">
              <a:latin typeface="Century Schoolbook" panose="02040604050505020304" pitchFamily="18" charset="0"/>
            </a:endParaRPr>
          </a:p>
          <a:p>
            <a:pPr eaLnBrk="1" hangingPunct="1">
              <a:buFont typeface="Arial" panose="020B0604020202020204" pitchFamily="34" charset="0"/>
              <a:buNone/>
            </a:pPr>
            <a:r>
              <a:rPr lang="zh-CN" altLang="en-US" sz="2400">
                <a:latin typeface="Century Schoolbook" panose="02040604050505020304" pitchFamily="18" charset="0"/>
              </a:rPr>
              <a:t>在</a:t>
            </a:r>
            <a:r>
              <a:rPr lang="en-US" altLang="zh-CN" sz="2400">
                <a:latin typeface="Century Schoolbook" panose="02040604050505020304" pitchFamily="18" charset="0"/>
              </a:rPr>
              <a:t>a,b</a:t>
            </a:r>
            <a:r>
              <a:rPr lang="zh-CN" altLang="en-US" sz="2400">
                <a:latin typeface="Century Schoolbook" panose="02040604050505020304" pitchFamily="18" charset="0"/>
              </a:rPr>
              <a:t>间添一条边，则路径</a:t>
            </a:r>
            <a:r>
              <a:rPr lang="en-US" altLang="zh-CN" sz="2400">
                <a:latin typeface="Century Schoolbook" panose="02040604050505020304" pitchFamily="18" charset="0"/>
              </a:rPr>
              <a:t>&lt;a,b&gt;</a:t>
            </a:r>
            <a:r>
              <a:rPr lang="zh-CN" altLang="en-US" sz="2400">
                <a:latin typeface="Century Schoolbook" panose="02040604050505020304" pitchFamily="18" charset="0"/>
              </a:rPr>
              <a:t>上的所有边都已不再是桥。这时，将刚才添加的边，以及</a:t>
            </a:r>
            <a:r>
              <a:rPr lang="en-US" altLang="zh-CN" sz="2400">
                <a:latin typeface="Century Schoolbook" panose="02040604050505020304" pitchFamily="18" charset="0"/>
              </a:rPr>
              <a:t>aa</a:t>
            </a:r>
            <a:r>
              <a:rPr lang="en-US" altLang="zh-CN" sz="2400">
                <a:latin typeface="Century Schoolbook" panose="02040604050505020304" pitchFamily="18" charset="0"/>
                <a:sym typeface="Arial" panose="020B0604020202020204" pitchFamily="34" charset="0"/>
              </a:rPr>
              <a:t>'</a:t>
            </a:r>
            <a:r>
              <a:rPr lang="zh-CN" altLang="en-US" sz="2400">
                <a:latin typeface="Century Schoolbook" panose="02040604050505020304" pitchFamily="18" charset="0"/>
              </a:rPr>
              <a:t>之间，</a:t>
            </a:r>
            <a:r>
              <a:rPr lang="en-US" altLang="zh-CN" sz="2400">
                <a:latin typeface="Century Schoolbook" panose="02040604050505020304" pitchFamily="18" charset="0"/>
              </a:rPr>
              <a:t>bb</a:t>
            </a:r>
            <a:r>
              <a:rPr lang="en-US" altLang="zh-CN" sz="2400">
                <a:latin typeface="Century Schoolbook" panose="02040604050505020304" pitchFamily="18" charset="0"/>
                <a:sym typeface="Arial" panose="020B0604020202020204" pitchFamily="34" charset="0"/>
              </a:rPr>
              <a:t>'</a:t>
            </a:r>
            <a:r>
              <a:rPr lang="zh-CN" altLang="en-US" sz="2400">
                <a:latin typeface="Century Schoolbook" panose="02040604050505020304" pitchFamily="18" charset="0"/>
              </a:rPr>
              <a:t>之间的边都删去，得到一棵新的树。因为删去的那些边都已经符合条件了，所以在之后的构造中不需要考虑它们。由于之前</a:t>
            </a:r>
            <a:r>
              <a:rPr lang="en-US" altLang="zh-CN" sz="2400">
                <a:latin typeface="Century Schoolbook" panose="02040604050505020304" pitchFamily="18" charset="0"/>
              </a:rPr>
              <a:t>a</a:t>
            </a:r>
            <a:r>
              <a:rPr lang="en-US" altLang="zh-CN" sz="2400">
                <a:latin typeface="Century Schoolbook" panose="02040604050505020304" pitchFamily="18" charset="0"/>
                <a:sym typeface="Arial" panose="020B0604020202020204" pitchFamily="34" charset="0"/>
              </a:rPr>
              <a:t>'</a:t>
            </a:r>
            <a:r>
              <a:rPr lang="zh-CN" altLang="en-US" sz="2400">
                <a:latin typeface="Century Schoolbook" panose="02040604050505020304" pitchFamily="18" charset="0"/>
              </a:rPr>
              <a:t>和</a:t>
            </a:r>
            <a:r>
              <a:rPr lang="en-US" altLang="zh-CN" sz="2400">
                <a:latin typeface="Century Schoolbook" panose="02040604050505020304" pitchFamily="18" charset="0"/>
              </a:rPr>
              <a:t>b</a:t>
            </a:r>
            <a:r>
              <a:rPr lang="en-US" altLang="zh-CN" sz="2400">
                <a:latin typeface="Century Schoolbook" panose="02040604050505020304" pitchFamily="18" charset="0"/>
                <a:sym typeface="Arial" panose="020B0604020202020204" pitchFamily="34" charset="0"/>
              </a:rPr>
              <a:t>'</a:t>
            </a:r>
            <a:r>
              <a:rPr lang="zh-CN" altLang="en-US" sz="2400">
                <a:latin typeface="Century Schoolbook" panose="02040604050505020304" pitchFamily="18" charset="0"/>
              </a:rPr>
              <a:t>的度</a:t>
            </a:r>
            <a:r>
              <a:rPr lang="en-US" altLang="zh-CN" sz="2400">
                <a:latin typeface="Century Schoolbook" panose="02040604050505020304" pitchFamily="18" charset="0"/>
              </a:rPr>
              <a:t>&gt;=3</a:t>
            </a:r>
            <a:r>
              <a:rPr lang="zh-CN" altLang="en-US" sz="2400">
                <a:latin typeface="Century Schoolbook" panose="02040604050505020304" pitchFamily="18" charset="0"/>
              </a:rPr>
              <a:t>，所以删除操作不会使他们变成叶子。因此新的树必然比原树少了两个叶子</a:t>
            </a:r>
            <a:r>
              <a:rPr lang="en-US" altLang="zh-CN" sz="2400">
                <a:latin typeface="Century Schoolbook" panose="02040604050505020304" pitchFamily="18" charset="0"/>
              </a:rPr>
              <a:t>a,b</a:t>
            </a:r>
            <a:r>
              <a:rPr lang="zh-CN" altLang="en-US" sz="2400">
                <a:latin typeface="Century Schoolbook" panose="02040604050505020304" pitchFamily="18" charset="0"/>
              </a:rPr>
              <a:t>，共有</a:t>
            </a:r>
            <a:r>
              <a:rPr lang="en-US" altLang="zh-CN" sz="2400">
                <a:latin typeface="Century Schoolbook" panose="02040604050505020304" pitchFamily="18" charset="0"/>
              </a:rPr>
              <a:t>2k</a:t>
            </a:r>
            <a:r>
              <a:rPr lang="zh-CN" altLang="en-US" sz="2400">
                <a:latin typeface="Century Schoolbook" panose="02040604050505020304" pitchFamily="18" charset="0"/>
              </a:rPr>
              <a:t>个叶子。由归纳知需要再加</a:t>
            </a:r>
            <a:r>
              <a:rPr lang="en-US" altLang="zh-CN" sz="2400">
                <a:latin typeface="Century Schoolbook" panose="02040604050505020304" pitchFamily="18" charset="0"/>
              </a:rPr>
              <a:t>k</a:t>
            </a:r>
            <a:r>
              <a:rPr lang="zh-CN" altLang="en-US" sz="2400">
                <a:latin typeface="Century Schoolbook" panose="02040604050505020304" pitchFamily="18" charset="0"/>
              </a:rPr>
              <a:t>条边。因此对</a:t>
            </a:r>
            <a:r>
              <a:rPr lang="en-US" altLang="zh-CN" sz="2400">
                <a:latin typeface="Century Schoolbook" panose="02040604050505020304" pitchFamily="18" charset="0"/>
              </a:rPr>
              <a:t>n=2k+2</a:t>
            </a:r>
            <a:r>
              <a:rPr lang="zh-CN" altLang="en-US" sz="2400">
                <a:latin typeface="Century Schoolbook" panose="02040604050505020304" pitchFamily="18" charset="0"/>
              </a:rPr>
              <a:t>的树，一共要添加</a:t>
            </a:r>
            <a:r>
              <a:rPr lang="en-US" altLang="zh-CN" sz="2400">
                <a:latin typeface="Century Schoolbook" panose="02040604050505020304" pitchFamily="18" charset="0"/>
              </a:rPr>
              <a:t>k+1</a:t>
            </a:r>
            <a:r>
              <a:rPr lang="zh-CN" altLang="en-US" sz="2400">
                <a:latin typeface="Century Schoolbook" panose="02040604050505020304" pitchFamily="18" charset="0"/>
              </a:rPr>
              <a:t>条边。</a:t>
            </a:r>
            <a:r>
              <a:rPr lang="en-US" altLang="zh-CN" sz="2400">
                <a:latin typeface="Century Schoolbook" panose="02040604050505020304" pitchFamily="18" charset="0"/>
              </a:rPr>
              <a:t>(</a:t>
            </a:r>
            <a:r>
              <a:rPr lang="zh-CN" altLang="en-US" sz="2400">
                <a:latin typeface="Century Schoolbook" panose="02040604050505020304" pitchFamily="18" charset="0"/>
              </a:rPr>
              <a:t>最长的路径保证</a:t>
            </a:r>
            <a:r>
              <a:rPr lang="en-US" altLang="zh-CN" sz="2400">
                <a:latin typeface="Century Schoolbook" panose="02040604050505020304" pitchFamily="18" charset="0"/>
              </a:rPr>
              <a:t>a</a:t>
            </a:r>
            <a:r>
              <a:rPr lang="en-US" altLang="zh-CN" sz="2400">
                <a:latin typeface="Century Schoolbook" panose="02040604050505020304" pitchFamily="18" charset="0"/>
                <a:sym typeface="Arial" panose="020B0604020202020204" pitchFamily="34" charset="0"/>
              </a:rPr>
              <a:t>'</a:t>
            </a:r>
            <a:r>
              <a:rPr lang="en-US" altLang="zh-CN" sz="2400">
                <a:latin typeface="Century Schoolbook" panose="02040604050505020304" pitchFamily="18" charset="0"/>
              </a:rPr>
              <a:t>,b</a:t>
            </a:r>
            <a:r>
              <a:rPr lang="en-US" altLang="zh-CN" sz="2400">
                <a:latin typeface="Century Schoolbook" panose="02040604050505020304" pitchFamily="18" charset="0"/>
                <a:sym typeface="Arial" panose="020B0604020202020204" pitchFamily="34" charset="0"/>
              </a:rPr>
              <a:t>'</a:t>
            </a:r>
            <a:r>
              <a:rPr lang="zh-CN" altLang="en-US" sz="2400">
                <a:latin typeface="Century Schoolbook" panose="02040604050505020304" pitchFamily="18" charset="0"/>
              </a:rPr>
              <a:t>不相同）</a:t>
            </a:r>
            <a:endParaRPr lang="zh-CN" altLang="en-US" sz="2400">
              <a:latin typeface="Century Schoolbook" panose="02040604050505020304" pitchFamily="18" charset="0"/>
            </a:endParaRPr>
          </a:p>
          <a:p>
            <a:pPr eaLnBrk="1" hangingPunct="1">
              <a:buFont typeface="Arial" panose="020B0604020202020204" pitchFamily="34" charset="0"/>
              <a:buNone/>
            </a:pPr>
            <a:r>
              <a:rPr lang="zh-CN" altLang="en-US" sz="2400">
                <a:latin typeface="Century Schoolbook" panose="02040604050505020304" pitchFamily="18" charset="0"/>
              </a:rPr>
              <a:t>因此证得</a:t>
            </a:r>
            <a:r>
              <a:rPr lang="en-US" altLang="zh-CN" sz="2400">
                <a:latin typeface="Century Schoolbook" panose="02040604050505020304" pitchFamily="18" charset="0"/>
              </a:rPr>
              <a:t>n/2</a:t>
            </a:r>
            <a:r>
              <a:rPr lang="zh-CN" altLang="en-US" sz="2400">
                <a:latin typeface="Century Schoolbook" panose="02040604050505020304" pitchFamily="18" charset="0"/>
              </a:rPr>
              <a:t>可取。</a:t>
            </a:r>
            <a:endParaRPr lang="en-US" altLang="zh-CN" sz="2400">
              <a:latin typeface="Century Schoolbook" panose="02040604050505020304" pitchFamily="18" charset="0"/>
            </a:endParaRPr>
          </a:p>
          <a:p>
            <a:pPr eaLnBrk="1" hangingPunct="1">
              <a:buFont typeface="Arial" panose="020B0604020202020204" pitchFamily="34" charset="0"/>
              <a:buNone/>
            </a:pPr>
            <a:endParaRPr lang="zh-CN" altLang="en-US" sz="2400">
              <a:latin typeface="Century Schoolbook" panose="02040604050505020304" pitchFamily="18" charset="0"/>
            </a:endParaRPr>
          </a:p>
          <a:p>
            <a:pPr eaLnBrk="1" hangingPunct="1">
              <a:buFont typeface="Arial" panose="020B0604020202020204" pitchFamily="34" charset="0"/>
              <a:buNone/>
            </a:pPr>
            <a:r>
              <a:rPr lang="zh-CN" altLang="en-US" sz="2400">
                <a:latin typeface="Century Schoolbook" panose="02040604050505020304" pitchFamily="18" charset="0"/>
              </a:rPr>
              <a:t>再证明</a:t>
            </a:r>
            <a:r>
              <a:rPr lang="en-US" altLang="zh-CN" sz="2400">
                <a:latin typeface="Century Schoolbook" panose="02040604050505020304" pitchFamily="18" charset="0"/>
              </a:rPr>
              <a:t>n/2</a:t>
            </a:r>
            <a:r>
              <a:rPr lang="zh-CN" altLang="en-US" sz="2400">
                <a:latin typeface="Century Schoolbook" panose="02040604050505020304" pitchFamily="18" charset="0"/>
              </a:rPr>
              <a:t>是最小的解。</a:t>
            </a:r>
            <a:endParaRPr lang="en-US" altLang="zh-CN" sz="2400">
              <a:latin typeface="Century Schoolbook" panose="02040604050505020304" pitchFamily="18" charset="0"/>
            </a:endParaRPr>
          </a:p>
          <a:p>
            <a:pPr eaLnBrk="1" hangingPunct="1">
              <a:buFont typeface="Arial" panose="020B0604020202020204" pitchFamily="34" charset="0"/>
              <a:buNone/>
            </a:pPr>
            <a:endParaRPr lang="zh-CN" altLang="en-US" sz="2400">
              <a:latin typeface="Century Schoolbook" panose="02040604050505020304" pitchFamily="18" charset="0"/>
            </a:endParaRPr>
          </a:p>
          <a:p>
            <a:pPr eaLnBrk="1" hangingPunct="1">
              <a:buFont typeface="Arial" panose="020B0604020202020204" pitchFamily="34" charset="0"/>
              <a:buNone/>
            </a:pPr>
            <a:r>
              <a:rPr lang="zh-CN" altLang="en-US" sz="2400">
                <a:latin typeface="Century Schoolbook" panose="02040604050505020304" pitchFamily="18" charset="0"/>
              </a:rPr>
              <a:t>显然，只有一个叶子结点被新加的边覆盖到，才有可能使与它相接的那条边进入一个环中。而一次加边至多覆盖</a:t>
            </a:r>
            <a:r>
              <a:rPr lang="en-US" altLang="zh-CN" sz="2400">
                <a:latin typeface="Century Schoolbook" panose="02040604050505020304" pitchFamily="18" charset="0"/>
              </a:rPr>
              <a:t>2</a:t>
            </a:r>
            <a:r>
              <a:rPr lang="zh-CN" altLang="en-US" sz="2400">
                <a:latin typeface="Century Schoolbook" panose="02040604050505020304" pitchFamily="18" charset="0"/>
              </a:rPr>
              <a:t>个叶子。因此</a:t>
            </a:r>
            <a:r>
              <a:rPr lang="en-US" altLang="zh-CN" sz="2400">
                <a:latin typeface="Century Schoolbook" panose="02040604050505020304" pitchFamily="18" charset="0"/>
              </a:rPr>
              <a:t>n</a:t>
            </a:r>
            <a:r>
              <a:rPr lang="zh-CN" altLang="en-US" sz="2400">
                <a:latin typeface="Century Schoolbook" panose="02040604050505020304" pitchFamily="18" charset="0"/>
              </a:rPr>
              <a:t>个叶子至少要加</a:t>
            </a:r>
            <a:r>
              <a:rPr lang="en-US" altLang="zh-CN" sz="2400">
                <a:latin typeface="Century Schoolbook" panose="02040604050505020304" pitchFamily="18" charset="0"/>
              </a:rPr>
              <a:t>n/2</a:t>
            </a:r>
            <a:r>
              <a:rPr lang="zh-CN" altLang="en-US" sz="2400">
                <a:latin typeface="Century Schoolbook" panose="02040604050505020304" pitchFamily="18" charset="0"/>
              </a:rPr>
              <a:t>条边。</a:t>
            </a:r>
            <a:endParaRPr lang="zh-CN" altLang="en-US" sz="2400">
              <a:latin typeface="Century Schoolbook" panose="02040604050505020304" pitchFamily="18" charset="0"/>
            </a:endParaRPr>
          </a:p>
          <a:p>
            <a:pPr eaLnBrk="1" hangingPunct="1">
              <a:buFont typeface="Arial" panose="020B0604020202020204" pitchFamily="34" charset="0"/>
              <a:buNone/>
            </a:pPr>
            <a:r>
              <a:rPr lang="zh-CN" altLang="en-US" sz="2400">
                <a:latin typeface="Century Schoolbook" panose="02040604050505020304" pitchFamily="18" charset="0"/>
              </a:rPr>
              <a:t>证毕。</a:t>
            </a:r>
            <a:br>
              <a:rPr lang="zh-CN" altLang="en-US" sz="2400">
                <a:latin typeface="Century Schoolbook" panose="02040604050505020304" pitchFamily="18" charset="0"/>
              </a:rPr>
            </a:br>
            <a:endParaRPr lang="zh-CN" altLang="en-US" sz="2400">
              <a:latin typeface="Century Schoolbook" panose="02040604050505020304" pitchFamily="18"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noChangeArrowheads="1"/>
          </p:cNvSpPr>
          <p:nvPr>
            <p:ph type="title" idx="4294967295"/>
          </p:nvPr>
        </p:nvSpPr>
        <p:spPr/>
        <p:txBody>
          <a:bodyPr/>
          <a:lstStyle/>
          <a:p>
            <a:pPr eaLnBrk="1" hangingPunct="1"/>
            <a:r>
              <a:rPr lang="zh-CN" altLang="en-US"/>
              <a:t>无向图的K连通性问题</a:t>
            </a:r>
            <a:endParaRPr lang="zh-CN" altLang="en-US"/>
          </a:p>
        </p:txBody>
      </p:sp>
      <p:sp>
        <p:nvSpPr>
          <p:cNvPr id="99331" name="内容占位符 2"/>
          <p:cNvSpPr>
            <a:spLocks noGrp="1" noChangeArrowheads="1"/>
          </p:cNvSpPr>
          <p:nvPr>
            <p:ph sz="quarter" idx="4294967295"/>
          </p:nvPr>
        </p:nvSpPr>
        <p:spPr>
          <a:xfrm>
            <a:off x="900332" y="2133600"/>
            <a:ext cx="10604280" cy="3886200"/>
          </a:xfrm>
        </p:spPr>
        <p:txBody>
          <a:bodyPr/>
          <a:lstStyle/>
          <a:p>
            <a:pPr eaLnBrk="1" hangingPunct="1"/>
            <a:r>
              <a:rPr lang="en-US" altLang="zh-CN" dirty="0"/>
              <a:t>(1)</a:t>
            </a:r>
            <a:r>
              <a:rPr lang="zh-CN" altLang="en-US" dirty="0"/>
              <a:t>一个具有 </a:t>
            </a:r>
            <a:r>
              <a:rPr lang="en-US" altLang="zh-CN" dirty="0"/>
              <a:t>N </a:t>
            </a:r>
            <a:r>
              <a:rPr lang="zh-CN" altLang="en-US" dirty="0"/>
              <a:t>个顶点的图，在去掉任意 </a:t>
            </a:r>
            <a:r>
              <a:rPr lang="en-US" altLang="zh-CN" dirty="0"/>
              <a:t>k-1 </a:t>
            </a:r>
            <a:r>
              <a:rPr lang="zh-CN" altLang="en-US" dirty="0"/>
              <a:t>个顶点后 </a:t>
            </a:r>
            <a:r>
              <a:rPr lang="en-US" altLang="zh-CN" dirty="0"/>
              <a:t>(1&lt;=K&lt;=N) </a:t>
            </a:r>
            <a:r>
              <a:rPr lang="zh-CN" altLang="en-US" dirty="0"/>
              <a:t>所得的子图仍连通，而去掉 </a:t>
            </a:r>
            <a:r>
              <a:rPr lang="en-US" altLang="zh-CN" dirty="0"/>
              <a:t>K </a:t>
            </a:r>
            <a:r>
              <a:rPr lang="zh-CN" altLang="en-US" dirty="0"/>
              <a:t>个顶点后的图不连通则称 </a:t>
            </a:r>
            <a:r>
              <a:rPr lang="en-US" altLang="zh-CN" dirty="0"/>
              <a:t>G </a:t>
            </a:r>
            <a:r>
              <a:rPr lang="zh-CN" altLang="en-US" dirty="0"/>
              <a:t>是连通的， </a:t>
            </a:r>
            <a:r>
              <a:rPr lang="en-US" altLang="zh-CN" dirty="0"/>
              <a:t>K </a:t>
            </a:r>
            <a:r>
              <a:rPr lang="zh-CN" altLang="en-US" dirty="0"/>
              <a:t>称作图 </a:t>
            </a:r>
            <a:r>
              <a:rPr lang="en-US" altLang="zh-CN" dirty="0"/>
              <a:t>G </a:t>
            </a:r>
            <a:r>
              <a:rPr lang="zh-CN" altLang="en-US" dirty="0"/>
              <a:t>的点连通度</a:t>
            </a:r>
            <a:endParaRPr lang="en-US" altLang="zh-CN" dirty="0"/>
          </a:p>
          <a:p>
            <a:pPr eaLnBrk="1" hangingPunct="1"/>
            <a:endParaRPr lang="zh-CN" altLang="en-US" dirty="0"/>
          </a:p>
          <a:p>
            <a:pPr eaLnBrk="1" hangingPunct="1"/>
            <a:r>
              <a:rPr lang="en-US" altLang="zh-CN" dirty="0"/>
              <a:t>(2)</a:t>
            </a:r>
            <a:r>
              <a:rPr lang="zh-CN" altLang="en-US" dirty="0"/>
              <a:t>相应地如果至少去掉 </a:t>
            </a:r>
            <a:r>
              <a:rPr lang="en-US" altLang="zh-CN" dirty="0"/>
              <a:t>K </a:t>
            </a:r>
            <a:r>
              <a:rPr lang="zh-CN" altLang="en-US" dirty="0"/>
              <a:t>条边使这个图不连通，则 </a:t>
            </a:r>
            <a:r>
              <a:rPr lang="en-US" altLang="zh-CN" dirty="0"/>
              <a:t>K </a:t>
            </a:r>
            <a:r>
              <a:rPr lang="zh-CN" altLang="en-US" dirty="0"/>
              <a:t>成为图的边连通度</a:t>
            </a:r>
            <a:endParaRPr lang="zh-CN" altLang="en-US" dirty="0"/>
          </a:p>
          <a:p>
            <a:pPr eaLnBrk="1" hangingPunct="1"/>
            <a:endParaRPr lang="zh-CN" altLang="en-US" dirty="0"/>
          </a:p>
          <a:p>
            <a:pPr eaLnBrk="1" hangingPunct="1"/>
            <a:endParaRPr lang="zh-CN" altLang="en-US"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noChangeArrowheads="1"/>
          </p:cNvSpPr>
          <p:nvPr>
            <p:ph type="title" idx="4294967295"/>
          </p:nvPr>
        </p:nvSpPr>
        <p:spPr/>
        <p:txBody>
          <a:bodyPr/>
          <a:lstStyle/>
          <a:p>
            <a:r>
              <a:rPr lang="zh-CN" altLang="en-US"/>
              <a:t>POJ2942 圆桌骑士</a:t>
            </a:r>
            <a:endParaRPr lang="zh-CN" altLang="en-US"/>
          </a:p>
        </p:txBody>
      </p:sp>
      <p:sp>
        <p:nvSpPr>
          <p:cNvPr id="100355" name="内容占位符 2"/>
          <p:cNvSpPr>
            <a:spLocks noGrp="1" noChangeArrowheads="1"/>
          </p:cNvSpPr>
          <p:nvPr>
            <p:ph sz="quarter" idx="4294967295"/>
          </p:nvPr>
        </p:nvSpPr>
        <p:spPr>
          <a:xfrm>
            <a:off x="1012874" y="2133600"/>
            <a:ext cx="10491738" cy="3886200"/>
          </a:xfrm>
        </p:spPr>
        <p:txBody>
          <a:bodyPr/>
          <a:lstStyle/>
          <a:p>
            <a:r>
              <a:rPr lang="zh-CN" altLang="en-US" sz="2000" dirty="0"/>
              <a:t>一些骑士，他们有些人之间有矛盾，现在要求选出一些骑士围成一圈，圈要满足如下条件：</a:t>
            </a:r>
            <a:br>
              <a:rPr lang="en-US" altLang="zh-CN" sz="2000" dirty="0"/>
            </a:br>
            <a:r>
              <a:rPr lang="en-US" altLang="zh-CN" sz="2000" dirty="0"/>
              <a:t>1.</a:t>
            </a:r>
            <a:r>
              <a:rPr lang="zh-CN" altLang="en-US" sz="2000" dirty="0"/>
              <a:t>人数大于</a:t>
            </a:r>
            <a:r>
              <a:rPr lang="en-US" altLang="zh-CN" sz="2000" dirty="0"/>
              <a:t>1</a:t>
            </a:r>
            <a:br>
              <a:rPr lang="en-US" altLang="zh-CN" sz="2000" dirty="0"/>
            </a:br>
            <a:r>
              <a:rPr lang="en-US" altLang="zh-CN" sz="2000" dirty="0"/>
              <a:t>2.</a:t>
            </a:r>
            <a:r>
              <a:rPr lang="zh-CN" altLang="en-US" sz="2000" dirty="0"/>
              <a:t>总人数为奇数</a:t>
            </a:r>
            <a:br>
              <a:rPr lang="en-US" altLang="zh-CN" sz="2000" dirty="0"/>
            </a:br>
            <a:r>
              <a:rPr lang="en-US" altLang="zh-CN" sz="2000" dirty="0"/>
              <a:t>3.</a:t>
            </a:r>
            <a:r>
              <a:rPr lang="zh-CN" altLang="en-US" sz="2000" dirty="0"/>
              <a:t>有仇恨的骑士不能挨着坐。</a:t>
            </a:r>
            <a:endParaRPr lang="en-US" altLang="zh-CN" sz="2000" dirty="0"/>
          </a:p>
          <a:p>
            <a:r>
              <a:rPr lang="zh-CN" altLang="en-US" sz="2000" dirty="0"/>
              <a:t>问有几个骑士不能和任何人形成任何的圆圈。</a:t>
            </a:r>
            <a:endParaRPr lang="zh-CN" altLang="en-US" sz="2000" dirty="0"/>
          </a:p>
        </p:txBody>
      </p:sp>
      <p:graphicFrame>
        <p:nvGraphicFramePr>
          <p:cNvPr id="66564" name="表格 66563"/>
          <p:cNvGraphicFramePr/>
          <p:nvPr/>
        </p:nvGraphicFramePr>
        <p:xfrm>
          <a:off x="3048000" y="4490815"/>
          <a:ext cx="6096000" cy="1743075"/>
        </p:xfrm>
        <a:graphic>
          <a:graphicData uri="http://schemas.openxmlformats.org/drawingml/2006/table">
            <a:tbl>
              <a:tblPr/>
              <a:tblGrid>
                <a:gridCol w="3048000"/>
                <a:gridCol w="3048000"/>
              </a:tblGrid>
              <a:tr h="371475">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b="1" dirty="0">
                          <a:solidFill>
                            <a:srgbClr val="FFFFFF"/>
                          </a:solidFill>
                          <a:latin typeface="Century Schoolbook" panose="02040604050505020304" pitchFamily="18" charset="0"/>
                        </a:rPr>
                        <a:t>Sample Input</a:t>
                      </a:r>
                      <a:endParaRPr lang="en-US" altLang="x-none" sz="1200" b="1" dirty="0">
                        <a:solidFill>
                          <a:srgbClr val="FFFFFF"/>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b="1" dirty="0">
                          <a:solidFill>
                            <a:srgbClr val="FFFFFF"/>
                          </a:solidFill>
                          <a:latin typeface="Century Schoolbook" panose="02040604050505020304" pitchFamily="18" charset="0"/>
                        </a:rPr>
                        <a:t>Sample Output</a:t>
                      </a:r>
                      <a:endParaRPr lang="en-US" altLang="x-none" sz="1200" b="1" dirty="0">
                        <a:solidFill>
                          <a:srgbClr val="FFFFFF"/>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1371600">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5 5</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1 4</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1 5</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2 5</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3 4</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4 5</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0 0</a:t>
                      </a:r>
                      <a:endParaRPr lang="en-US" altLang="x-none" sz="1200" dirty="0">
                        <a:solidFill>
                          <a:srgbClr val="000000"/>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c>
                  <a:txBody>
                    <a:bodyPr/>
                    <a:lstStyle>
                      <a:lvl1pPr marL="273050" lvl="0" indent="-273050" algn="l" defTabSz="914400" eaLnBrk="0" fontAlgn="base" latinLnBrk="0" hangingPunct="0">
                        <a:spcBef>
                          <a:spcPts val="600"/>
                        </a:spcBef>
                        <a:spcAft>
                          <a:spcPct val="0"/>
                        </a:spcAft>
                        <a:buClr>
                          <a:schemeClr val="accent1"/>
                        </a:buClr>
                        <a:buSzPct val="70000"/>
                        <a:buFont typeface="Wingdings" panose="05000000000000000000" pitchFamily="2" charset="2"/>
                        <a:buChar char=""/>
                        <a:defRPr sz="2000" b="0" i="0" u="none" kern="1200" baseline="0">
                          <a:solidFill>
                            <a:schemeClr val="tx1"/>
                          </a:solidFill>
                          <a:latin typeface="Century Schoolbook" panose="02040604050505020304" pitchFamily="18" charset="0"/>
                          <a:ea typeface="宋体" panose="02010600030101010101" pitchFamily="2" charset="-122"/>
                        </a:defRPr>
                      </a:lvl1pPr>
                      <a:lvl2pPr marL="640080" lvl="1" indent="-273050" algn="l">
                        <a:spcBef>
                          <a:spcPct val="20000"/>
                        </a:spcBef>
                        <a:defRPr sz="1900" kern="1200"/>
                      </a:lvl2pPr>
                      <a:lvl3pPr marL="914400" lvl="2" indent="-182245" algn="l">
                        <a:buClr>
                          <a:srgbClr val="E0752F"/>
                        </a:buClr>
                        <a:defRPr sz="1600" kern="1200"/>
                      </a:lvl3pPr>
                      <a:lvl4pPr marL="1187450" lvl="3" indent="-182245" algn="l">
                        <a:buClr>
                          <a:srgbClr val="FEC3AE"/>
                        </a:buClr>
                        <a:defRPr sz="1600" kern="1200"/>
                      </a:lvl4pPr>
                      <a:lvl5pPr marL="1462405" lvl="4" indent="-182880" algn="l">
                        <a:buClr>
                          <a:srgbClr val="BDCAE9"/>
                        </a:buClr>
                        <a:defRPr sz="1400" kern="1200"/>
                      </a:lvl5pPr>
                    </a:lstStyle>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2</a:t>
                      </a: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endParaRPr lang="en-US" altLang="x-none" sz="1200" dirty="0">
                        <a:solidFill>
                          <a:srgbClr val="000000"/>
                        </a:solidFill>
                        <a:latin typeface="Century Schoolbook" panose="02040604050505020304" pitchFamily="18" charset="0"/>
                      </a:endParaRPr>
                    </a:p>
                    <a:p>
                      <a:pPr marL="0" lvl="0" indent="0" eaLnBrk="1" hangingPunct="1">
                        <a:spcBef>
                          <a:spcPct val="0"/>
                        </a:spcBef>
                        <a:buClr>
                          <a:srgbClr val="000000"/>
                        </a:buClr>
                        <a:buFont typeface="Arial" panose="020B0604020202020204" pitchFamily="34" charset="0"/>
                        <a:buNone/>
                      </a:pPr>
                      <a:r>
                        <a:rPr lang="en-US" altLang="x-none" sz="1200" dirty="0">
                          <a:solidFill>
                            <a:srgbClr val="000000"/>
                          </a:solidFill>
                          <a:latin typeface="Century Schoolbook" panose="02040604050505020304" pitchFamily="18" charset="0"/>
                        </a:rPr>
                        <a:t> 1 ≤ n ≤ 1000 and 1 ≤ m ≤ 1000000</a:t>
                      </a:r>
                      <a:endParaRPr lang="en-US" altLang="x-none" sz="1200" dirty="0">
                        <a:solidFill>
                          <a:srgbClr val="000000"/>
                        </a:solidFill>
                        <a:latin typeface="Century Schoolbook" panose="02040604050505020304" pitchFamily="18"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FD9CE">
                        <a:alpha val="100000"/>
                      </a:srgbClr>
                    </a:solidFill>
                  </a:tcPr>
                </a:tc>
              </a:tr>
            </a:tbl>
          </a:graphicData>
        </a:graphic>
      </p:graphicFrame>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noChangeArrowheads="1"/>
          </p:cNvSpPr>
          <p:nvPr>
            <p:ph type="title" idx="4294967295"/>
          </p:nvPr>
        </p:nvSpPr>
        <p:spPr/>
        <p:txBody>
          <a:bodyPr/>
          <a:lstStyle/>
          <a:p>
            <a:r>
              <a:rPr lang="zh-CN" altLang="en-US"/>
              <a:t>分析</a:t>
            </a:r>
            <a:endParaRPr lang="zh-CN" altLang="en-US"/>
          </a:p>
        </p:txBody>
      </p:sp>
      <p:sp>
        <p:nvSpPr>
          <p:cNvPr id="101379" name="内容占位符 2"/>
          <p:cNvSpPr>
            <a:spLocks noGrp="1" noChangeArrowheads="1"/>
          </p:cNvSpPr>
          <p:nvPr>
            <p:ph sz="quarter" idx="4294967295"/>
          </p:nvPr>
        </p:nvSpPr>
        <p:spPr>
          <a:xfrm>
            <a:off x="1638299" y="1406769"/>
            <a:ext cx="9866311" cy="4064391"/>
          </a:xfrm>
        </p:spPr>
        <p:txBody>
          <a:bodyPr/>
          <a:lstStyle/>
          <a:p>
            <a:r>
              <a:rPr lang="zh-CN" altLang="en-US" sz="2000" dirty="0"/>
              <a:t>利用输入的</a:t>
            </a:r>
            <a:r>
              <a:rPr lang="en-US" altLang="zh-CN" sz="2000" dirty="0"/>
              <a:t>m</a:t>
            </a:r>
            <a:r>
              <a:rPr lang="zh-CN" altLang="en-US" sz="2000" dirty="0"/>
              <a:t>对憎恨关系构造图</a:t>
            </a:r>
            <a:r>
              <a:rPr lang="en-US" altLang="zh-CN" sz="2000" dirty="0"/>
              <a:t>G</a:t>
            </a:r>
            <a:r>
              <a:rPr lang="zh-CN" altLang="en-US" sz="2000" dirty="0"/>
              <a:t>，则图</a:t>
            </a:r>
            <a:r>
              <a:rPr lang="en-US" altLang="zh-CN" sz="2000" dirty="0"/>
              <a:t>G</a:t>
            </a:r>
            <a:r>
              <a:rPr lang="zh-CN" altLang="en-US" sz="2000" dirty="0"/>
              <a:t>中有边相连的两个点表示这</a:t>
            </a:r>
            <a:r>
              <a:rPr lang="en-US" altLang="zh-CN" sz="2000" dirty="0"/>
              <a:t>2</a:t>
            </a:r>
            <a:r>
              <a:rPr lang="zh-CN" altLang="en-US" sz="2000" dirty="0"/>
              <a:t>个骑士互相憎恨。</a:t>
            </a:r>
            <a:endParaRPr lang="en-US" altLang="zh-CN" sz="2000" dirty="0"/>
          </a:p>
          <a:p>
            <a:endParaRPr lang="en-US" altLang="zh-CN" sz="2000" dirty="0"/>
          </a:p>
          <a:p>
            <a:endParaRPr lang="en-US" altLang="zh-CN" sz="2000" dirty="0"/>
          </a:p>
          <a:p>
            <a:endParaRPr lang="en-US" altLang="zh-CN" sz="2000" dirty="0"/>
          </a:p>
          <a:p>
            <a:endParaRPr lang="en-US" altLang="zh-CN" sz="2000" dirty="0"/>
          </a:p>
          <a:p>
            <a:r>
              <a:rPr lang="zh-CN" altLang="en-US" sz="2000" dirty="0"/>
              <a:t>构造图</a:t>
            </a:r>
            <a:r>
              <a:rPr lang="en-US" altLang="zh-CN" sz="2000" dirty="0"/>
              <a:t>G</a:t>
            </a:r>
            <a:r>
              <a:rPr lang="zh-CN" altLang="en-US" sz="2000" dirty="0"/>
              <a:t>的补图</a:t>
            </a:r>
            <a:r>
              <a:rPr lang="en-US" altLang="zh-CN" sz="2000" dirty="0"/>
              <a:t>~G</a:t>
            </a:r>
            <a:r>
              <a:rPr lang="zh-CN" altLang="en-US" sz="2000" dirty="0"/>
              <a:t>，则图</a:t>
            </a:r>
            <a:r>
              <a:rPr lang="en-US" altLang="zh-CN" sz="2000" dirty="0"/>
              <a:t>~G</a:t>
            </a:r>
            <a:r>
              <a:rPr lang="zh-CN" altLang="en-US" sz="2000" dirty="0"/>
              <a:t>中有边相连的两个点表示这</a:t>
            </a:r>
            <a:r>
              <a:rPr lang="en-US" altLang="zh-CN" sz="2000" dirty="0"/>
              <a:t>2</a:t>
            </a:r>
            <a:r>
              <a:rPr lang="zh-CN" altLang="en-US" sz="2000" dirty="0"/>
              <a:t>个骑士可以坐在相邻位置。补图</a:t>
            </a:r>
            <a:r>
              <a:rPr lang="en-US" altLang="zh-CN" sz="2000" dirty="0"/>
              <a:t>~G</a:t>
            </a:r>
            <a:r>
              <a:rPr lang="zh-CN" altLang="en-US" sz="2000" dirty="0"/>
              <a:t>就是把图</a:t>
            </a:r>
            <a:r>
              <a:rPr lang="en-US" altLang="zh-CN" sz="2000" dirty="0"/>
              <a:t>G</a:t>
            </a:r>
            <a:r>
              <a:rPr lang="zh-CN" altLang="en-US" sz="2000" dirty="0"/>
              <a:t>原有的边全部删去，原本不存在的边全部连上。</a:t>
            </a:r>
            <a:endParaRPr lang="zh-CN" altLang="en-US" sz="2000" dirty="0"/>
          </a:p>
        </p:txBody>
      </p:sp>
      <p:pic>
        <p:nvPicPr>
          <p:cNvPr id="10138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64200" y="2060576"/>
            <a:ext cx="19113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76059" y="4543231"/>
            <a:ext cx="1965325" cy="230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noChangeArrowheads="1"/>
          </p:cNvSpPr>
          <p:nvPr>
            <p:ph type="title" idx="4294967295"/>
          </p:nvPr>
        </p:nvSpPr>
        <p:spPr/>
        <p:txBody>
          <a:bodyPr/>
          <a:lstStyle/>
          <a:p>
            <a:r>
              <a:rPr lang="zh-CN" altLang="en-US"/>
              <a:t>分析</a:t>
            </a:r>
            <a:endParaRPr lang="zh-CN" altLang="en-US"/>
          </a:p>
        </p:txBody>
      </p:sp>
      <p:sp>
        <p:nvSpPr>
          <p:cNvPr id="68611" name="内容占位符 2"/>
          <p:cNvSpPr>
            <a:spLocks noGrp="1" noChangeArrowheads="1"/>
          </p:cNvSpPr>
          <p:nvPr>
            <p:ph sz="quarter" idx="4294967295"/>
          </p:nvPr>
        </p:nvSpPr>
        <p:spPr>
          <a:xfrm>
            <a:off x="956603" y="2133600"/>
            <a:ext cx="10548009" cy="3886200"/>
          </a:xfrm>
        </p:spPr>
        <p:txBody>
          <a:bodyPr>
            <a:normAutofit/>
          </a:bodyPr>
          <a:lstStyle/>
          <a:p>
            <a:r>
              <a:rPr lang="zh-CN" altLang="en-US" sz="2000" dirty="0"/>
              <a:t>在图</a:t>
            </a:r>
            <a:r>
              <a:rPr lang="en-US" altLang="zh-CN" sz="2000" dirty="0"/>
              <a:t>~G</a:t>
            </a:r>
            <a:r>
              <a:rPr lang="zh-CN" altLang="en-US" sz="2000" dirty="0"/>
              <a:t>中，可能存在度数</a:t>
            </a:r>
            <a:r>
              <a:rPr lang="en-US" altLang="zh-CN" sz="2000" dirty="0"/>
              <a:t>=0</a:t>
            </a:r>
            <a:r>
              <a:rPr lang="zh-CN" altLang="en-US" sz="2000" dirty="0"/>
              <a:t>的点，说明它们不能和任何人相邻。</a:t>
            </a:r>
            <a:endParaRPr lang="zh-CN" altLang="en-US" sz="2000" dirty="0"/>
          </a:p>
          <a:p>
            <a:r>
              <a:rPr lang="zh-CN" altLang="en-US" sz="2000" dirty="0"/>
              <a:t>对于度数</a:t>
            </a:r>
            <a:r>
              <a:rPr lang="en-US" altLang="zh-CN" sz="2000" dirty="0"/>
              <a:t>=1</a:t>
            </a:r>
            <a:r>
              <a:rPr lang="zh-CN" altLang="en-US" sz="2000" dirty="0"/>
              <a:t>的点，这些骑士旁边最多只能坐另一个人，根据圆桌的座位要求每个骑士</a:t>
            </a:r>
            <a:r>
              <a:rPr lang="en-US" altLang="zh-CN" sz="2000" dirty="0"/>
              <a:t>k</a:t>
            </a:r>
            <a:r>
              <a:rPr lang="zh-CN" altLang="en-US" sz="2000" dirty="0"/>
              <a:t>的座位两边都必定各有一个骑士（度数</a:t>
            </a:r>
            <a:r>
              <a:rPr lang="en-US" altLang="zh-CN" sz="2000" dirty="0"/>
              <a:t>=2</a:t>
            </a:r>
            <a:r>
              <a:rPr lang="zh-CN" altLang="en-US" sz="2000" dirty="0"/>
              <a:t>）</a:t>
            </a:r>
            <a:endParaRPr lang="zh-CN" altLang="en-US" sz="2000" dirty="0"/>
          </a:p>
          <a:p>
            <a:r>
              <a:rPr lang="zh-CN" altLang="en-US" sz="2000" dirty="0"/>
              <a:t>那么这些度数</a:t>
            </a:r>
            <a:r>
              <a:rPr lang="en-US" altLang="zh-CN" sz="2000" dirty="0"/>
              <a:t>&lt;=1</a:t>
            </a:r>
            <a:r>
              <a:rPr lang="zh-CN" altLang="en-US" sz="2000" dirty="0"/>
              <a:t>的点是孤立的或者是单连通的，也就是说他们不在圆桌的“环”内。</a:t>
            </a:r>
            <a:endParaRPr lang="zh-CN" altLang="en-US" sz="2000" dirty="0"/>
          </a:p>
          <a:p>
            <a:r>
              <a:rPr lang="zh-CN" altLang="en-US" sz="2000" dirty="0"/>
              <a:t>现在问题是，我们怎么才能知道哪些骑士在环外？</a:t>
            </a:r>
            <a:endParaRPr lang="zh-CN" altLang="en-US" sz="2000" dirty="0"/>
          </a:p>
          <a:p>
            <a:r>
              <a:rPr lang="zh-CN" altLang="en-US" sz="2000" dirty="0"/>
              <a:t>可以把问题转化为，我们怎么才能知道哪些骑士在环内？</a:t>
            </a:r>
            <a:endParaRPr lang="zh-CN" altLang="en-US"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611"/>
                                        </p:tgtEl>
                                        <p:attrNameLst>
                                          <p:attrName>style.visibility</p:attrName>
                                        </p:attrNameLst>
                                      </p:cBhvr>
                                      <p:to>
                                        <p:strVal val="visible"/>
                                      </p:to>
                                    </p:set>
                                    <p:anim calcmode="lin" valueType="num">
                                      <p:cBhvr additive="base">
                                        <p:cTn id="7" dur="500" fill="hold"/>
                                        <p:tgtEl>
                                          <p:spTgt spid="68611"/>
                                        </p:tgtEl>
                                        <p:attrNameLst>
                                          <p:attrName>ppt_x</p:attrName>
                                        </p:attrNameLst>
                                      </p:cBhvr>
                                      <p:tavLst>
                                        <p:tav tm="0">
                                          <p:val>
                                            <p:strVal val="#ppt_x"/>
                                          </p:val>
                                        </p:tav>
                                        <p:tav tm="100000">
                                          <p:val>
                                            <p:strVal val="#ppt_x"/>
                                          </p:val>
                                        </p:tav>
                                      </p:tavLst>
                                    </p:anim>
                                    <p:anim calcmode="lin" valueType="num">
                                      <p:cBhvr additive="base">
                                        <p:cTn id="8" dur="500" fill="hold"/>
                                        <p:tgtEl>
                                          <p:spTgt spid="686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p:stCondLst>
                                    <p:cond delay="0"/>
                                  </p:stCondLst>
                                  <p:childTnLst>
                                    <p:set>
                                      <p:cBhvr>
                                        <p:cTn id="12" dur="1" fill="hold">
                                          <p:stCondLst>
                                            <p:cond delay="0"/>
                                          </p:stCondLst>
                                        </p:cTn>
                                        <p:tgtEl>
                                          <p:spTgt spid="68611"/>
                                        </p:tgtEl>
                                        <p:attrNameLst>
                                          <p:attrName>style.visibility</p:attrName>
                                        </p:attrNameLst>
                                      </p:cBhvr>
                                      <p:to>
                                        <p:strVal val="visible"/>
                                      </p:to>
                                    </p:set>
                                    <p:anim calcmode="lin" valueType="num">
                                      <p:cBhvr additive="base">
                                        <p:cTn id="13" dur="500" fill="hold"/>
                                        <p:tgtEl>
                                          <p:spTgt spid="68611"/>
                                        </p:tgtEl>
                                        <p:attrNameLst>
                                          <p:attrName>ppt_x</p:attrName>
                                        </p:attrNameLst>
                                      </p:cBhvr>
                                      <p:tavLst>
                                        <p:tav tm="0">
                                          <p:val>
                                            <p:strVal val="#ppt_x"/>
                                          </p:val>
                                        </p:tav>
                                        <p:tav tm="100000">
                                          <p:val>
                                            <p:strVal val="#ppt_x"/>
                                          </p:val>
                                        </p:tav>
                                      </p:tavLst>
                                    </p:anim>
                                    <p:anim calcmode="lin" valueType="num">
                                      <p:cBhvr additive="base">
                                        <p:cTn id="14" dur="500" fill="hold"/>
                                        <p:tgtEl>
                                          <p:spTgt spid="686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ldLvl="0"/>
      <p:bldP spid="68611" grpId="1" bldLvl="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69633"/>
          <p:cNvSpPr>
            <a:spLocks noGrp="1" noChangeArrowheads="1"/>
          </p:cNvSpPr>
          <p:nvPr>
            <p:ph type="title"/>
          </p:nvPr>
        </p:nvSpPr>
        <p:spPr/>
        <p:txBody>
          <a:bodyPr/>
          <a:lstStyle/>
          <a:p>
            <a:r>
              <a:rPr lang="zh-CN" altLang="en-US"/>
              <a:t>分析</a:t>
            </a:r>
            <a:endParaRPr lang="zh-CN" altLang="en-US"/>
          </a:p>
        </p:txBody>
      </p:sp>
      <p:sp>
        <p:nvSpPr>
          <p:cNvPr id="103427" name="文本占位符 69634"/>
          <p:cNvSpPr>
            <a:spLocks noGrp="1" noChangeArrowheads="1"/>
          </p:cNvSpPr>
          <p:nvPr>
            <p:ph idx="1"/>
          </p:nvPr>
        </p:nvSpPr>
        <p:spPr/>
        <p:txBody>
          <a:bodyPr>
            <a:normAutofit/>
          </a:bodyPr>
          <a:lstStyle/>
          <a:p>
            <a:r>
              <a:rPr lang="zh-CN" altLang="en-US" sz="2000" dirty="0"/>
              <a:t>在环内的所有结点都是双连通的，我们可以通过</a:t>
            </a:r>
            <a:r>
              <a:rPr lang="en-US" altLang="zh-CN" sz="2000" dirty="0" err="1"/>
              <a:t>Tarjan</a:t>
            </a:r>
            <a:r>
              <a:rPr lang="zh-CN" altLang="en-US" sz="2000" dirty="0"/>
              <a:t>算法求双连通分量。注意，补图</a:t>
            </a:r>
            <a:r>
              <a:rPr lang="en-US" altLang="zh-CN" sz="2000" dirty="0"/>
              <a:t>~G</a:t>
            </a:r>
            <a:r>
              <a:rPr lang="zh-CN" altLang="en-US" sz="2000" dirty="0"/>
              <a:t>可能有几个双连通子图，即它可能有不止一组双连通分量，而</a:t>
            </a:r>
            <a:r>
              <a:rPr lang="en-US" altLang="zh-CN" sz="2000" dirty="0" err="1"/>
              <a:t>Tarjan</a:t>
            </a:r>
            <a:r>
              <a:rPr lang="zh-CN" altLang="en-US" sz="2000" dirty="0"/>
              <a:t>算法是一组一组双连通分量求出来的，因此每求出一组双连通分量我们就要马上处理一组。</a:t>
            </a:r>
            <a:endParaRPr lang="zh-CN" altLang="en-US" sz="2000" dirty="0"/>
          </a:p>
          <a:p>
            <a:r>
              <a:rPr lang="zh-CN" altLang="en-US" sz="2000" dirty="0"/>
              <a:t>下面都是针对某一组双连通分量的处理。</a:t>
            </a:r>
            <a:endParaRPr lang="zh-CN" altLang="en-US" sz="2000" dirty="0"/>
          </a:p>
          <a:p>
            <a:r>
              <a:rPr lang="zh-CN" altLang="en-US" sz="2000" dirty="0"/>
              <a:t>骑士在双连通分量内（在环内），并不能就此就说明它可以出席会议了，因为假如这个骑士所在的双连通分量，不是一个奇数顶点的环，而是一个偶数顶点的环，根据题设条件，这个双连通分量内的全部骑士都要被开除</a:t>
            </a:r>
            <a:endParaRPr lang="zh-CN" altLang="en-US" sz="2000" dirty="0"/>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70657"/>
          <p:cNvSpPr>
            <a:spLocks noGrp="1" noChangeArrowheads="1"/>
          </p:cNvSpPr>
          <p:nvPr>
            <p:ph type="title"/>
          </p:nvPr>
        </p:nvSpPr>
        <p:spPr/>
        <p:txBody>
          <a:bodyPr/>
          <a:lstStyle/>
          <a:p>
            <a:r>
              <a:rPr lang="zh-CN" altLang="en-US"/>
              <a:t>分析</a:t>
            </a:r>
            <a:endParaRPr lang="zh-CN" altLang="en-US"/>
          </a:p>
        </p:txBody>
      </p:sp>
      <p:sp>
        <p:nvSpPr>
          <p:cNvPr id="104451" name="文本占位符 70658"/>
          <p:cNvSpPr>
            <a:spLocks noGrp="1" noChangeArrowheads="1"/>
          </p:cNvSpPr>
          <p:nvPr>
            <p:ph idx="1"/>
          </p:nvPr>
        </p:nvSpPr>
        <p:spPr/>
        <p:txBody>
          <a:bodyPr>
            <a:normAutofit/>
          </a:bodyPr>
          <a:lstStyle/>
          <a:p>
            <a:pPr>
              <a:lnSpc>
                <a:spcPct val="80000"/>
              </a:lnSpc>
            </a:pPr>
            <a:r>
              <a:rPr lang="zh-CN" altLang="en-US" sz="2000" dirty="0"/>
              <a:t>那么怎样判断一个双连通分量是奇圈呢？</a:t>
            </a:r>
            <a:endParaRPr lang="zh-CN" altLang="en-US" sz="2000" dirty="0"/>
          </a:p>
          <a:p>
            <a:pPr>
              <a:lnSpc>
                <a:spcPct val="80000"/>
              </a:lnSpc>
            </a:pPr>
            <a:r>
              <a:rPr lang="zh-CN" altLang="en-US" sz="2000" dirty="0"/>
              <a:t>这里不证明地给出两个定理：</a:t>
            </a:r>
            <a:endParaRPr lang="zh-CN" altLang="en-US" sz="2000" dirty="0"/>
          </a:p>
          <a:p>
            <a:pPr>
              <a:lnSpc>
                <a:spcPct val="80000"/>
              </a:lnSpc>
            </a:pPr>
            <a:r>
              <a:rPr lang="zh-CN" altLang="en-US" sz="2000" dirty="0"/>
              <a:t>（</a:t>
            </a:r>
            <a:r>
              <a:rPr lang="en-US" altLang="zh-CN" sz="2000" dirty="0"/>
              <a:t>1</a:t>
            </a:r>
            <a:r>
              <a:rPr lang="zh-CN" altLang="en-US" sz="2000" dirty="0"/>
              <a:t>）如果一个双连通分量内的某些顶点在一个奇圈中（即双连通分量含有奇圈），那么这个双连通分量的其他顶点也在某个奇圈中；</a:t>
            </a:r>
            <a:endParaRPr lang="zh-CN" altLang="en-US" sz="2000" dirty="0"/>
          </a:p>
          <a:p>
            <a:pPr>
              <a:lnSpc>
                <a:spcPct val="80000"/>
              </a:lnSpc>
            </a:pPr>
            <a:r>
              <a:rPr lang="zh-CN" altLang="en-US" sz="2000" dirty="0"/>
              <a:t>（</a:t>
            </a:r>
            <a:r>
              <a:rPr lang="en-US" altLang="zh-CN" sz="2000" dirty="0"/>
              <a:t>2</a:t>
            </a:r>
            <a:r>
              <a:rPr lang="zh-CN" altLang="en-US" sz="2000" dirty="0"/>
              <a:t>）如果一个双连通分量含有奇圈，则他必定不是一个二分图。反过来也成立，这是一个充要条件。</a:t>
            </a:r>
            <a:endParaRPr lang="zh-CN" altLang="en-US" sz="2000" dirty="0"/>
          </a:p>
          <a:p>
            <a:pPr>
              <a:lnSpc>
                <a:spcPct val="80000"/>
              </a:lnSpc>
            </a:pPr>
            <a:r>
              <a:rPr lang="zh-CN" altLang="en-US" sz="2000" dirty="0"/>
              <a:t>那么要判断双连通分量是否为奇圈，只需判断这个双连通分量是否为一个二分图，利用黑白染色法进行判断。</a:t>
            </a:r>
            <a:endParaRPr lang="en-US" altLang="zh-CN" sz="2000" dirty="0"/>
          </a:p>
          <a:p>
            <a:pPr>
              <a:lnSpc>
                <a:spcPct val="80000"/>
              </a:lnSpc>
            </a:pPr>
            <a:r>
              <a:rPr lang="zh-CN" altLang="en-US" sz="2000" dirty="0"/>
              <a:t>这样，只属于一个奇圈中的骑士，都是允许出席会议的。</a:t>
            </a:r>
            <a:endParaRPr lang="zh-CN" altLang="en-US" sz="2000" dirty="0"/>
          </a:p>
          <a:p>
            <a:pPr>
              <a:lnSpc>
                <a:spcPct val="80000"/>
              </a:lnSpc>
            </a:pPr>
            <a:r>
              <a:rPr lang="zh-CN" altLang="en-US" sz="2000" dirty="0"/>
              <a:t>而有的骑士可能是</a:t>
            </a:r>
            <a:r>
              <a:rPr lang="en-US" altLang="zh-CN" sz="2000" dirty="0"/>
              <a:t>2</a:t>
            </a:r>
            <a:r>
              <a:rPr lang="zh-CN" altLang="en-US" sz="2000" dirty="0"/>
              <a:t>个以上的奇圈的公共点，那么它们也符合题设条件。</a:t>
            </a:r>
            <a:endParaRPr lang="zh-CN" altLang="en-US" sz="2000" dirty="0"/>
          </a:p>
          <a:p>
            <a:pPr>
              <a:lnSpc>
                <a:spcPct val="80000"/>
              </a:lnSpc>
            </a:pPr>
            <a:endParaRPr lang="zh-CN" altLang="en-US" sz="2000" dirty="0"/>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9DD899E-1CB5-431C-B2BF-857807FC4D92}" type="slidenum">
              <a:rPr lang="en-US" altLang="zh-CN"/>
            </a:fld>
            <a:endParaRPr lang="en-US" altLang="zh-CN"/>
          </a:p>
        </p:txBody>
      </p:sp>
      <p:sp>
        <p:nvSpPr>
          <p:cNvPr id="4099" name="Rectangle 2"/>
          <p:cNvSpPr>
            <a:spLocks noGrp="1" noRot="1" noChangeArrowheads="1"/>
          </p:cNvSpPr>
          <p:nvPr>
            <p:ph type="title"/>
          </p:nvPr>
        </p:nvSpPr>
        <p:spPr/>
        <p:txBody>
          <a:bodyPr/>
          <a:lstStyle/>
          <a:p>
            <a:pPr eaLnBrk="1" hangingPunct="1"/>
            <a:r>
              <a:rPr lang="zh-CN" altLang="en-US"/>
              <a:t>新修公路</a:t>
            </a:r>
            <a:r>
              <a:rPr lang="en-US" altLang="zh-CN"/>
              <a:t>(1)</a:t>
            </a:r>
            <a:endParaRPr lang="en-US" altLang="zh-CN"/>
          </a:p>
        </p:txBody>
      </p:sp>
      <p:sp>
        <p:nvSpPr>
          <p:cNvPr id="4100" name="Rectangle 3"/>
          <p:cNvSpPr>
            <a:spLocks noGrp="1" noRot="1" noChangeArrowheads="1"/>
          </p:cNvSpPr>
          <p:nvPr>
            <p:ph type="body" idx="1"/>
          </p:nvPr>
        </p:nvSpPr>
        <p:spPr/>
        <p:txBody>
          <a:bodyPr/>
          <a:lstStyle/>
          <a:p>
            <a:pPr eaLnBrk="1" hangingPunct="1"/>
            <a:r>
              <a:rPr lang="zh-CN" altLang="en-US"/>
              <a:t>给出一张简单无向图，问最少添加几条边能够使得原图中没有割边。</a:t>
            </a:r>
            <a:r>
              <a:rPr lang="en-US" altLang="zh-CN"/>
              <a:t>(CEOI2000)</a:t>
            </a:r>
            <a:endParaRPr lang="en-US" altLang="zh-CN"/>
          </a:p>
          <a:p>
            <a:pPr eaLnBrk="1" hangingPunct="1"/>
            <a:r>
              <a:rPr lang="zh-CN" altLang="en-US"/>
              <a:t>数据范围约定</a:t>
            </a:r>
            <a:endParaRPr lang="zh-CN" altLang="en-US"/>
          </a:p>
          <a:p>
            <a:pPr lvl="1" eaLnBrk="1" hangingPunct="1"/>
            <a:r>
              <a:rPr lang="zh-CN" altLang="en-US"/>
              <a:t>结点个数</a:t>
            </a:r>
            <a:r>
              <a:rPr lang="en-US" altLang="zh-CN"/>
              <a:t>N≤2500</a:t>
            </a:r>
            <a:endParaRPr lang="en-US" altLang="zh-CN"/>
          </a:p>
          <a:p>
            <a:pPr lvl="1" eaLnBrk="1" hangingPunct="1"/>
            <a:r>
              <a:rPr lang="zh-CN" altLang="en-US"/>
              <a:t>边数</a:t>
            </a:r>
            <a:r>
              <a:rPr lang="en-US" altLang="zh-CN"/>
              <a:t>M≤20000</a:t>
            </a:r>
            <a:endParaRPr lang="en-US" altLang="zh-CN"/>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DD2D342-67D5-4672-B285-E85590BD1020}" type="slidenum">
              <a:rPr lang="en-US" altLang="zh-CN"/>
            </a:fld>
            <a:endParaRPr lang="en-US" altLang="zh-CN"/>
          </a:p>
        </p:txBody>
      </p:sp>
      <p:sp>
        <p:nvSpPr>
          <p:cNvPr id="5123" name="Rectangle 2"/>
          <p:cNvSpPr>
            <a:spLocks noGrp="1" noRot="1" noChangeArrowheads="1"/>
          </p:cNvSpPr>
          <p:nvPr>
            <p:ph type="title"/>
          </p:nvPr>
        </p:nvSpPr>
        <p:spPr/>
        <p:txBody>
          <a:bodyPr/>
          <a:lstStyle/>
          <a:p>
            <a:pPr eaLnBrk="1" hangingPunct="1"/>
            <a:r>
              <a:rPr lang="zh-CN" altLang="en-US"/>
              <a:t>新修公路</a:t>
            </a:r>
            <a:r>
              <a:rPr lang="en-US" altLang="zh-CN"/>
              <a:t>(2)</a:t>
            </a:r>
            <a:endParaRPr lang="en-US" altLang="zh-CN"/>
          </a:p>
        </p:txBody>
      </p:sp>
      <p:sp>
        <p:nvSpPr>
          <p:cNvPr id="5124" name="Rectangle 3"/>
          <p:cNvSpPr>
            <a:spLocks noGrp="1" noRot="1" noChangeArrowheads="1"/>
          </p:cNvSpPr>
          <p:nvPr>
            <p:ph type="body" idx="1"/>
          </p:nvPr>
        </p:nvSpPr>
        <p:spPr/>
        <p:txBody>
          <a:bodyPr/>
          <a:lstStyle/>
          <a:p>
            <a:pPr eaLnBrk="1" hangingPunct="1"/>
            <a:r>
              <a:rPr lang="zh-CN" altLang="en-US"/>
              <a:t>为了简化数据关系，我们先将原图收缩，变成一棵树，容易知道的是，剩下的任务就是添最少的边，使得树成为一个块。</a:t>
            </a:r>
            <a:r>
              <a:rPr lang="en-US" altLang="zh-CN"/>
              <a:t>(</a:t>
            </a:r>
            <a:r>
              <a:rPr lang="zh-CN" altLang="en-US"/>
              <a:t>树中的两个结点之间连边相当于原图中两个块中分别任意取点连在一起</a:t>
            </a:r>
            <a:r>
              <a:rPr lang="en-US" altLang="zh-CN"/>
              <a:t>)</a:t>
            </a:r>
            <a:endParaRPr lang="en-US" altLang="zh-CN"/>
          </a:p>
          <a:p>
            <a:pPr eaLnBrk="1" hangingPunct="1"/>
            <a:r>
              <a:rPr lang="zh-CN" altLang="en-US" b="1">
                <a:solidFill>
                  <a:srgbClr val="FF0000"/>
                </a:solidFill>
              </a:rPr>
              <a:t>猜想</a:t>
            </a:r>
            <a:r>
              <a:rPr lang="zh-CN" altLang="en-US"/>
              <a:t>：每添一条边，就选择树中的两个叶子结点，将它们连起来，于是最少的添边数目就是</a:t>
            </a:r>
            <a:r>
              <a:rPr lang="en-US" altLang="zh-CN"/>
              <a:t>(</a:t>
            </a:r>
            <a:r>
              <a:rPr lang="zh-CN" altLang="en-US"/>
              <a:t>叶子结点个数</a:t>
            </a:r>
            <a:r>
              <a:rPr lang="en-US" altLang="zh-CN"/>
              <a:t>+1)/2</a:t>
            </a:r>
            <a:endParaRPr lang="en-US" altLang="zh-CN"/>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7BCD3A4-944D-4B62-B07A-E628BB7F6DE9}" type="slidenum">
              <a:rPr lang="en-US" altLang="zh-CN"/>
            </a:fld>
            <a:endParaRPr lang="en-US" altLang="zh-CN"/>
          </a:p>
        </p:txBody>
      </p:sp>
      <p:sp>
        <p:nvSpPr>
          <p:cNvPr id="6147" name="Rectangle 2"/>
          <p:cNvSpPr>
            <a:spLocks noGrp="1" noRot="1" noChangeArrowheads="1"/>
          </p:cNvSpPr>
          <p:nvPr>
            <p:ph type="title"/>
          </p:nvPr>
        </p:nvSpPr>
        <p:spPr/>
        <p:txBody>
          <a:bodyPr/>
          <a:lstStyle/>
          <a:p>
            <a:pPr eaLnBrk="1" hangingPunct="1"/>
            <a:r>
              <a:rPr lang="zh-CN" altLang="en-US"/>
              <a:t>新修公路</a:t>
            </a:r>
            <a:r>
              <a:rPr lang="en-US" altLang="zh-CN"/>
              <a:t>(3)</a:t>
            </a:r>
            <a:endParaRPr lang="en-US" altLang="zh-CN"/>
          </a:p>
        </p:txBody>
      </p:sp>
      <p:sp>
        <p:nvSpPr>
          <p:cNvPr id="6148" name="Rectangle 3"/>
          <p:cNvSpPr>
            <a:spLocks noGrp="1" noRot="1" noChangeArrowheads="1"/>
          </p:cNvSpPr>
          <p:nvPr>
            <p:ph type="body" idx="1"/>
          </p:nvPr>
        </p:nvSpPr>
        <p:spPr/>
        <p:txBody>
          <a:bodyPr/>
          <a:lstStyle/>
          <a:p>
            <a:pPr eaLnBrk="1" hangingPunct="1"/>
            <a:r>
              <a:rPr lang="zh-CN" altLang="en-US"/>
              <a:t>如图所示，点代表了原图中的一个块，它们之间的连边是割边。连接</a:t>
            </a:r>
            <a:r>
              <a:rPr lang="en-US" altLang="zh-CN"/>
              <a:t>a</a:t>
            </a:r>
            <a:r>
              <a:rPr lang="zh-CN" altLang="en-US"/>
              <a:t>与</a:t>
            </a:r>
            <a:r>
              <a:rPr lang="en-US" altLang="zh-CN"/>
              <a:t>c</a:t>
            </a:r>
            <a:r>
              <a:rPr lang="zh-CN" altLang="en-US"/>
              <a:t>，</a:t>
            </a:r>
            <a:r>
              <a:rPr lang="en-US" altLang="zh-CN"/>
              <a:t>b</a:t>
            </a:r>
            <a:r>
              <a:rPr lang="zh-CN" altLang="en-US"/>
              <a:t>与</a:t>
            </a:r>
            <a:r>
              <a:rPr lang="en-US" altLang="zh-CN"/>
              <a:t>d</a:t>
            </a:r>
            <a:r>
              <a:rPr lang="zh-CN" altLang="en-US"/>
              <a:t>之后，图中就没有割边了。</a:t>
            </a:r>
            <a:endParaRPr lang="zh-CN" altLang="en-US"/>
          </a:p>
        </p:txBody>
      </p:sp>
      <p:grpSp>
        <p:nvGrpSpPr>
          <p:cNvPr id="6149" name="Group 20"/>
          <p:cNvGrpSpPr/>
          <p:nvPr/>
        </p:nvGrpSpPr>
        <p:grpSpPr bwMode="auto">
          <a:xfrm>
            <a:off x="4800600" y="3276600"/>
            <a:ext cx="2362200" cy="2895600"/>
            <a:chOff x="1920" y="1536"/>
            <a:chExt cx="1488" cy="1824"/>
          </a:xfrm>
        </p:grpSpPr>
        <p:sp>
          <p:nvSpPr>
            <p:cNvPr id="6152" name="Oval 4"/>
            <p:cNvSpPr>
              <a:spLocks noChangeArrowheads="1"/>
            </p:cNvSpPr>
            <p:nvPr/>
          </p:nvSpPr>
          <p:spPr bwMode="auto">
            <a:xfrm>
              <a:off x="2448" y="1536"/>
              <a:ext cx="192" cy="19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3" name="Oval 5"/>
            <p:cNvSpPr>
              <a:spLocks noChangeArrowheads="1"/>
            </p:cNvSpPr>
            <p:nvPr/>
          </p:nvSpPr>
          <p:spPr bwMode="auto">
            <a:xfrm>
              <a:off x="2208" y="2064"/>
              <a:ext cx="192" cy="19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4" name="Oval 6"/>
            <p:cNvSpPr>
              <a:spLocks noChangeArrowheads="1"/>
            </p:cNvSpPr>
            <p:nvPr/>
          </p:nvSpPr>
          <p:spPr bwMode="auto">
            <a:xfrm>
              <a:off x="2784" y="2064"/>
              <a:ext cx="192" cy="19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155" name="Oval 7"/>
            <p:cNvSpPr>
              <a:spLocks noChangeArrowheads="1"/>
            </p:cNvSpPr>
            <p:nvPr/>
          </p:nvSpPr>
          <p:spPr bwMode="auto">
            <a:xfrm>
              <a:off x="1920" y="2640"/>
              <a:ext cx="192" cy="19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a</a:t>
              </a:r>
              <a:endParaRPr lang="en-US" altLang="zh-CN" b="1"/>
            </a:p>
          </p:txBody>
        </p:sp>
        <p:sp>
          <p:nvSpPr>
            <p:cNvPr id="6156" name="Oval 8"/>
            <p:cNvSpPr>
              <a:spLocks noChangeArrowheads="1"/>
            </p:cNvSpPr>
            <p:nvPr/>
          </p:nvSpPr>
          <p:spPr bwMode="auto">
            <a:xfrm>
              <a:off x="2160" y="3168"/>
              <a:ext cx="192" cy="19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b</a:t>
              </a:r>
              <a:endParaRPr lang="en-US" altLang="zh-CN" b="1"/>
            </a:p>
          </p:txBody>
        </p:sp>
        <p:sp>
          <p:nvSpPr>
            <p:cNvPr id="6157" name="Oval 9"/>
            <p:cNvSpPr>
              <a:spLocks noChangeArrowheads="1"/>
            </p:cNvSpPr>
            <p:nvPr/>
          </p:nvSpPr>
          <p:spPr bwMode="auto">
            <a:xfrm>
              <a:off x="2784" y="2640"/>
              <a:ext cx="192" cy="19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c</a:t>
              </a:r>
              <a:endParaRPr lang="en-US" altLang="zh-CN" b="1"/>
            </a:p>
          </p:txBody>
        </p:sp>
        <p:sp>
          <p:nvSpPr>
            <p:cNvPr id="6158" name="Oval 10"/>
            <p:cNvSpPr>
              <a:spLocks noChangeArrowheads="1"/>
            </p:cNvSpPr>
            <p:nvPr/>
          </p:nvSpPr>
          <p:spPr bwMode="auto">
            <a:xfrm>
              <a:off x="3216" y="2640"/>
              <a:ext cx="192" cy="19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d</a:t>
              </a:r>
              <a:endParaRPr lang="en-US" altLang="zh-CN" b="1"/>
            </a:p>
          </p:txBody>
        </p:sp>
        <p:cxnSp>
          <p:nvCxnSpPr>
            <p:cNvPr id="6159" name="AutoShape 12"/>
            <p:cNvCxnSpPr>
              <a:cxnSpLocks noChangeShapeType="1"/>
              <a:stCxn id="6152" idx="3"/>
              <a:endCxn id="6153" idx="0"/>
            </p:cNvCxnSpPr>
            <p:nvPr/>
          </p:nvCxnSpPr>
          <p:spPr bwMode="auto">
            <a:xfrm flipH="1">
              <a:off x="2304" y="1700"/>
              <a:ext cx="172" cy="364"/>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0" name="AutoShape 13"/>
            <p:cNvCxnSpPr>
              <a:cxnSpLocks noChangeShapeType="1"/>
              <a:stCxn id="6153" idx="3"/>
              <a:endCxn id="6155" idx="0"/>
            </p:cNvCxnSpPr>
            <p:nvPr/>
          </p:nvCxnSpPr>
          <p:spPr bwMode="auto">
            <a:xfrm flipH="1">
              <a:off x="2016" y="2228"/>
              <a:ext cx="220" cy="412"/>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1" name="AutoShape 14"/>
            <p:cNvCxnSpPr>
              <a:cxnSpLocks noChangeShapeType="1"/>
              <a:stCxn id="6153" idx="4"/>
              <a:endCxn id="6166" idx="0"/>
            </p:cNvCxnSpPr>
            <p:nvPr/>
          </p:nvCxnSpPr>
          <p:spPr bwMode="auto">
            <a:xfrm>
              <a:off x="2304" y="2256"/>
              <a:ext cx="144" cy="384"/>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2" name="AutoShape 15"/>
            <p:cNvCxnSpPr>
              <a:cxnSpLocks noChangeShapeType="1"/>
              <a:stCxn id="6166" idx="4"/>
              <a:endCxn id="6156" idx="0"/>
            </p:cNvCxnSpPr>
            <p:nvPr/>
          </p:nvCxnSpPr>
          <p:spPr bwMode="auto">
            <a:xfrm flipH="1">
              <a:off x="2256" y="2832"/>
              <a:ext cx="192" cy="336"/>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3" name="AutoShape 16"/>
            <p:cNvCxnSpPr>
              <a:cxnSpLocks noChangeShapeType="1"/>
              <a:stCxn id="6154" idx="4"/>
              <a:endCxn id="6157" idx="0"/>
            </p:cNvCxnSpPr>
            <p:nvPr/>
          </p:nvCxnSpPr>
          <p:spPr bwMode="auto">
            <a:xfrm>
              <a:off x="2880" y="2256"/>
              <a:ext cx="0" cy="384"/>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4" name="AutoShape 17"/>
            <p:cNvCxnSpPr>
              <a:cxnSpLocks noChangeShapeType="1"/>
              <a:stCxn id="6154" idx="5"/>
              <a:endCxn id="6158" idx="0"/>
            </p:cNvCxnSpPr>
            <p:nvPr/>
          </p:nvCxnSpPr>
          <p:spPr bwMode="auto">
            <a:xfrm>
              <a:off x="2948" y="2228"/>
              <a:ext cx="364" cy="412"/>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65" name="AutoShape 18"/>
            <p:cNvCxnSpPr>
              <a:cxnSpLocks noChangeShapeType="1"/>
              <a:stCxn id="6152" idx="5"/>
              <a:endCxn id="6154" idx="1"/>
            </p:cNvCxnSpPr>
            <p:nvPr/>
          </p:nvCxnSpPr>
          <p:spPr bwMode="auto">
            <a:xfrm>
              <a:off x="2612" y="1700"/>
              <a:ext cx="200" cy="392"/>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66" name="Oval 19"/>
            <p:cNvSpPr>
              <a:spLocks noChangeArrowheads="1"/>
            </p:cNvSpPr>
            <p:nvPr/>
          </p:nvSpPr>
          <p:spPr bwMode="auto">
            <a:xfrm>
              <a:off x="2352" y="2640"/>
              <a:ext cx="192" cy="192"/>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cxnSp>
        <p:nvCxnSpPr>
          <p:cNvPr id="97301" name="AutoShape 21"/>
          <p:cNvCxnSpPr>
            <a:cxnSpLocks noChangeShapeType="1"/>
            <a:stCxn id="6155" idx="4"/>
            <a:endCxn id="6157" idx="4"/>
          </p:cNvCxnSpPr>
          <p:nvPr/>
        </p:nvCxnSpPr>
        <p:spPr bwMode="auto">
          <a:xfrm rot="16200000" flipH="1">
            <a:off x="5638006" y="4648994"/>
            <a:ext cx="1588" cy="1371600"/>
          </a:xfrm>
          <a:prstGeom prst="curvedConnector3">
            <a:avLst>
              <a:gd name="adj1" fmla="val 14400000"/>
            </a:avLst>
          </a:prstGeom>
          <a:noFill/>
          <a:ln w="25400">
            <a:solidFill>
              <a:srgbClr val="FF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302" name="AutoShape 22"/>
          <p:cNvCxnSpPr>
            <a:cxnSpLocks noChangeShapeType="1"/>
            <a:stCxn id="6156" idx="6"/>
            <a:endCxn id="6158" idx="4"/>
          </p:cNvCxnSpPr>
          <p:nvPr/>
        </p:nvCxnSpPr>
        <p:spPr bwMode="auto">
          <a:xfrm flipV="1">
            <a:off x="5486400" y="5334000"/>
            <a:ext cx="1524000" cy="685800"/>
          </a:xfrm>
          <a:prstGeom prst="curvedConnector2">
            <a:avLst/>
          </a:prstGeom>
          <a:noFill/>
          <a:ln w="25400">
            <a:solidFill>
              <a:srgbClr val="FF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7301"/>
                                        </p:tgtEl>
                                        <p:attrNameLst>
                                          <p:attrName>style.visibility</p:attrName>
                                        </p:attrNameLst>
                                      </p:cBhvr>
                                      <p:to>
                                        <p:strVal val="visible"/>
                                      </p:to>
                                    </p:set>
                                    <p:animEffect transition="in" filter="wipe(left)">
                                      <p:cBhvr>
                                        <p:cTn id="7" dur="500"/>
                                        <p:tgtEl>
                                          <p:spTgt spid="9730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97302"/>
                                        </p:tgtEl>
                                        <p:attrNameLst>
                                          <p:attrName>style.visibility</p:attrName>
                                        </p:attrNameLst>
                                      </p:cBhvr>
                                      <p:to>
                                        <p:strVal val="visible"/>
                                      </p:to>
                                    </p:set>
                                    <p:animEffect transition="in" filter="wipe(down)">
                                      <p:cBhvr>
                                        <p:cTn id="11" dur="500"/>
                                        <p:tgtEl>
                                          <p:spTgt spid="973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344F313-7A2B-4825-9F99-4180C8CE9229}" type="slidenum">
              <a:rPr lang="en-US" altLang="zh-CN"/>
            </a:fld>
            <a:endParaRPr lang="en-US" altLang="zh-CN"/>
          </a:p>
        </p:txBody>
      </p:sp>
      <p:sp>
        <p:nvSpPr>
          <p:cNvPr id="7171" name="Rectangle 2"/>
          <p:cNvSpPr>
            <a:spLocks noGrp="1" noRot="1" noChangeArrowheads="1"/>
          </p:cNvSpPr>
          <p:nvPr>
            <p:ph type="title"/>
          </p:nvPr>
        </p:nvSpPr>
        <p:spPr/>
        <p:txBody>
          <a:bodyPr/>
          <a:lstStyle/>
          <a:p>
            <a:pPr eaLnBrk="1" hangingPunct="1"/>
            <a:r>
              <a:rPr lang="zh-CN" altLang="en-US"/>
              <a:t>新修公路</a:t>
            </a:r>
            <a:r>
              <a:rPr lang="en-US" altLang="zh-CN"/>
              <a:t>(4)</a:t>
            </a:r>
            <a:endParaRPr lang="en-US" altLang="zh-CN"/>
          </a:p>
        </p:txBody>
      </p:sp>
      <p:sp>
        <p:nvSpPr>
          <p:cNvPr id="7172" name="Rectangle 3"/>
          <p:cNvSpPr>
            <a:spLocks noGrp="1" noRot="1" noChangeArrowheads="1"/>
          </p:cNvSpPr>
          <p:nvPr>
            <p:ph type="body" idx="1"/>
          </p:nvPr>
        </p:nvSpPr>
        <p:spPr/>
        <p:txBody>
          <a:bodyPr/>
          <a:lstStyle/>
          <a:p>
            <a:pPr eaLnBrk="1" hangingPunct="1"/>
            <a:r>
              <a:rPr lang="zh-CN" altLang="en-US"/>
              <a:t>但并不是任意连接两个叶子结点就可以达到目标。假如连接了</a:t>
            </a:r>
            <a:r>
              <a:rPr lang="en-US" altLang="zh-CN"/>
              <a:t>a</a:t>
            </a:r>
            <a:r>
              <a:rPr lang="zh-CN" altLang="en-US"/>
              <a:t>与</a:t>
            </a:r>
            <a:r>
              <a:rPr lang="en-US" altLang="zh-CN"/>
              <a:t>b</a:t>
            </a:r>
            <a:r>
              <a:rPr lang="zh-CN" altLang="en-US"/>
              <a:t>，</a:t>
            </a:r>
            <a:r>
              <a:rPr lang="en-US" altLang="zh-CN"/>
              <a:t>c</a:t>
            </a:r>
            <a:r>
              <a:rPr lang="zh-CN" altLang="en-US"/>
              <a:t>与</a:t>
            </a:r>
            <a:r>
              <a:rPr lang="en-US" altLang="zh-CN"/>
              <a:t>d</a:t>
            </a:r>
            <a:r>
              <a:rPr lang="zh-CN" altLang="en-US"/>
              <a:t>，原图并没有变成一个块。</a:t>
            </a:r>
            <a:endParaRPr lang="zh-CN" altLang="en-US"/>
          </a:p>
        </p:txBody>
      </p:sp>
      <p:sp>
        <p:nvSpPr>
          <p:cNvPr id="7173" name="Oval 5"/>
          <p:cNvSpPr>
            <a:spLocks noChangeArrowheads="1"/>
          </p:cNvSpPr>
          <p:nvPr/>
        </p:nvSpPr>
        <p:spPr bwMode="auto">
          <a:xfrm>
            <a:off x="8077200" y="2971800"/>
            <a:ext cx="304800"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4" name="Oval 6"/>
          <p:cNvSpPr>
            <a:spLocks noChangeArrowheads="1"/>
          </p:cNvSpPr>
          <p:nvPr/>
        </p:nvSpPr>
        <p:spPr bwMode="auto">
          <a:xfrm>
            <a:off x="7696200" y="3810000"/>
            <a:ext cx="304800"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5" name="Oval 7"/>
          <p:cNvSpPr>
            <a:spLocks noChangeArrowheads="1"/>
          </p:cNvSpPr>
          <p:nvPr/>
        </p:nvSpPr>
        <p:spPr bwMode="auto">
          <a:xfrm>
            <a:off x="8610600" y="3810000"/>
            <a:ext cx="304800"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7176" name="Oval 8"/>
          <p:cNvSpPr>
            <a:spLocks noChangeArrowheads="1"/>
          </p:cNvSpPr>
          <p:nvPr/>
        </p:nvSpPr>
        <p:spPr bwMode="auto">
          <a:xfrm>
            <a:off x="7239000" y="4724400"/>
            <a:ext cx="304800"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a</a:t>
            </a:r>
            <a:endParaRPr lang="en-US" altLang="zh-CN" b="1"/>
          </a:p>
        </p:txBody>
      </p:sp>
      <p:sp>
        <p:nvSpPr>
          <p:cNvPr id="7177" name="Oval 9"/>
          <p:cNvSpPr>
            <a:spLocks noChangeArrowheads="1"/>
          </p:cNvSpPr>
          <p:nvPr/>
        </p:nvSpPr>
        <p:spPr bwMode="auto">
          <a:xfrm>
            <a:off x="7620000" y="5562600"/>
            <a:ext cx="304800"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b</a:t>
            </a:r>
            <a:endParaRPr lang="en-US" altLang="zh-CN" b="1"/>
          </a:p>
        </p:txBody>
      </p:sp>
      <p:sp>
        <p:nvSpPr>
          <p:cNvPr id="7178" name="Oval 10"/>
          <p:cNvSpPr>
            <a:spLocks noChangeArrowheads="1"/>
          </p:cNvSpPr>
          <p:nvPr/>
        </p:nvSpPr>
        <p:spPr bwMode="auto">
          <a:xfrm>
            <a:off x="8610600" y="4724400"/>
            <a:ext cx="304800"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c</a:t>
            </a:r>
            <a:endParaRPr lang="en-US" altLang="zh-CN" b="1"/>
          </a:p>
        </p:txBody>
      </p:sp>
      <p:sp>
        <p:nvSpPr>
          <p:cNvPr id="7179" name="Oval 11"/>
          <p:cNvSpPr>
            <a:spLocks noChangeArrowheads="1"/>
          </p:cNvSpPr>
          <p:nvPr/>
        </p:nvSpPr>
        <p:spPr bwMode="auto">
          <a:xfrm>
            <a:off x="9296400" y="4724400"/>
            <a:ext cx="304800"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d</a:t>
            </a:r>
            <a:endParaRPr lang="en-US" altLang="zh-CN" b="1"/>
          </a:p>
        </p:txBody>
      </p:sp>
      <p:cxnSp>
        <p:nvCxnSpPr>
          <p:cNvPr id="7180" name="AutoShape 12"/>
          <p:cNvCxnSpPr>
            <a:cxnSpLocks noChangeShapeType="1"/>
            <a:stCxn id="7173" idx="3"/>
            <a:endCxn id="7174" idx="0"/>
          </p:cNvCxnSpPr>
          <p:nvPr/>
        </p:nvCxnSpPr>
        <p:spPr bwMode="auto">
          <a:xfrm flipH="1">
            <a:off x="7848600" y="3232150"/>
            <a:ext cx="273050" cy="57785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1" name="AutoShape 13"/>
          <p:cNvCxnSpPr>
            <a:cxnSpLocks noChangeShapeType="1"/>
            <a:stCxn id="7174" idx="3"/>
            <a:endCxn id="7176" idx="0"/>
          </p:cNvCxnSpPr>
          <p:nvPr/>
        </p:nvCxnSpPr>
        <p:spPr bwMode="auto">
          <a:xfrm flipH="1">
            <a:off x="7391400" y="4070350"/>
            <a:ext cx="349250" cy="65405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2" name="AutoShape 14"/>
          <p:cNvCxnSpPr>
            <a:cxnSpLocks noChangeShapeType="1"/>
            <a:stCxn id="7174" idx="4"/>
            <a:endCxn id="7187" idx="0"/>
          </p:cNvCxnSpPr>
          <p:nvPr/>
        </p:nvCxnSpPr>
        <p:spPr bwMode="auto">
          <a:xfrm>
            <a:off x="7848600" y="4114800"/>
            <a:ext cx="228600" cy="60960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3" name="AutoShape 15"/>
          <p:cNvCxnSpPr>
            <a:cxnSpLocks noChangeShapeType="1"/>
            <a:stCxn id="7187" idx="4"/>
            <a:endCxn id="7177" idx="0"/>
          </p:cNvCxnSpPr>
          <p:nvPr/>
        </p:nvCxnSpPr>
        <p:spPr bwMode="auto">
          <a:xfrm flipH="1">
            <a:off x="7772400" y="5029200"/>
            <a:ext cx="304800" cy="53340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4" name="AutoShape 16"/>
          <p:cNvCxnSpPr>
            <a:cxnSpLocks noChangeShapeType="1"/>
            <a:stCxn id="7175" idx="4"/>
            <a:endCxn id="7178" idx="0"/>
          </p:cNvCxnSpPr>
          <p:nvPr/>
        </p:nvCxnSpPr>
        <p:spPr bwMode="auto">
          <a:xfrm>
            <a:off x="8763000" y="4114800"/>
            <a:ext cx="0" cy="60960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5" name="AutoShape 17"/>
          <p:cNvCxnSpPr>
            <a:cxnSpLocks noChangeShapeType="1"/>
            <a:stCxn id="7175" idx="5"/>
            <a:endCxn id="7179" idx="0"/>
          </p:cNvCxnSpPr>
          <p:nvPr/>
        </p:nvCxnSpPr>
        <p:spPr bwMode="auto">
          <a:xfrm>
            <a:off x="8870950" y="4070350"/>
            <a:ext cx="577850" cy="65405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86" name="AutoShape 18"/>
          <p:cNvCxnSpPr>
            <a:cxnSpLocks noChangeShapeType="1"/>
            <a:stCxn id="7173" idx="5"/>
            <a:endCxn id="7175" idx="1"/>
          </p:cNvCxnSpPr>
          <p:nvPr/>
        </p:nvCxnSpPr>
        <p:spPr bwMode="auto">
          <a:xfrm>
            <a:off x="8337550" y="3232150"/>
            <a:ext cx="317500" cy="62230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187" name="Oval 19"/>
          <p:cNvSpPr>
            <a:spLocks noChangeArrowheads="1"/>
          </p:cNvSpPr>
          <p:nvPr/>
        </p:nvSpPr>
        <p:spPr bwMode="auto">
          <a:xfrm>
            <a:off x="7924800" y="4724400"/>
            <a:ext cx="304800"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88597E3-E721-43CE-8D4A-694AE8C596EC}" type="slidenum">
              <a:rPr lang="en-US" altLang="zh-CN"/>
            </a:fld>
            <a:endParaRPr lang="en-US" altLang="zh-CN"/>
          </a:p>
        </p:txBody>
      </p:sp>
      <p:sp>
        <p:nvSpPr>
          <p:cNvPr id="8195" name="Rectangle 2"/>
          <p:cNvSpPr>
            <a:spLocks noGrp="1" noRot="1" noChangeArrowheads="1"/>
          </p:cNvSpPr>
          <p:nvPr>
            <p:ph type="title"/>
          </p:nvPr>
        </p:nvSpPr>
        <p:spPr/>
        <p:txBody>
          <a:bodyPr/>
          <a:lstStyle/>
          <a:p>
            <a:pPr eaLnBrk="1" hangingPunct="1"/>
            <a:r>
              <a:rPr lang="zh-CN" altLang="en-US"/>
              <a:t>新修公路</a:t>
            </a:r>
            <a:r>
              <a:rPr lang="en-US" altLang="zh-CN"/>
              <a:t>(5)</a:t>
            </a:r>
            <a:endParaRPr lang="en-US" altLang="zh-CN"/>
          </a:p>
        </p:txBody>
      </p:sp>
      <p:sp>
        <p:nvSpPr>
          <p:cNvPr id="8196" name="Rectangle 3"/>
          <p:cNvSpPr>
            <a:spLocks noGrp="1" noRot="1" noChangeArrowheads="1"/>
          </p:cNvSpPr>
          <p:nvPr>
            <p:ph type="body" idx="1"/>
          </p:nvPr>
        </p:nvSpPr>
        <p:spPr/>
        <p:txBody>
          <a:bodyPr/>
          <a:lstStyle/>
          <a:p>
            <a:pPr eaLnBrk="1" hangingPunct="1"/>
            <a:r>
              <a:rPr lang="zh-CN" altLang="en-US"/>
              <a:t>进一步分析刚才的算法，每次连接两个叶子结点之后，把新生成的圈压缩成为一个点，以前和圈上的点关联的点，都和新生成的这个“压缩点”相关联。于是原来的树在添加一条边之后，又变回了一棵树。</a:t>
            </a:r>
            <a:endParaRPr lang="zh-CN" altLang="en-US"/>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5B2C786-D3A9-4C51-8420-64EC31B70E10}" type="slidenum">
              <a:rPr lang="en-US" altLang="zh-CN"/>
            </a:fld>
            <a:endParaRPr lang="en-US" altLang="zh-CN"/>
          </a:p>
        </p:txBody>
      </p:sp>
      <p:sp>
        <p:nvSpPr>
          <p:cNvPr id="9219" name="Rectangle 2"/>
          <p:cNvSpPr>
            <a:spLocks noGrp="1" noRot="1" noChangeArrowheads="1"/>
          </p:cNvSpPr>
          <p:nvPr>
            <p:ph type="title"/>
          </p:nvPr>
        </p:nvSpPr>
        <p:spPr/>
        <p:txBody>
          <a:bodyPr/>
          <a:lstStyle/>
          <a:p>
            <a:pPr eaLnBrk="1" hangingPunct="1"/>
            <a:r>
              <a:rPr lang="zh-CN" altLang="en-US"/>
              <a:t>新修公路</a:t>
            </a:r>
            <a:r>
              <a:rPr lang="en-US" altLang="zh-CN"/>
              <a:t>(6)</a:t>
            </a:r>
            <a:endParaRPr lang="en-US" altLang="zh-CN"/>
          </a:p>
        </p:txBody>
      </p:sp>
      <p:sp>
        <p:nvSpPr>
          <p:cNvPr id="9220" name="Rectangle 3"/>
          <p:cNvSpPr>
            <a:spLocks noGrp="1" noRot="1" noChangeArrowheads="1"/>
          </p:cNvSpPr>
          <p:nvPr>
            <p:ph type="body" idx="1"/>
          </p:nvPr>
        </p:nvSpPr>
        <p:spPr/>
        <p:txBody>
          <a:bodyPr/>
          <a:lstStyle/>
          <a:p>
            <a:pPr eaLnBrk="1" hangingPunct="1"/>
            <a:r>
              <a:rPr lang="zh-CN" altLang="en-US"/>
              <a:t>在连接</a:t>
            </a:r>
            <a:r>
              <a:rPr lang="en-US" altLang="zh-CN"/>
              <a:t>a</a:t>
            </a:r>
            <a:r>
              <a:rPr lang="zh-CN" altLang="en-US"/>
              <a:t>与</a:t>
            </a:r>
            <a:r>
              <a:rPr lang="en-US" altLang="zh-CN"/>
              <a:t>c</a:t>
            </a:r>
            <a:r>
              <a:rPr lang="zh-CN" altLang="en-US"/>
              <a:t>之后，新生成的树只剩下</a:t>
            </a:r>
            <a:r>
              <a:rPr lang="en-US" altLang="zh-CN"/>
              <a:t>2</a:t>
            </a:r>
            <a:r>
              <a:rPr lang="zh-CN" altLang="en-US"/>
              <a:t>个叶子结点；连接</a:t>
            </a:r>
            <a:r>
              <a:rPr lang="en-US" altLang="zh-CN"/>
              <a:t>b</a:t>
            </a:r>
            <a:r>
              <a:rPr lang="zh-CN" altLang="en-US"/>
              <a:t>与</a:t>
            </a:r>
            <a:r>
              <a:rPr lang="en-US" altLang="zh-CN"/>
              <a:t>d</a:t>
            </a:r>
            <a:r>
              <a:rPr lang="zh-CN" altLang="en-US"/>
              <a:t>之后，树就被压缩成了一个点。</a:t>
            </a:r>
            <a:endParaRPr lang="zh-CN" altLang="en-US"/>
          </a:p>
        </p:txBody>
      </p:sp>
      <p:sp>
        <p:nvSpPr>
          <p:cNvPr id="9221" name="Oval 38"/>
          <p:cNvSpPr>
            <a:spLocks noChangeArrowheads="1"/>
          </p:cNvSpPr>
          <p:nvPr/>
        </p:nvSpPr>
        <p:spPr bwMode="auto">
          <a:xfrm>
            <a:off x="3173414" y="3124200"/>
            <a:ext cx="295275"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22" name="Oval 39"/>
          <p:cNvSpPr>
            <a:spLocks noChangeArrowheads="1"/>
          </p:cNvSpPr>
          <p:nvPr/>
        </p:nvSpPr>
        <p:spPr bwMode="auto">
          <a:xfrm>
            <a:off x="2805114" y="3962400"/>
            <a:ext cx="295275"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23" name="Oval 40"/>
          <p:cNvSpPr>
            <a:spLocks noChangeArrowheads="1"/>
          </p:cNvSpPr>
          <p:nvPr/>
        </p:nvSpPr>
        <p:spPr bwMode="auto">
          <a:xfrm>
            <a:off x="3689351" y="3962400"/>
            <a:ext cx="295275"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24" name="Oval 41"/>
          <p:cNvSpPr>
            <a:spLocks noChangeArrowheads="1"/>
          </p:cNvSpPr>
          <p:nvPr/>
        </p:nvSpPr>
        <p:spPr bwMode="auto">
          <a:xfrm>
            <a:off x="2362201" y="4876800"/>
            <a:ext cx="295275"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a</a:t>
            </a:r>
            <a:endParaRPr lang="en-US" altLang="zh-CN" b="1"/>
          </a:p>
        </p:txBody>
      </p:sp>
      <p:sp>
        <p:nvSpPr>
          <p:cNvPr id="9225" name="Oval 42"/>
          <p:cNvSpPr>
            <a:spLocks noChangeArrowheads="1"/>
          </p:cNvSpPr>
          <p:nvPr/>
        </p:nvSpPr>
        <p:spPr bwMode="auto">
          <a:xfrm>
            <a:off x="2730501" y="5715000"/>
            <a:ext cx="295275"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b</a:t>
            </a:r>
            <a:endParaRPr lang="en-US" altLang="zh-CN" b="1"/>
          </a:p>
        </p:txBody>
      </p:sp>
      <p:sp>
        <p:nvSpPr>
          <p:cNvPr id="9226" name="Oval 43"/>
          <p:cNvSpPr>
            <a:spLocks noChangeArrowheads="1"/>
          </p:cNvSpPr>
          <p:nvPr/>
        </p:nvSpPr>
        <p:spPr bwMode="auto">
          <a:xfrm>
            <a:off x="3689351" y="4876800"/>
            <a:ext cx="295275"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c</a:t>
            </a:r>
            <a:endParaRPr lang="en-US" altLang="zh-CN" b="1"/>
          </a:p>
        </p:txBody>
      </p:sp>
      <p:sp>
        <p:nvSpPr>
          <p:cNvPr id="9227" name="Oval 44"/>
          <p:cNvSpPr>
            <a:spLocks noChangeArrowheads="1"/>
          </p:cNvSpPr>
          <p:nvPr/>
        </p:nvSpPr>
        <p:spPr bwMode="auto">
          <a:xfrm>
            <a:off x="4352926" y="4876800"/>
            <a:ext cx="295275"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d</a:t>
            </a:r>
            <a:endParaRPr lang="en-US" altLang="zh-CN" b="1"/>
          </a:p>
        </p:txBody>
      </p:sp>
      <p:cxnSp>
        <p:nvCxnSpPr>
          <p:cNvPr id="9228" name="AutoShape 45"/>
          <p:cNvCxnSpPr>
            <a:cxnSpLocks noChangeShapeType="1"/>
            <a:stCxn id="9221" idx="3"/>
            <a:endCxn id="9222" idx="0"/>
          </p:cNvCxnSpPr>
          <p:nvPr/>
        </p:nvCxnSpPr>
        <p:spPr bwMode="auto">
          <a:xfrm flipH="1">
            <a:off x="2952751" y="3384550"/>
            <a:ext cx="263525" cy="57785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29" name="AutoShape 46"/>
          <p:cNvCxnSpPr>
            <a:cxnSpLocks noChangeShapeType="1"/>
            <a:stCxn id="9222" idx="3"/>
            <a:endCxn id="9224" idx="0"/>
          </p:cNvCxnSpPr>
          <p:nvPr/>
        </p:nvCxnSpPr>
        <p:spPr bwMode="auto">
          <a:xfrm flipH="1">
            <a:off x="2509839" y="4222750"/>
            <a:ext cx="338137" cy="65405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0" name="AutoShape 47"/>
          <p:cNvCxnSpPr>
            <a:cxnSpLocks noChangeShapeType="1"/>
            <a:stCxn id="9222" idx="4"/>
            <a:endCxn id="9235" idx="0"/>
          </p:cNvCxnSpPr>
          <p:nvPr/>
        </p:nvCxnSpPr>
        <p:spPr bwMode="auto">
          <a:xfrm>
            <a:off x="2952751" y="4267200"/>
            <a:ext cx="220663" cy="60960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1" name="AutoShape 48"/>
          <p:cNvCxnSpPr>
            <a:cxnSpLocks noChangeShapeType="1"/>
            <a:stCxn id="9235" idx="4"/>
            <a:endCxn id="9225" idx="0"/>
          </p:cNvCxnSpPr>
          <p:nvPr/>
        </p:nvCxnSpPr>
        <p:spPr bwMode="auto">
          <a:xfrm flipH="1">
            <a:off x="2878139" y="5181600"/>
            <a:ext cx="295275" cy="53340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2" name="AutoShape 49"/>
          <p:cNvCxnSpPr>
            <a:cxnSpLocks noChangeShapeType="1"/>
            <a:stCxn id="9223" idx="4"/>
            <a:endCxn id="9226" idx="0"/>
          </p:cNvCxnSpPr>
          <p:nvPr/>
        </p:nvCxnSpPr>
        <p:spPr bwMode="auto">
          <a:xfrm>
            <a:off x="3836988" y="4267200"/>
            <a:ext cx="0" cy="60960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3" name="AutoShape 50"/>
          <p:cNvCxnSpPr>
            <a:cxnSpLocks noChangeShapeType="1"/>
            <a:stCxn id="9223" idx="5"/>
            <a:endCxn id="9227" idx="0"/>
          </p:cNvCxnSpPr>
          <p:nvPr/>
        </p:nvCxnSpPr>
        <p:spPr bwMode="auto">
          <a:xfrm>
            <a:off x="3941763" y="4222750"/>
            <a:ext cx="558800" cy="65405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34" name="AutoShape 51"/>
          <p:cNvCxnSpPr>
            <a:cxnSpLocks noChangeShapeType="1"/>
            <a:stCxn id="9221" idx="5"/>
            <a:endCxn id="9223" idx="1"/>
          </p:cNvCxnSpPr>
          <p:nvPr/>
        </p:nvCxnSpPr>
        <p:spPr bwMode="auto">
          <a:xfrm>
            <a:off x="3425825" y="3384550"/>
            <a:ext cx="306388" cy="62230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235" name="Oval 52"/>
          <p:cNvSpPr>
            <a:spLocks noChangeArrowheads="1"/>
          </p:cNvSpPr>
          <p:nvPr/>
        </p:nvSpPr>
        <p:spPr bwMode="auto">
          <a:xfrm>
            <a:off x="3025776" y="4876800"/>
            <a:ext cx="295275"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0406" name="AutoShape 54"/>
          <p:cNvSpPr>
            <a:spLocks noChangeArrowheads="1"/>
          </p:cNvSpPr>
          <p:nvPr/>
        </p:nvSpPr>
        <p:spPr bwMode="auto">
          <a:xfrm>
            <a:off x="4495800" y="4114800"/>
            <a:ext cx="990600" cy="457200"/>
          </a:xfrm>
          <a:prstGeom prst="curvedUpArrow">
            <a:avLst>
              <a:gd name="adj1" fmla="val 43333"/>
              <a:gd name="adj2" fmla="val 86667"/>
              <a:gd name="adj3" fmla="val 3333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cxnSp>
        <p:nvCxnSpPr>
          <p:cNvPr id="9237" name="AutoShape 55"/>
          <p:cNvCxnSpPr>
            <a:cxnSpLocks noChangeShapeType="1"/>
            <a:stCxn id="9224" idx="4"/>
            <a:endCxn id="9226" idx="4"/>
          </p:cNvCxnSpPr>
          <p:nvPr/>
        </p:nvCxnSpPr>
        <p:spPr bwMode="auto">
          <a:xfrm rot="16200000" flipH="1">
            <a:off x="3172619" y="4518819"/>
            <a:ext cx="1588" cy="1327150"/>
          </a:xfrm>
          <a:prstGeom prst="curvedConnector3">
            <a:avLst>
              <a:gd name="adj1" fmla="val 14400000"/>
            </a:avLst>
          </a:prstGeom>
          <a:noFill/>
          <a:ln w="25400">
            <a:solidFill>
              <a:srgbClr val="FF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408" name="AutoShape 56"/>
          <p:cNvCxnSpPr>
            <a:cxnSpLocks noChangeShapeType="1"/>
            <a:stCxn id="100414" idx="6"/>
            <a:endCxn id="100416" idx="4"/>
          </p:cNvCxnSpPr>
          <p:nvPr/>
        </p:nvCxnSpPr>
        <p:spPr bwMode="auto">
          <a:xfrm flipV="1">
            <a:off x="6175376" y="4267200"/>
            <a:ext cx="760413" cy="762000"/>
          </a:xfrm>
          <a:prstGeom prst="curvedConnector2">
            <a:avLst/>
          </a:prstGeom>
          <a:noFill/>
          <a:ln w="25400">
            <a:solidFill>
              <a:srgbClr val="FF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410" name="Oval 58"/>
          <p:cNvSpPr>
            <a:spLocks noChangeArrowheads="1"/>
          </p:cNvSpPr>
          <p:nvPr/>
        </p:nvSpPr>
        <p:spPr bwMode="auto">
          <a:xfrm>
            <a:off x="6172201" y="3124200"/>
            <a:ext cx="307975" cy="304800"/>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0414" name="Oval 62"/>
          <p:cNvSpPr>
            <a:spLocks noChangeArrowheads="1"/>
          </p:cNvSpPr>
          <p:nvPr/>
        </p:nvSpPr>
        <p:spPr bwMode="auto">
          <a:xfrm>
            <a:off x="5867401" y="4876800"/>
            <a:ext cx="307975"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b</a:t>
            </a:r>
            <a:endParaRPr lang="en-US" altLang="zh-CN" b="1"/>
          </a:p>
        </p:txBody>
      </p:sp>
      <p:sp>
        <p:nvSpPr>
          <p:cNvPr id="100416" name="Oval 64"/>
          <p:cNvSpPr>
            <a:spLocks noChangeArrowheads="1"/>
          </p:cNvSpPr>
          <p:nvPr/>
        </p:nvSpPr>
        <p:spPr bwMode="auto">
          <a:xfrm>
            <a:off x="6781801" y="3962400"/>
            <a:ext cx="307975"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d</a:t>
            </a:r>
            <a:endParaRPr lang="en-US" altLang="zh-CN" b="1"/>
          </a:p>
        </p:txBody>
      </p:sp>
      <p:cxnSp>
        <p:nvCxnSpPr>
          <p:cNvPr id="100419" name="AutoShape 67"/>
          <p:cNvCxnSpPr>
            <a:cxnSpLocks noChangeShapeType="1"/>
            <a:stCxn id="100410" idx="3"/>
            <a:endCxn id="100424" idx="0"/>
          </p:cNvCxnSpPr>
          <p:nvPr/>
        </p:nvCxnSpPr>
        <p:spPr bwMode="auto">
          <a:xfrm flipH="1">
            <a:off x="5868988" y="3384550"/>
            <a:ext cx="347662" cy="57785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420" name="AutoShape 68"/>
          <p:cNvCxnSpPr>
            <a:cxnSpLocks noChangeShapeType="1"/>
            <a:stCxn id="100424" idx="4"/>
            <a:endCxn id="100414" idx="0"/>
          </p:cNvCxnSpPr>
          <p:nvPr/>
        </p:nvCxnSpPr>
        <p:spPr bwMode="auto">
          <a:xfrm>
            <a:off x="5868988" y="4267200"/>
            <a:ext cx="152400" cy="60960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422" name="AutoShape 70"/>
          <p:cNvCxnSpPr>
            <a:cxnSpLocks noChangeShapeType="1"/>
            <a:stCxn id="100410" idx="5"/>
            <a:endCxn id="100416" idx="0"/>
          </p:cNvCxnSpPr>
          <p:nvPr/>
        </p:nvCxnSpPr>
        <p:spPr bwMode="auto">
          <a:xfrm>
            <a:off x="6435726" y="3384550"/>
            <a:ext cx="500063" cy="577850"/>
          </a:xfrm>
          <a:prstGeom prst="straightConnector1">
            <a:avLst/>
          </a:prstGeom>
          <a:noFill/>
          <a:ln w="254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0424" name="Oval 72"/>
          <p:cNvSpPr>
            <a:spLocks noChangeArrowheads="1"/>
          </p:cNvSpPr>
          <p:nvPr/>
        </p:nvSpPr>
        <p:spPr bwMode="auto">
          <a:xfrm>
            <a:off x="5715001" y="3962400"/>
            <a:ext cx="307975" cy="304800"/>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0426" name="AutoShape 74"/>
          <p:cNvSpPr>
            <a:spLocks noChangeArrowheads="1"/>
          </p:cNvSpPr>
          <p:nvPr/>
        </p:nvSpPr>
        <p:spPr bwMode="auto">
          <a:xfrm>
            <a:off x="7391400" y="4114800"/>
            <a:ext cx="990600" cy="457200"/>
          </a:xfrm>
          <a:prstGeom prst="curvedUpArrow">
            <a:avLst>
              <a:gd name="adj1" fmla="val 43333"/>
              <a:gd name="adj2" fmla="val 86667"/>
              <a:gd name="adj3" fmla="val 3333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0444" name="Oval 92"/>
          <p:cNvSpPr>
            <a:spLocks noChangeArrowheads="1"/>
          </p:cNvSpPr>
          <p:nvPr/>
        </p:nvSpPr>
        <p:spPr bwMode="auto">
          <a:xfrm>
            <a:off x="8763000" y="4038600"/>
            <a:ext cx="304800" cy="304800"/>
          </a:xfrm>
          <a:prstGeom prst="ellipse">
            <a:avLst/>
          </a:prstGeom>
          <a:solidFill>
            <a:schemeClr val="hlink"/>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0406"/>
                                        </p:tgtEl>
                                        <p:attrNameLst>
                                          <p:attrName>style.visibility</p:attrName>
                                        </p:attrNameLst>
                                      </p:cBhvr>
                                      <p:to>
                                        <p:strVal val="visible"/>
                                      </p:to>
                                    </p:set>
                                    <p:animEffect transition="in" filter="wipe(left)">
                                      <p:cBhvr>
                                        <p:cTn id="7" dur="500"/>
                                        <p:tgtEl>
                                          <p:spTgt spid="10040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00408"/>
                                        </p:tgtEl>
                                        <p:attrNameLst>
                                          <p:attrName>style.visibility</p:attrName>
                                        </p:attrNameLst>
                                      </p:cBhvr>
                                      <p:to>
                                        <p:strVal val="visible"/>
                                      </p:to>
                                    </p:set>
                                    <p:animEffect transition="in" filter="fade">
                                      <p:cBhvr>
                                        <p:cTn id="11" dur="1000"/>
                                        <p:tgtEl>
                                          <p:spTgt spid="100408"/>
                                        </p:tgtEl>
                                      </p:cBhvr>
                                    </p:animEffect>
                                    <p:anim calcmode="lin" valueType="num">
                                      <p:cBhvr>
                                        <p:cTn id="12" dur="1000" fill="hold"/>
                                        <p:tgtEl>
                                          <p:spTgt spid="100408"/>
                                        </p:tgtEl>
                                        <p:attrNameLst>
                                          <p:attrName>ppt_x</p:attrName>
                                        </p:attrNameLst>
                                      </p:cBhvr>
                                      <p:tavLst>
                                        <p:tav tm="0">
                                          <p:val>
                                            <p:strVal val="#ppt_x"/>
                                          </p:val>
                                        </p:tav>
                                        <p:tav tm="100000">
                                          <p:val>
                                            <p:strVal val="#ppt_x"/>
                                          </p:val>
                                        </p:tav>
                                      </p:tavLst>
                                    </p:anim>
                                    <p:anim calcmode="lin" valueType="num">
                                      <p:cBhvr>
                                        <p:cTn id="13" dur="1000" fill="hold"/>
                                        <p:tgtEl>
                                          <p:spTgt spid="100408"/>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100410"/>
                                        </p:tgtEl>
                                        <p:attrNameLst>
                                          <p:attrName>style.visibility</p:attrName>
                                        </p:attrNameLst>
                                      </p:cBhvr>
                                      <p:to>
                                        <p:strVal val="visible"/>
                                      </p:to>
                                    </p:set>
                                    <p:animEffect transition="in" filter="fade">
                                      <p:cBhvr>
                                        <p:cTn id="16" dur="1000"/>
                                        <p:tgtEl>
                                          <p:spTgt spid="100410"/>
                                        </p:tgtEl>
                                      </p:cBhvr>
                                    </p:animEffect>
                                    <p:anim calcmode="lin" valueType="num">
                                      <p:cBhvr>
                                        <p:cTn id="17" dur="1000" fill="hold"/>
                                        <p:tgtEl>
                                          <p:spTgt spid="100410"/>
                                        </p:tgtEl>
                                        <p:attrNameLst>
                                          <p:attrName>ppt_x</p:attrName>
                                        </p:attrNameLst>
                                      </p:cBhvr>
                                      <p:tavLst>
                                        <p:tav tm="0">
                                          <p:val>
                                            <p:strVal val="#ppt_x"/>
                                          </p:val>
                                        </p:tav>
                                        <p:tav tm="100000">
                                          <p:val>
                                            <p:strVal val="#ppt_x"/>
                                          </p:val>
                                        </p:tav>
                                      </p:tavLst>
                                    </p:anim>
                                    <p:anim calcmode="lin" valueType="num">
                                      <p:cBhvr>
                                        <p:cTn id="18" dur="1000" fill="hold"/>
                                        <p:tgtEl>
                                          <p:spTgt spid="100410"/>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00414"/>
                                        </p:tgtEl>
                                        <p:attrNameLst>
                                          <p:attrName>style.visibility</p:attrName>
                                        </p:attrNameLst>
                                      </p:cBhvr>
                                      <p:to>
                                        <p:strVal val="visible"/>
                                      </p:to>
                                    </p:set>
                                    <p:animEffect transition="in" filter="fade">
                                      <p:cBhvr>
                                        <p:cTn id="21" dur="1000"/>
                                        <p:tgtEl>
                                          <p:spTgt spid="100414"/>
                                        </p:tgtEl>
                                      </p:cBhvr>
                                    </p:animEffect>
                                    <p:anim calcmode="lin" valueType="num">
                                      <p:cBhvr>
                                        <p:cTn id="22" dur="1000" fill="hold"/>
                                        <p:tgtEl>
                                          <p:spTgt spid="100414"/>
                                        </p:tgtEl>
                                        <p:attrNameLst>
                                          <p:attrName>ppt_x</p:attrName>
                                        </p:attrNameLst>
                                      </p:cBhvr>
                                      <p:tavLst>
                                        <p:tav tm="0">
                                          <p:val>
                                            <p:strVal val="#ppt_x"/>
                                          </p:val>
                                        </p:tav>
                                        <p:tav tm="100000">
                                          <p:val>
                                            <p:strVal val="#ppt_x"/>
                                          </p:val>
                                        </p:tav>
                                      </p:tavLst>
                                    </p:anim>
                                    <p:anim calcmode="lin" valueType="num">
                                      <p:cBhvr>
                                        <p:cTn id="23" dur="1000" fill="hold"/>
                                        <p:tgtEl>
                                          <p:spTgt spid="100414"/>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00416"/>
                                        </p:tgtEl>
                                        <p:attrNameLst>
                                          <p:attrName>style.visibility</p:attrName>
                                        </p:attrNameLst>
                                      </p:cBhvr>
                                      <p:to>
                                        <p:strVal val="visible"/>
                                      </p:to>
                                    </p:set>
                                    <p:animEffect transition="in" filter="fade">
                                      <p:cBhvr>
                                        <p:cTn id="26" dur="1000"/>
                                        <p:tgtEl>
                                          <p:spTgt spid="100416"/>
                                        </p:tgtEl>
                                      </p:cBhvr>
                                    </p:animEffect>
                                    <p:anim calcmode="lin" valueType="num">
                                      <p:cBhvr>
                                        <p:cTn id="27" dur="1000" fill="hold"/>
                                        <p:tgtEl>
                                          <p:spTgt spid="100416"/>
                                        </p:tgtEl>
                                        <p:attrNameLst>
                                          <p:attrName>ppt_x</p:attrName>
                                        </p:attrNameLst>
                                      </p:cBhvr>
                                      <p:tavLst>
                                        <p:tav tm="0">
                                          <p:val>
                                            <p:strVal val="#ppt_x"/>
                                          </p:val>
                                        </p:tav>
                                        <p:tav tm="100000">
                                          <p:val>
                                            <p:strVal val="#ppt_x"/>
                                          </p:val>
                                        </p:tav>
                                      </p:tavLst>
                                    </p:anim>
                                    <p:anim calcmode="lin" valueType="num">
                                      <p:cBhvr>
                                        <p:cTn id="28" dur="1000" fill="hold"/>
                                        <p:tgtEl>
                                          <p:spTgt spid="100416"/>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100419"/>
                                        </p:tgtEl>
                                        <p:attrNameLst>
                                          <p:attrName>style.visibility</p:attrName>
                                        </p:attrNameLst>
                                      </p:cBhvr>
                                      <p:to>
                                        <p:strVal val="visible"/>
                                      </p:to>
                                    </p:set>
                                    <p:animEffect transition="in" filter="fade">
                                      <p:cBhvr>
                                        <p:cTn id="31" dur="1000"/>
                                        <p:tgtEl>
                                          <p:spTgt spid="100419"/>
                                        </p:tgtEl>
                                      </p:cBhvr>
                                    </p:animEffect>
                                    <p:anim calcmode="lin" valueType="num">
                                      <p:cBhvr>
                                        <p:cTn id="32" dur="1000" fill="hold"/>
                                        <p:tgtEl>
                                          <p:spTgt spid="100419"/>
                                        </p:tgtEl>
                                        <p:attrNameLst>
                                          <p:attrName>ppt_x</p:attrName>
                                        </p:attrNameLst>
                                      </p:cBhvr>
                                      <p:tavLst>
                                        <p:tav tm="0">
                                          <p:val>
                                            <p:strVal val="#ppt_x"/>
                                          </p:val>
                                        </p:tav>
                                        <p:tav tm="100000">
                                          <p:val>
                                            <p:strVal val="#ppt_x"/>
                                          </p:val>
                                        </p:tav>
                                      </p:tavLst>
                                    </p:anim>
                                    <p:anim calcmode="lin" valueType="num">
                                      <p:cBhvr>
                                        <p:cTn id="33" dur="1000" fill="hold"/>
                                        <p:tgtEl>
                                          <p:spTgt spid="100419"/>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00420"/>
                                        </p:tgtEl>
                                        <p:attrNameLst>
                                          <p:attrName>style.visibility</p:attrName>
                                        </p:attrNameLst>
                                      </p:cBhvr>
                                      <p:to>
                                        <p:strVal val="visible"/>
                                      </p:to>
                                    </p:set>
                                    <p:animEffect transition="in" filter="fade">
                                      <p:cBhvr>
                                        <p:cTn id="36" dur="1000"/>
                                        <p:tgtEl>
                                          <p:spTgt spid="100420"/>
                                        </p:tgtEl>
                                      </p:cBhvr>
                                    </p:animEffect>
                                    <p:anim calcmode="lin" valueType="num">
                                      <p:cBhvr>
                                        <p:cTn id="37" dur="1000" fill="hold"/>
                                        <p:tgtEl>
                                          <p:spTgt spid="100420"/>
                                        </p:tgtEl>
                                        <p:attrNameLst>
                                          <p:attrName>ppt_x</p:attrName>
                                        </p:attrNameLst>
                                      </p:cBhvr>
                                      <p:tavLst>
                                        <p:tav tm="0">
                                          <p:val>
                                            <p:strVal val="#ppt_x"/>
                                          </p:val>
                                        </p:tav>
                                        <p:tav tm="100000">
                                          <p:val>
                                            <p:strVal val="#ppt_x"/>
                                          </p:val>
                                        </p:tav>
                                      </p:tavLst>
                                    </p:anim>
                                    <p:anim calcmode="lin" valueType="num">
                                      <p:cBhvr>
                                        <p:cTn id="38" dur="1000" fill="hold"/>
                                        <p:tgtEl>
                                          <p:spTgt spid="100420"/>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00422"/>
                                        </p:tgtEl>
                                        <p:attrNameLst>
                                          <p:attrName>style.visibility</p:attrName>
                                        </p:attrNameLst>
                                      </p:cBhvr>
                                      <p:to>
                                        <p:strVal val="visible"/>
                                      </p:to>
                                    </p:set>
                                    <p:animEffect transition="in" filter="fade">
                                      <p:cBhvr>
                                        <p:cTn id="41" dur="1000"/>
                                        <p:tgtEl>
                                          <p:spTgt spid="100422"/>
                                        </p:tgtEl>
                                      </p:cBhvr>
                                    </p:animEffect>
                                    <p:anim calcmode="lin" valueType="num">
                                      <p:cBhvr>
                                        <p:cTn id="42" dur="1000" fill="hold"/>
                                        <p:tgtEl>
                                          <p:spTgt spid="100422"/>
                                        </p:tgtEl>
                                        <p:attrNameLst>
                                          <p:attrName>ppt_x</p:attrName>
                                        </p:attrNameLst>
                                      </p:cBhvr>
                                      <p:tavLst>
                                        <p:tav tm="0">
                                          <p:val>
                                            <p:strVal val="#ppt_x"/>
                                          </p:val>
                                        </p:tav>
                                        <p:tav tm="100000">
                                          <p:val>
                                            <p:strVal val="#ppt_x"/>
                                          </p:val>
                                        </p:tav>
                                      </p:tavLst>
                                    </p:anim>
                                    <p:anim calcmode="lin" valueType="num">
                                      <p:cBhvr>
                                        <p:cTn id="43" dur="1000" fill="hold"/>
                                        <p:tgtEl>
                                          <p:spTgt spid="100422"/>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0424"/>
                                        </p:tgtEl>
                                        <p:attrNameLst>
                                          <p:attrName>style.visibility</p:attrName>
                                        </p:attrNameLst>
                                      </p:cBhvr>
                                      <p:to>
                                        <p:strVal val="visible"/>
                                      </p:to>
                                    </p:set>
                                    <p:animEffect transition="in" filter="fade">
                                      <p:cBhvr>
                                        <p:cTn id="46" dur="1000"/>
                                        <p:tgtEl>
                                          <p:spTgt spid="100424"/>
                                        </p:tgtEl>
                                      </p:cBhvr>
                                    </p:animEffect>
                                    <p:anim calcmode="lin" valueType="num">
                                      <p:cBhvr>
                                        <p:cTn id="47" dur="1000" fill="hold"/>
                                        <p:tgtEl>
                                          <p:spTgt spid="100424"/>
                                        </p:tgtEl>
                                        <p:attrNameLst>
                                          <p:attrName>ppt_x</p:attrName>
                                        </p:attrNameLst>
                                      </p:cBhvr>
                                      <p:tavLst>
                                        <p:tav tm="0">
                                          <p:val>
                                            <p:strVal val="#ppt_x"/>
                                          </p:val>
                                        </p:tav>
                                        <p:tav tm="100000">
                                          <p:val>
                                            <p:strVal val="#ppt_x"/>
                                          </p:val>
                                        </p:tav>
                                      </p:tavLst>
                                    </p:anim>
                                    <p:anim calcmode="lin" valueType="num">
                                      <p:cBhvr>
                                        <p:cTn id="48" dur="1000" fill="hold"/>
                                        <p:tgtEl>
                                          <p:spTgt spid="100424"/>
                                        </p:tgtEl>
                                        <p:attrNameLst>
                                          <p:attrName>ppt_y</p:attrName>
                                        </p:attrNameLst>
                                      </p:cBhvr>
                                      <p:tavLst>
                                        <p:tav tm="0">
                                          <p:val>
                                            <p:strVal val="#ppt_y+.1"/>
                                          </p:val>
                                        </p:tav>
                                        <p:tav tm="100000">
                                          <p:val>
                                            <p:strVal val="#ppt_y"/>
                                          </p:val>
                                        </p:tav>
                                      </p:tavLst>
                                    </p:anim>
                                  </p:childTnLst>
                                </p:cTn>
                              </p:par>
                            </p:childTnLst>
                          </p:cTn>
                        </p:par>
                        <p:par>
                          <p:cTn id="49" fill="hold">
                            <p:stCondLst>
                              <p:cond delay="1500"/>
                            </p:stCondLst>
                            <p:childTnLst>
                              <p:par>
                                <p:cTn id="50" presetID="22" presetClass="entr" presetSubtype="8" fill="hold" grpId="0" nodeType="afterEffect">
                                  <p:stCondLst>
                                    <p:cond delay="0"/>
                                  </p:stCondLst>
                                  <p:childTnLst>
                                    <p:set>
                                      <p:cBhvr>
                                        <p:cTn id="51" dur="1" fill="hold">
                                          <p:stCondLst>
                                            <p:cond delay="0"/>
                                          </p:stCondLst>
                                        </p:cTn>
                                        <p:tgtEl>
                                          <p:spTgt spid="100426"/>
                                        </p:tgtEl>
                                        <p:attrNameLst>
                                          <p:attrName>style.visibility</p:attrName>
                                        </p:attrNameLst>
                                      </p:cBhvr>
                                      <p:to>
                                        <p:strVal val="visible"/>
                                      </p:to>
                                    </p:set>
                                    <p:animEffect transition="in" filter="wipe(left)">
                                      <p:cBhvr>
                                        <p:cTn id="52" dur="500"/>
                                        <p:tgtEl>
                                          <p:spTgt spid="100426"/>
                                        </p:tgtEl>
                                      </p:cBhvr>
                                    </p:animEffect>
                                  </p:childTnLst>
                                </p:cTn>
                              </p:par>
                            </p:childTnLst>
                          </p:cTn>
                        </p:par>
                        <p:par>
                          <p:cTn id="53" fill="hold">
                            <p:stCondLst>
                              <p:cond delay="2000"/>
                            </p:stCondLst>
                            <p:childTnLst>
                              <p:par>
                                <p:cTn id="54" presetID="42" presetClass="entr" presetSubtype="0" fill="hold" grpId="0" nodeType="afterEffect">
                                  <p:stCondLst>
                                    <p:cond delay="0"/>
                                  </p:stCondLst>
                                  <p:childTnLst>
                                    <p:set>
                                      <p:cBhvr>
                                        <p:cTn id="55" dur="1" fill="hold">
                                          <p:stCondLst>
                                            <p:cond delay="0"/>
                                          </p:stCondLst>
                                        </p:cTn>
                                        <p:tgtEl>
                                          <p:spTgt spid="100444"/>
                                        </p:tgtEl>
                                        <p:attrNameLst>
                                          <p:attrName>style.visibility</p:attrName>
                                        </p:attrNameLst>
                                      </p:cBhvr>
                                      <p:to>
                                        <p:strVal val="visible"/>
                                      </p:to>
                                    </p:set>
                                    <p:animEffect transition="in" filter="fade">
                                      <p:cBhvr>
                                        <p:cTn id="56" dur="1000"/>
                                        <p:tgtEl>
                                          <p:spTgt spid="100444"/>
                                        </p:tgtEl>
                                      </p:cBhvr>
                                    </p:animEffect>
                                    <p:anim calcmode="lin" valueType="num">
                                      <p:cBhvr>
                                        <p:cTn id="57" dur="1000" fill="hold"/>
                                        <p:tgtEl>
                                          <p:spTgt spid="100444"/>
                                        </p:tgtEl>
                                        <p:attrNameLst>
                                          <p:attrName>ppt_x</p:attrName>
                                        </p:attrNameLst>
                                      </p:cBhvr>
                                      <p:tavLst>
                                        <p:tav tm="0">
                                          <p:val>
                                            <p:strVal val="#ppt_x"/>
                                          </p:val>
                                        </p:tav>
                                        <p:tav tm="100000">
                                          <p:val>
                                            <p:strVal val="#ppt_x"/>
                                          </p:val>
                                        </p:tav>
                                      </p:tavLst>
                                    </p:anim>
                                    <p:anim calcmode="lin" valueType="num">
                                      <p:cBhvr>
                                        <p:cTn id="58" dur="1000" fill="hold"/>
                                        <p:tgtEl>
                                          <p:spTgt spid="1004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06" grpId="0" animBg="1"/>
      <p:bldP spid="100410" grpId="0" animBg="1"/>
      <p:bldP spid="100414" grpId="0" animBg="1"/>
      <p:bldP spid="100416" grpId="0" animBg="1"/>
      <p:bldP spid="100424" grpId="0" animBg="1"/>
      <p:bldP spid="100426" grpId="0" animBg="1"/>
      <p:bldP spid="10044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38F0753-4393-4496-ACE2-266A15AE1BBF}" type="slidenum">
              <a:rPr lang="en-US" altLang="zh-CN"/>
            </a:fld>
            <a:endParaRPr lang="en-US" altLang="zh-CN"/>
          </a:p>
        </p:txBody>
      </p:sp>
      <p:sp>
        <p:nvSpPr>
          <p:cNvPr id="10243" name="Rectangle 2"/>
          <p:cNvSpPr>
            <a:spLocks noGrp="1" noRot="1" noChangeArrowheads="1"/>
          </p:cNvSpPr>
          <p:nvPr>
            <p:ph type="title"/>
          </p:nvPr>
        </p:nvSpPr>
        <p:spPr/>
        <p:txBody>
          <a:bodyPr/>
          <a:lstStyle/>
          <a:p>
            <a:pPr eaLnBrk="1" hangingPunct="1"/>
            <a:r>
              <a:rPr lang="zh-CN" altLang="en-US"/>
              <a:t>新修公路</a:t>
            </a:r>
            <a:r>
              <a:rPr lang="en-US" altLang="zh-CN"/>
              <a:t>(7)</a:t>
            </a:r>
            <a:endParaRPr lang="en-US" altLang="zh-CN"/>
          </a:p>
        </p:txBody>
      </p:sp>
      <p:sp>
        <p:nvSpPr>
          <p:cNvPr id="10244" name="Rectangle 3"/>
          <p:cNvSpPr>
            <a:spLocks noGrp="1" noRot="1" noChangeArrowheads="1"/>
          </p:cNvSpPr>
          <p:nvPr>
            <p:ph type="body" idx="1"/>
          </p:nvPr>
        </p:nvSpPr>
        <p:spPr/>
        <p:txBody>
          <a:bodyPr/>
          <a:lstStyle/>
          <a:p>
            <a:pPr eaLnBrk="1" hangingPunct="1"/>
            <a:r>
              <a:rPr lang="zh-CN" altLang="en-US"/>
              <a:t>而如果先连接</a:t>
            </a:r>
            <a:r>
              <a:rPr lang="en-US" altLang="zh-CN"/>
              <a:t>a</a:t>
            </a:r>
            <a:r>
              <a:rPr lang="zh-CN" altLang="en-US"/>
              <a:t>与</a:t>
            </a:r>
            <a:r>
              <a:rPr lang="en-US" altLang="zh-CN"/>
              <a:t>b</a:t>
            </a:r>
            <a:r>
              <a:rPr lang="zh-CN" altLang="en-US"/>
              <a:t>，那么新生成的树会剩下</a:t>
            </a:r>
            <a:r>
              <a:rPr lang="en-US" altLang="zh-CN"/>
              <a:t>3</a:t>
            </a:r>
            <a:r>
              <a:rPr lang="zh-CN" altLang="en-US"/>
              <a:t>个叶子结点，连接</a:t>
            </a:r>
            <a:r>
              <a:rPr lang="en-US" altLang="zh-CN"/>
              <a:t>c</a:t>
            </a:r>
            <a:r>
              <a:rPr lang="zh-CN" altLang="en-US"/>
              <a:t>与</a:t>
            </a:r>
            <a:r>
              <a:rPr lang="en-US" altLang="zh-CN"/>
              <a:t>d</a:t>
            </a:r>
            <a:r>
              <a:rPr lang="zh-CN" altLang="en-US"/>
              <a:t>之后，树中还剩</a:t>
            </a:r>
            <a:r>
              <a:rPr lang="en-US" altLang="zh-CN"/>
              <a:t>2</a:t>
            </a:r>
            <a:r>
              <a:rPr lang="zh-CN" altLang="en-US"/>
              <a:t>个叶子结点，所以这种连接方法还需要多连一条边。</a:t>
            </a:r>
            <a:endParaRPr lang="zh-CN" altLang="en-US"/>
          </a:p>
          <a:p>
            <a:pPr eaLnBrk="1" hangingPunct="1"/>
            <a:r>
              <a:rPr lang="zh-CN" altLang="en-US"/>
              <a:t>现在的问题是，是否一定能找出这样子的两个叶子结点，使得压缩成的点不会成为新的叶子节点呢？</a:t>
            </a:r>
            <a:endParaRPr lang="zh-CN" altLang="en-US"/>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6A56857-6270-4878-9BE9-FD6CDD87AA55}" type="slidenum">
              <a:rPr lang="en-US" altLang="zh-CN"/>
            </a:fld>
            <a:endParaRPr lang="en-US" altLang="zh-CN"/>
          </a:p>
        </p:txBody>
      </p:sp>
      <p:sp>
        <p:nvSpPr>
          <p:cNvPr id="11267" name="Rectangle 2"/>
          <p:cNvSpPr>
            <a:spLocks noGrp="1" noRot="1" noChangeArrowheads="1"/>
          </p:cNvSpPr>
          <p:nvPr>
            <p:ph type="title"/>
          </p:nvPr>
        </p:nvSpPr>
        <p:spPr/>
        <p:txBody>
          <a:bodyPr/>
          <a:lstStyle/>
          <a:p>
            <a:pPr eaLnBrk="1" hangingPunct="1"/>
            <a:r>
              <a:rPr lang="zh-CN" altLang="en-US"/>
              <a:t>新修公路</a:t>
            </a:r>
            <a:r>
              <a:rPr lang="en-US" altLang="zh-CN"/>
              <a:t>(8)</a:t>
            </a:r>
            <a:endParaRPr lang="en-US" altLang="zh-CN"/>
          </a:p>
        </p:txBody>
      </p:sp>
      <p:sp>
        <p:nvSpPr>
          <p:cNvPr id="11268" name="Rectangle 3"/>
          <p:cNvSpPr>
            <a:spLocks noGrp="1" noRot="1" noChangeArrowheads="1"/>
          </p:cNvSpPr>
          <p:nvPr>
            <p:ph type="body" idx="1"/>
          </p:nvPr>
        </p:nvSpPr>
        <p:spPr/>
        <p:txBody>
          <a:bodyPr/>
          <a:lstStyle/>
          <a:p>
            <a:pPr eaLnBrk="1" hangingPunct="1">
              <a:lnSpc>
                <a:spcPct val="90000"/>
              </a:lnSpc>
            </a:pPr>
            <a:r>
              <a:rPr lang="zh-CN" altLang="en-US"/>
              <a:t>连接的两个点的那条树中的唯一路径上，如果除了它们的最近公共祖先到自己的父亲有连边以外，其他的结点没有别的分叉，那么连接这两个点之后缩圈得到的点将会是一个叶子结点。</a:t>
            </a:r>
            <a:endParaRPr lang="zh-CN" altLang="en-US"/>
          </a:p>
          <a:p>
            <a:pPr eaLnBrk="1" hangingPunct="1">
              <a:lnSpc>
                <a:spcPct val="90000"/>
              </a:lnSpc>
            </a:pPr>
            <a:r>
              <a:rPr lang="zh-CN" altLang="en-US"/>
              <a:t>假设图中的任意两个叶子连接之后，都会多产生一个叶子结点。</a:t>
            </a:r>
            <a:endParaRPr lang="zh-CN" altLang="en-US"/>
          </a:p>
          <a:p>
            <a:pPr eaLnBrk="1" hangingPunct="1">
              <a:lnSpc>
                <a:spcPct val="90000"/>
              </a:lnSpc>
            </a:pPr>
            <a:r>
              <a:rPr lang="zh-CN" altLang="en-US"/>
              <a:t>当图中的叶子结点是</a:t>
            </a:r>
            <a:r>
              <a:rPr lang="en-US" altLang="zh-CN"/>
              <a:t>2</a:t>
            </a:r>
            <a:r>
              <a:rPr lang="zh-CN" altLang="en-US"/>
              <a:t>个或者</a:t>
            </a:r>
            <a:r>
              <a:rPr lang="en-US" altLang="zh-CN"/>
              <a:t>3</a:t>
            </a:r>
            <a:r>
              <a:rPr lang="zh-CN" altLang="en-US"/>
              <a:t>个的时候，怎么连都没有区别。</a:t>
            </a:r>
            <a:endParaRPr lang="zh-CN" altLang="en-US"/>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CE7EF4-C1D0-459E-8E97-03A58C33B0F2}" type="slidenum">
              <a:rPr lang="en-US" altLang="zh-CN"/>
            </a:fld>
            <a:endParaRPr lang="en-US" altLang="zh-CN"/>
          </a:p>
        </p:txBody>
      </p:sp>
      <p:sp>
        <p:nvSpPr>
          <p:cNvPr id="12291" name="Rectangle 2"/>
          <p:cNvSpPr>
            <a:spLocks noGrp="1" noRot="1" noChangeArrowheads="1"/>
          </p:cNvSpPr>
          <p:nvPr>
            <p:ph type="title"/>
          </p:nvPr>
        </p:nvSpPr>
        <p:spPr/>
        <p:txBody>
          <a:bodyPr/>
          <a:lstStyle/>
          <a:p>
            <a:pPr eaLnBrk="1" hangingPunct="1"/>
            <a:r>
              <a:rPr lang="zh-CN" altLang="en-US"/>
              <a:t>新修公路</a:t>
            </a:r>
            <a:r>
              <a:rPr lang="en-US" altLang="zh-CN"/>
              <a:t>(9)</a:t>
            </a:r>
            <a:endParaRPr lang="en-US" altLang="zh-CN"/>
          </a:p>
        </p:txBody>
      </p:sp>
      <p:sp>
        <p:nvSpPr>
          <p:cNvPr id="12292" name="Rectangle 3"/>
          <p:cNvSpPr>
            <a:spLocks noGrp="1" noRot="1" noChangeArrowheads="1"/>
          </p:cNvSpPr>
          <p:nvPr>
            <p:ph type="body" idx="1"/>
          </p:nvPr>
        </p:nvSpPr>
        <p:spPr/>
        <p:txBody>
          <a:bodyPr/>
          <a:lstStyle/>
          <a:p>
            <a:pPr eaLnBrk="1" hangingPunct="1"/>
            <a:r>
              <a:rPr lang="zh-CN" altLang="en-US"/>
              <a:t>当图中的叶子结点有</a:t>
            </a:r>
            <a:r>
              <a:rPr lang="en-US" altLang="zh-CN"/>
              <a:t>4</a:t>
            </a:r>
            <a:r>
              <a:rPr lang="zh-CN" altLang="en-US"/>
              <a:t>个的时候，</a:t>
            </a:r>
            <a:r>
              <a:rPr lang="en-US" altLang="zh-CN"/>
              <a:t>a</a:t>
            </a:r>
            <a:r>
              <a:rPr lang="zh-CN" altLang="en-US"/>
              <a:t>和</a:t>
            </a:r>
            <a:r>
              <a:rPr lang="en-US" altLang="zh-CN"/>
              <a:t>b</a:t>
            </a:r>
            <a:r>
              <a:rPr lang="zh-CN" altLang="en-US"/>
              <a:t>到它们的最近公共祖先都没有别的分叉，且</a:t>
            </a:r>
            <a:r>
              <a:rPr lang="en-US" altLang="zh-CN"/>
              <a:t>c</a:t>
            </a:r>
            <a:r>
              <a:rPr lang="zh-CN" altLang="en-US"/>
              <a:t>和</a:t>
            </a:r>
            <a:r>
              <a:rPr lang="en-US" altLang="zh-CN"/>
              <a:t>d</a:t>
            </a:r>
            <a:r>
              <a:rPr lang="zh-CN" altLang="en-US"/>
              <a:t>到它们的最近公共祖先没有别的分叉，可以知道，</a:t>
            </a:r>
            <a:r>
              <a:rPr lang="en-US" altLang="zh-CN"/>
              <a:t>a</a:t>
            </a:r>
            <a:r>
              <a:rPr lang="zh-CN" altLang="en-US"/>
              <a:t>和</a:t>
            </a:r>
            <a:r>
              <a:rPr lang="en-US" altLang="zh-CN"/>
              <a:t>c</a:t>
            </a:r>
            <a:r>
              <a:rPr lang="zh-CN" altLang="en-US"/>
              <a:t>到它们的最近公共祖先上一定有分叉。</a:t>
            </a:r>
            <a:endParaRPr lang="zh-CN" altLang="en-US"/>
          </a:p>
          <a:p>
            <a:pPr eaLnBrk="1" hangingPunct="1"/>
            <a:r>
              <a:rPr lang="zh-CN" altLang="en-US"/>
              <a:t>这个与假设矛盾。所以我们总能找到两个叶子结点，使得它们连边之后缩成的树不会新产生叶子结点。</a:t>
            </a:r>
            <a:endParaRPr lang="zh-CN" altLang="en-US"/>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0F5A2A8-0B89-4C8E-8E4F-8EDDDA2F5327}" type="slidenum">
              <a:rPr lang="en-US" altLang="zh-CN"/>
            </a:fld>
            <a:endParaRPr lang="en-US" altLang="zh-CN"/>
          </a:p>
        </p:txBody>
      </p:sp>
      <p:sp>
        <p:nvSpPr>
          <p:cNvPr id="13315" name="Rectangle 2"/>
          <p:cNvSpPr>
            <a:spLocks noGrp="1" noRot="1" noChangeArrowheads="1"/>
          </p:cNvSpPr>
          <p:nvPr>
            <p:ph type="title"/>
          </p:nvPr>
        </p:nvSpPr>
        <p:spPr/>
        <p:txBody>
          <a:bodyPr/>
          <a:lstStyle/>
          <a:p>
            <a:pPr eaLnBrk="1" hangingPunct="1"/>
            <a:r>
              <a:rPr lang="zh-CN" altLang="en-US"/>
              <a:t>新修公路</a:t>
            </a:r>
            <a:r>
              <a:rPr lang="en-US" altLang="zh-CN"/>
              <a:t>(10)</a:t>
            </a:r>
            <a:endParaRPr lang="en-US" altLang="zh-CN"/>
          </a:p>
        </p:txBody>
      </p:sp>
      <p:sp>
        <p:nvSpPr>
          <p:cNvPr id="13316" name="Rectangle 3"/>
          <p:cNvSpPr>
            <a:spLocks noGrp="1" noRot="1" noChangeArrowheads="1"/>
          </p:cNvSpPr>
          <p:nvPr>
            <p:ph type="body" idx="1"/>
          </p:nvPr>
        </p:nvSpPr>
        <p:spPr/>
        <p:txBody>
          <a:bodyPr/>
          <a:lstStyle/>
          <a:p>
            <a:pPr eaLnBrk="1" hangingPunct="1">
              <a:lnSpc>
                <a:spcPct val="90000"/>
              </a:lnSpc>
            </a:pPr>
            <a:r>
              <a:rPr lang="zh-CN" altLang="en-US"/>
              <a:t>具体实现：</a:t>
            </a:r>
            <a:endParaRPr lang="zh-CN" altLang="en-US"/>
          </a:p>
          <a:p>
            <a:pPr lvl="1" eaLnBrk="1" hangingPunct="1">
              <a:lnSpc>
                <a:spcPct val="90000"/>
              </a:lnSpc>
            </a:pPr>
            <a:r>
              <a:rPr lang="zh-CN" altLang="en-US"/>
              <a:t>首先一个问题是会碰到图的压缩，一个简单易行的方法是，新建一棵树来表示压缩过之后的图。</a:t>
            </a:r>
            <a:endParaRPr lang="zh-CN" altLang="en-US"/>
          </a:p>
          <a:p>
            <a:pPr lvl="1" eaLnBrk="1" hangingPunct="1">
              <a:lnSpc>
                <a:spcPct val="90000"/>
              </a:lnSpc>
            </a:pPr>
            <a:r>
              <a:rPr lang="zh-CN" altLang="en-US"/>
              <a:t>接着还会碰到一个缩圈的问题，怎么实现这一个环节？是否需要重新建树？</a:t>
            </a:r>
            <a:endParaRPr lang="zh-CN" altLang="en-US"/>
          </a:p>
          <a:p>
            <a:pPr lvl="1" eaLnBrk="1" hangingPunct="1">
              <a:lnSpc>
                <a:spcPct val="90000"/>
              </a:lnSpc>
            </a:pPr>
            <a:r>
              <a:rPr lang="zh-CN" altLang="en-US"/>
              <a:t>可以采取标号法，当缩一个圈的时候，在圈上取一个代表点，并把其他的点都标记为该代表点。一个潜在的问题是，压缩成的点可能还会被再次压缩，那么标记的时候就比较麻烦了。所以这里可以用并查集来实现标号这一步。</a:t>
            </a:r>
            <a:endParaRPr lang="zh-CN" altLang="en-US"/>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0C1CC55-B9B4-4345-9E60-784F7B009EF0}" type="slidenum">
              <a:rPr lang="en-US" altLang="zh-CN"/>
            </a:fld>
            <a:endParaRPr lang="en-US" altLang="zh-CN"/>
          </a:p>
        </p:txBody>
      </p:sp>
      <p:sp>
        <p:nvSpPr>
          <p:cNvPr id="14339" name="Rectangle 2"/>
          <p:cNvSpPr>
            <a:spLocks noGrp="1" noRot="1" noChangeArrowheads="1"/>
          </p:cNvSpPr>
          <p:nvPr>
            <p:ph type="title"/>
          </p:nvPr>
        </p:nvSpPr>
        <p:spPr/>
        <p:txBody>
          <a:bodyPr/>
          <a:lstStyle/>
          <a:p>
            <a:pPr eaLnBrk="1" hangingPunct="1"/>
            <a:r>
              <a:rPr lang="zh-CN" altLang="en-US"/>
              <a:t>新修公路</a:t>
            </a:r>
            <a:r>
              <a:rPr lang="en-US" altLang="zh-CN"/>
              <a:t>(11)</a:t>
            </a:r>
            <a:endParaRPr lang="en-US" altLang="zh-CN"/>
          </a:p>
        </p:txBody>
      </p:sp>
      <p:sp>
        <p:nvSpPr>
          <p:cNvPr id="14340" name="Rectangle 3"/>
          <p:cNvSpPr>
            <a:spLocks noGrp="1" noRot="1" noChangeArrowheads="1"/>
          </p:cNvSpPr>
          <p:nvPr>
            <p:ph type="body" idx="1"/>
          </p:nvPr>
        </p:nvSpPr>
        <p:spPr/>
        <p:txBody>
          <a:bodyPr/>
          <a:lstStyle/>
          <a:p>
            <a:pPr eaLnBrk="1" hangingPunct="1"/>
            <a:r>
              <a:rPr lang="zh-CN" altLang="en-US"/>
              <a:t>算法流程：</a:t>
            </a:r>
            <a:endParaRPr lang="zh-CN" altLang="en-US"/>
          </a:p>
          <a:p>
            <a:pPr lvl="1" eaLnBrk="1" hangingPunct="1"/>
            <a:r>
              <a:rPr lang="en-US" altLang="zh-CN"/>
              <a:t>(1)</a:t>
            </a:r>
            <a:r>
              <a:rPr lang="zh-CN" altLang="en-US"/>
              <a:t>求出图中的所有块，建立一棵代表树</a:t>
            </a:r>
            <a:endParaRPr lang="zh-CN" altLang="en-US"/>
          </a:p>
          <a:p>
            <a:pPr lvl="1" eaLnBrk="1" hangingPunct="1"/>
            <a:r>
              <a:rPr lang="en-US" altLang="zh-CN"/>
              <a:t>(2)</a:t>
            </a:r>
            <a:r>
              <a:rPr lang="zh-CN" altLang="en-US"/>
              <a:t>挑出</a:t>
            </a:r>
            <a:r>
              <a:rPr lang="en-US" altLang="zh-CN"/>
              <a:t>2</a:t>
            </a:r>
            <a:r>
              <a:rPr lang="zh-CN" altLang="en-US"/>
              <a:t>个叶子结点，使得连接他们之间的唯一路径上的分叉数目最多</a:t>
            </a:r>
            <a:endParaRPr lang="zh-CN" altLang="en-US"/>
          </a:p>
          <a:p>
            <a:pPr lvl="1" eaLnBrk="1" hangingPunct="1"/>
            <a:r>
              <a:rPr lang="en-US" altLang="zh-CN"/>
              <a:t>(3)</a:t>
            </a:r>
            <a:r>
              <a:rPr lang="zh-CN" altLang="en-US"/>
              <a:t>连接这两个叶子结点，并压缩新生成的圈，得到一棵新的树</a:t>
            </a:r>
            <a:endParaRPr lang="zh-CN" altLang="en-US"/>
          </a:p>
          <a:p>
            <a:pPr lvl="1" eaLnBrk="1" hangingPunct="1"/>
            <a:r>
              <a:rPr lang="en-US" altLang="zh-CN"/>
              <a:t>(4)</a:t>
            </a:r>
            <a:r>
              <a:rPr lang="zh-CN" altLang="en-US"/>
              <a:t>如果树中剩下一个叶子结点和一个根结点，直接连接它们，算法结束；如果树已经成为一个点，算法结束，否则转</a:t>
            </a:r>
            <a:r>
              <a:rPr lang="en-US" altLang="zh-CN"/>
              <a:t>(2)</a:t>
            </a:r>
            <a:endParaRPr lang="en-US" altLang="zh-CN"/>
          </a:p>
        </p:txBody>
      </p:sp>
    </p:spTree>
  </p:cSld>
  <p:clrMapOvr>
    <a:masterClrMapping/>
  </p:clrMapOvr>
  <p:transition/>
</p:sld>
</file>

<file path=ppt/tags/tag1.xml><?xml version="1.0" encoding="utf-8"?>
<p:tagLst xmlns:p="http://schemas.openxmlformats.org/presentationml/2006/main">
  <p:tag name="KSO_WM_UNIT_TABLE_BEAUTIFY" val="smartTable{6bd3a109-5267-4430-869c-71f5f62431ec}"/>
</p:tagLst>
</file>

<file path=ppt/theme/theme1.xml><?xml version="1.0" encoding="utf-8"?>
<a:theme xmlns:a="http://schemas.openxmlformats.org/drawingml/2006/main" name="丝状">
  <a:themeElements>
    <a:clrScheme name="丝状">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丝状">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丝状">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12836</Words>
  <Application>WPS 演示</Application>
  <PresentationFormat>宽屏</PresentationFormat>
  <Paragraphs>938</Paragraphs>
  <Slides>74</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74</vt:i4>
      </vt:variant>
    </vt:vector>
  </HeadingPairs>
  <TitlesOfParts>
    <vt:vector size="90" baseType="lpstr">
      <vt:lpstr>Arial</vt:lpstr>
      <vt:lpstr>宋体</vt:lpstr>
      <vt:lpstr>Wingdings</vt:lpstr>
      <vt:lpstr>Wingdings 3</vt:lpstr>
      <vt:lpstr>Arial</vt:lpstr>
      <vt:lpstr>Century Schoolbook</vt:lpstr>
      <vt:lpstr>幼圆</vt:lpstr>
      <vt:lpstr>Century Gothic</vt:lpstr>
      <vt:lpstr>微软雅黑</vt:lpstr>
      <vt:lpstr>Arial Unicode MS</vt:lpstr>
      <vt:lpstr>等线</vt:lpstr>
      <vt:lpstr>Courier New</vt:lpstr>
      <vt:lpstr>Times New Roman</vt:lpstr>
      <vt:lpstr>华文楷体</vt:lpstr>
      <vt:lpstr>MS PGothic</vt:lpstr>
      <vt:lpstr>丝状</vt:lpstr>
      <vt:lpstr>图论中的连通性问题1-无向图</vt:lpstr>
      <vt:lpstr>内容提要</vt:lpstr>
      <vt:lpstr>深度优先搜索DFS</vt:lpstr>
      <vt:lpstr>“深搜”名字的由来</vt:lpstr>
      <vt:lpstr>无向图的DFS过程</vt:lpstr>
      <vt:lpstr>无向图的DFS过程</vt:lpstr>
      <vt:lpstr>无向图的DFS过程</vt:lpstr>
      <vt:lpstr>深度优先数</vt:lpstr>
      <vt:lpstr>DFS遍历标号过程</vt:lpstr>
      <vt:lpstr>举例</vt:lpstr>
      <vt:lpstr>练习：无向图标出DFN值，并画出DFS树</vt:lpstr>
      <vt:lpstr>参考答案</vt:lpstr>
      <vt:lpstr>DFS实现-数据结构</vt:lpstr>
      <vt:lpstr>添加边的函数</vt:lpstr>
      <vt:lpstr>读入数据，构造邻接表</vt:lpstr>
      <vt:lpstr>DFS实现</vt:lpstr>
      <vt:lpstr>DFS实现-主过程</vt:lpstr>
      <vt:lpstr>时间分析</vt:lpstr>
      <vt:lpstr>DFN的简单应用</vt:lpstr>
      <vt:lpstr>割点(articulation point or cut vertex)</vt:lpstr>
      <vt:lpstr>LOW参数</vt:lpstr>
      <vt:lpstr>再一例（完全了解low值）</vt:lpstr>
      <vt:lpstr>LOW参数怎么求</vt:lpstr>
      <vt:lpstr>判断割点</vt:lpstr>
      <vt:lpstr>求割点的算法</vt:lpstr>
      <vt:lpstr>割边</vt:lpstr>
      <vt:lpstr>求割边的算法</vt:lpstr>
      <vt:lpstr>求割边的算法-实现</vt:lpstr>
      <vt:lpstr>求割边、割点的算法实现2</vt:lpstr>
      <vt:lpstr>割点与割边</vt:lpstr>
      <vt:lpstr>CQOI 1668  &amp; HIHOCODER 1183割点和割边</vt:lpstr>
      <vt:lpstr>POJ 1523 SPF</vt:lpstr>
      <vt:lpstr>分析</vt:lpstr>
      <vt:lpstr>CQOI1452 嗅探器</vt:lpstr>
      <vt:lpstr>分析</vt:lpstr>
      <vt:lpstr>分析</vt:lpstr>
      <vt:lpstr>分析</vt:lpstr>
      <vt:lpstr>CQOI1453 关键网线</vt:lpstr>
      <vt:lpstr>分析</vt:lpstr>
      <vt:lpstr>分析</vt:lpstr>
      <vt:lpstr>分析</vt:lpstr>
      <vt:lpstr>无向连通图的点双连通分量</vt:lpstr>
      <vt:lpstr>求点双连通分量的算法</vt:lpstr>
      <vt:lpstr>PowerPoint 演示文稿</vt:lpstr>
      <vt:lpstr>PowerPoint 演示文稿</vt:lpstr>
      <vt:lpstr>PowerPoint 演示文稿</vt:lpstr>
      <vt:lpstr>求无向连通图点双连通分量（没有割点的连通分量）,假定没有重边 </vt:lpstr>
      <vt:lpstr>求无向连通图点双连通分量（没有割点的连通分量）,假定没有重边 </vt:lpstr>
      <vt:lpstr>求点双连通分量的练习题</vt:lpstr>
      <vt:lpstr>求无向连通图边双连通分量</vt:lpstr>
      <vt:lpstr>求边双连通分量</vt:lpstr>
      <vt:lpstr>PowerPoint 演示文稿</vt:lpstr>
      <vt:lpstr>HIHOCODER 1184连通性二·边的双连通分量</vt:lpstr>
      <vt:lpstr>POJ3352 修建道路</vt:lpstr>
      <vt:lpstr>分析：</vt:lpstr>
      <vt:lpstr>PowerPoint 演示文稿</vt:lpstr>
      <vt:lpstr>PowerPoint 演示文稿</vt:lpstr>
      <vt:lpstr>无向图的K连通性问题</vt:lpstr>
      <vt:lpstr>POJ2942 圆桌骑士</vt:lpstr>
      <vt:lpstr>分析</vt:lpstr>
      <vt:lpstr>分析</vt:lpstr>
      <vt:lpstr>分析</vt:lpstr>
      <vt:lpstr>分析</vt:lpstr>
      <vt:lpstr>新修公路(1)</vt:lpstr>
      <vt:lpstr>新修公路(2)</vt:lpstr>
      <vt:lpstr>新修公路(3)</vt:lpstr>
      <vt:lpstr>新修公路(4)</vt:lpstr>
      <vt:lpstr>新修公路(5)</vt:lpstr>
      <vt:lpstr>新修公路(6)</vt:lpstr>
      <vt:lpstr>新修公路(7)</vt:lpstr>
      <vt:lpstr>新修公路(8)</vt:lpstr>
      <vt:lpstr>新修公路(9)</vt:lpstr>
      <vt:lpstr>新修公路(10)</vt:lpstr>
      <vt:lpstr>新修公路(11)</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图论思维题讨论</dc:title>
  <dc:creator>Stella</dc:creator>
  <cp:lastModifiedBy>晴</cp:lastModifiedBy>
  <cp:revision>209</cp:revision>
  <dcterms:created xsi:type="dcterms:W3CDTF">2017-11-03T09:18:00Z</dcterms:created>
  <dcterms:modified xsi:type="dcterms:W3CDTF">2026-07-14T06:23:37Z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ABF306129BA44C098271ADA15E8C5394</vt:lpwstr>
  </property>
  <property fmtid="{D5CDD505-2E9C-101B-9397-08002B2CF9AE}" pid="3" name="KSOProductBuildVer">
    <vt:lpwstr>2052-12.1.0.26895</vt:lpwstr>
  </property>
</Properties>
</file>